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572" r:id="rId3"/>
    <p:sldId id="364" r:id="rId4"/>
    <p:sldId id="569" r:id="rId5"/>
    <p:sldId id="375" r:id="rId6"/>
    <p:sldId id="385" r:id="rId7"/>
    <p:sldId id="447" r:id="rId8"/>
    <p:sldId id="417" r:id="rId9"/>
    <p:sldId id="482" r:id="rId10"/>
    <p:sldId id="493" r:id="rId11"/>
    <p:sldId id="424" r:id="rId12"/>
    <p:sldId id="471" r:id="rId13"/>
    <p:sldId id="475" r:id="rId14"/>
    <p:sldId id="423" r:id="rId15"/>
    <p:sldId id="495" r:id="rId16"/>
    <p:sldId id="427" r:id="rId17"/>
    <p:sldId id="570" r:id="rId18"/>
    <p:sldId id="511" r:id="rId19"/>
    <p:sldId id="571" r:id="rId20"/>
    <p:sldId id="422" r:id="rId21"/>
    <p:sldId id="497" r:id="rId22"/>
    <p:sldId id="456" r:id="rId23"/>
    <p:sldId id="516" r:id="rId24"/>
    <p:sldId id="428" r:id="rId25"/>
    <p:sldId id="476" r:id="rId26"/>
    <p:sldId id="430" r:id="rId27"/>
    <p:sldId id="432" r:id="rId28"/>
    <p:sldId id="433" r:id="rId29"/>
    <p:sldId id="461" r:id="rId30"/>
    <p:sldId id="477" r:id="rId31"/>
    <p:sldId id="462" r:id="rId32"/>
    <p:sldId id="435" r:id="rId33"/>
    <p:sldId id="437" r:id="rId34"/>
    <p:sldId id="439" r:id="rId35"/>
    <p:sldId id="438" r:id="rId36"/>
    <p:sldId id="478" r:id="rId37"/>
    <p:sldId id="441" r:id="rId38"/>
    <p:sldId id="442" r:id="rId39"/>
    <p:sldId id="506" r:id="rId40"/>
    <p:sldId id="573" r:id="rId41"/>
    <p:sldId id="480" r:id="rId42"/>
    <p:sldId id="481" r:id="rId43"/>
    <p:sldId id="443" r:id="rId44"/>
    <p:sldId id="353" r:id="rId4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77" autoAdjust="0"/>
  </p:normalViewPr>
  <p:slideViewPr>
    <p:cSldViewPr>
      <p:cViewPr varScale="1">
        <p:scale>
          <a:sx n="107" d="100"/>
          <a:sy n="107" d="100"/>
        </p:scale>
        <p:origin x="-8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invertIfNegative val="0"/>
          <c:dPt>
            <c:idx val="4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5"/>
            <c:invertIfNegative val="0"/>
            <c:bubble3D val="0"/>
            <c:spPr>
              <a:solidFill>
                <a:srgbClr val="0070C0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학교생활</c:v>
                </c:pt>
                <c:pt idx="1">
                  <c:v>성장과정</c:v>
                </c:pt>
                <c:pt idx="2">
                  <c:v>포부</c:v>
                </c:pt>
                <c:pt idx="3">
                  <c:v>성격 장, 단점</c:v>
                </c:pt>
                <c:pt idx="4">
                  <c:v>지원동기</c:v>
                </c:pt>
                <c:pt idx="5">
                  <c:v>관련경험</c:v>
                </c:pt>
              </c:strCache>
            </c:strRef>
          </c:cat>
          <c:val>
            <c:numRef>
              <c:f>Sheet1!$B$2:$B$7</c:f>
              <c:numCache>
                <c:formatCode>0.0%</c:formatCode>
                <c:ptCount val="6"/>
                <c:pt idx="0">
                  <c:v>4.2999999999999997E-2</c:v>
                </c:pt>
                <c:pt idx="1">
                  <c:v>7.0999999999999994E-2</c:v>
                </c:pt>
                <c:pt idx="2">
                  <c:v>9.0999999999999998E-2</c:v>
                </c:pt>
                <c:pt idx="3">
                  <c:v>0.11799999999999999</c:v>
                </c:pt>
                <c:pt idx="4">
                  <c:v>0.312</c:v>
                </c:pt>
                <c:pt idx="5">
                  <c:v>0.33900000000000002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72682496"/>
        <c:axId val="72684288"/>
      </c:barChart>
      <c:catAx>
        <c:axId val="726824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500" b="1"/>
            </a:pPr>
            <a:endParaRPr lang="ko-KR"/>
          </a:p>
        </c:txPr>
        <c:crossAx val="72684288"/>
        <c:crosses val="autoZero"/>
        <c:auto val="1"/>
        <c:lblAlgn val="ctr"/>
        <c:lblOffset val="100"/>
        <c:noMultiLvlLbl val="0"/>
      </c:catAx>
      <c:valAx>
        <c:axId val="72684288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7268249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8FB736-335C-449D-8DE0-268C25A513DD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3C312-28D5-4C60-989E-B98F0D78A3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999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81084"/>
            <a:ext cx="1186061" cy="557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38" name="Line 11"/>
          <p:cNvSpPr>
            <a:spLocks noChangeShapeType="1"/>
          </p:cNvSpPr>
          <p:nvPr userDrawn="1"/>
        </p:nvSpPr>
        <p:spPr bwMode="auto">
          <a:xfrm>
            <a:off x="395288" y="6597650"/>
            <a:ext cx="8425184" cy="0"/>
          </a:xfrm>
          <a:prstGeom prst="line">
            <a:avLst/>
          </a:prstGeom>
          <a:noFill/>
          <a:ln w="57150" cmpd="thinThick">
            <a:solidFill>
              <a:srgbClr val="0C7EA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" name="그룹 1"/>
          <p:cNvGrpSpPr/>
          <p:nvPr userDrawn="1"/>
        </p:nvGrpSpPr>
        <p:grpSpPr>
          <a:xfrm>
            <a:off x="0" y="3164"/>
            <a:ext cx="3617878" cy="1073171"/>
            <a:chOff x="0" y="3164"/>
            <a:chExt cx="3617878" cy="1073171"/>
          </a:xfrm>
        </p:grpSpPr>
        <p:sp>
          <p:nvSpPr>
            <p:cNvPr id="35" name="직사각형 34"/>
            <p:cNvSpPr/>
            <p:nvPr userDrawn="1"/>
          </p:nvSpPr>
          <p:spPr bwMode="auto">
            <a:xfrm>
              <a:off x="0" y="3164"/>
              <a:ext cx="3096059" cy="107317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36" name="직사각형 35"/>
            <p:cNvSpPr/>
            <p:nvPr userDrawn="1"/>
          </p:nvSpPr>
          <p:spPr bwMode="auto">
            <a:xfrm>
              <a:off x="2937643" y="360820"/>
              <a:ext cx="159618" cy="118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37" name="직사각형 36"/>
            <p:cNvSpPr/>
            <p:nvPr userDrawn="1"/>
          </p:nvSpPr>
          <p:spPr bwMode="auto">
            <a:xfrm>
              <a:off x="2937643" y="600207"/>
              <a:ext cx="159618" cy="118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39" name="직사각형 38"/>
            <p:cNvSpPr/>
            <p:nvPr userDrawn="1"/>
          </p:nvSpPr>
          <p:spPr bwMode="auto">
            <a:xfrm>
              <a:off x="2937643" y="839254"/>
              <a:ext cx="159618" cy="118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40" name="직사각형 39"/>
            <p:cNvSpPr/>
            <p:nvPr userDrawn="1"/>
          </p:nvSpPr>
          <p:spPr bwMode="auto">
            <a:xfrm>
              <a:off x="2937643" y="121779"/>
              <a:ext cx="159618" cy="118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41" name="직사각형 40"/>
            <p:cNvSpPr/>
            <p:nvPr userDrawn="1"/>
          </p:nvSpPr>
          <p:spPr bwMode="auto">
            <a:xfrm>
              <a:off x="2778025" y="243243"/>
              <a:ext cx="159618" cy="118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42" name="직사각형 41"/>
            <p:cNvSpPr/>
            <p:nvPr userDrawn="1"/>
          </p:nvSpPr>
          <p:spPr bwMode="auto">
            <a:xfrm>
              <a:off x="2778025" y="479435"/>
              <a:ext cx="159618" cy="118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43" name="직사각형 42"/>
            <p:cNvSpPr/>
            <p:nvPr userDrawn="1"/>
          </p:nvSpPr>
          <p:spPr bwMode="auto">
            <a:xfrm>
              <a:off x="2618407" y="121778"/>
              <a:ext cx="159618" cy="118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44" name="직사각형 43"/>
            <p:cNvSpPr/>
            <p:nvPr userDrawn="1"/>
          </p:nvSpPr>
          <p:spPr bwMode="auto">
            <a:xfrm>
              <a:off x="2778025" y="718822"/>
              <a:ext cx="159618" cy="118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45" name="직사각형 44"/>
            <p:cNvSpPr/>
            <p:nvPr userDrawn="1"/>
          </p:nvSpPr>
          <p:spPr bwMode="auto">
            <a:xfrm>
              <a:off x="2618407" y="360819"/>
              <a:ext cx="159618" cy="118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46" name="직사각형 45"/>
            <p:cNvSpPr/>
            <p:nvPr userDrawn="1"/>
          </p:nvSpPr>
          <p:spPr bwMode="auto">
            <a:xfrm>
              <a:off x="2458789" y="249043"/>
              <a:ext cx="159618" cy="118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47" name="직사각형 46"/>
            <p:cNvSpPr/>
            <p:nvPr userDrawn="1"/>
          </p:nvSpPr>
          <p:spPr bwMode="auto">
            <a:xfrm>
              <a:off x="2618407" y="604296"/>
              <a:ext cx="159618" cy="118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48" name="직사각형 47"/>
            <p:cNvSpPr/>
            <p:nvPr userDrawn="1"/>
          </p:nvSpPr>
          <p:spPr bwMode="auto">
            <a:xfrm>
              <a:off x="2299171" y="127599"/>
              <a:ext cx="159618" cy="118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49" name="직사각형 48"/>
            <p:cNvSpPr/>
            <p:nvPr userDrawn="1"/>
          </p:nvSpPr>
          <p:spPr bwMode="auto">
            <a:xfrm>
              <a:off x="3096059" y="121777"/>
              <a:ext cx="159618" cy="11861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9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Georgia" pitchFamily="18" charset="0"/>
                  <a:ea typeface="돋움" pitchFamily="50" charset="-127"/>
                </a:rPr>
                <a:t>G</a:t>
              </a:r>
              <a:endParaRPr kumimoji="1" lang="ko-KR" altLang="en-US" sz="9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50" name="직사각형 49"/>
            <p:cNvSpPr/>
            <p:nvPr userDrawn="1"/>
          </p:nvSpPr>
          <p:spPr bwMode="auto">
            <a:xfrm>
              <a:off x="3096059" y="361858"/>
              <a:ext cx="159618" cy="11861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9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Georgia" pitchFamily="18" charset="0"/>
                  <a:ea typeface="돋움" pitchFamily="50" charset="-127"/>
                </a:rPr>
                <a:t>E</a:t>
              </a:r>
              <a:endParaRPr kumimoji="1" lang="ko-KR" altLang="en-US" sz="9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51" name="직사각형 50"/>
            <p:cNvSpPr/>
            <p:nvPr userDrawn="1"/>
          </p:nvSpPr>
          <p:spPr bwMode="auto">
            <a:xfrm>
              <a:off x="3096059" y="604297"/>
              <a:ext cx="159618" cy="11861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9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Georgia" pitchFamily="18" charset="0"/>
                  <a:ea typeface="돋움" pitchFamily="50" charset="-127"/>
                </a:rPr>
                <a:t>G</a:t>
              </a:r>
              <a:endParaRPr kumimoji="1" lang="ko-KR" altLang="en-US" sz="9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52" name="직사각형 51"/>
            <p:cNvSpPr/>
            <p:nvPr userDrawn="1"/>
          </p:nvSpPr>
          <p:spPr bwMode="auto">
            <a:xfrm>
              <a:off x="3096059" y="839254"/>
              <a:ext cx="159618" cy="11861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9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Georgia" pitchFamily="18" charset="0"/>
                  <a:ea typeface="돋움" pitchFamily="50" charset="-127"/>
                </a:rPr>
                <a:t>J</a:t>
              </a:r>
              <a:endParaRPr kumimoji="1" lang="ko-KR" altLang="en-US" sz="9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53" name="TextBox 52"/>
            <p:cNvSpPr txBox="1"/>
            <p:nvPr userDrawn="1"/>
          </p:nvSpPr>
          <p:spPr>
            <a:xfrm>
              <a:off x="3184746" y="66053"/>
              <a:ext cx="43313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 err="1" smtClean="0">
                  <a:latin typeface="Georgia" panose="02040502050405020303" pitchFamily="18" charset="0"/>
                </a:rPr>
                <a:t>ood</a:t>
              </a:r>
              <a:endParaRPr lang="ko-KR" altLang="en-US" sz="1000" b="1" dirty="0">
                <a:latin typeface="Georgia" panose="02040502050405020303" pitchFamily="18" charset="0"/>
              </a:endParaRP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3183853" y="304028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 smtClean="0">
                  <a:latin typeface="Georgia" panose="02040502050405020303" pitchFamily="18" charset="0"/>
                </a:rPr>
                <a:t>du</a:t>
              </a:r>
              <a:endParaRPr lang="ko-KR" altLang="en-US" sz="1000" b="1" dirty="0">
                <a:latin typeface="Georgia" panose="02040502050405020303" pitchFamily="18" charset="0"/>
              </a:endParaRPr>
            </a:p>
          </p:txBody>
        </p:sp>
        <p:sp>
          <p:nvSpPr>
            <p:cNvPr id="55" name="TextBox 54"/>
            <p:cNvSpPr txBox="1"/>
            <p:nvPr userDrawn="1"/>
          </p:nvSpPr>
          <p:spPr>
            <a:xfrm>
              <a:off x="3184746" y="548185"/>
              <a:ext cx="43313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 err="1" smtClean="0">
                  <a:latin typeface="Georgia" panose="02040502050405020303" pitchFamily="18" charset="0"/>
                </a:rPr>
                <a:t>ood</a:t>
              </a:r>
              <a:endParaRPr lang="ko-KR" altLang="en-US" sz="1000" b="1" dirty="0">
                <a:latin typeface="Georgia" panose="02040502050405020303" pitchFamily="18" charset="0"/>
              </a:endParaRPr>
            </a:p>
          </p:txBody>
        </p:sp>
        <p:sp>
          <p:nvSpPr>
            <p:cNvPr id="56" name="TextBox 55"/>
            <p:cNvSpPr txBox="1"/>
            <p:nvPr userDrawn="1"/>
          </p:nvSpPr>
          <p:spPr>
            <a:xfrm>
              <a:off x="3183853" y="782470"/>
              <a:ext cx="3497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 err="1" smtClean="0">
                  <a:latin typeface="Georgia" panose="02040502050405020303" pitchFamily="18" charset="0"/>
                </a:rPr>
                <a:t>ob</a:t>
              </a:r>
              <a:endParaRPr lang="ko-KR" altLang="en-US" sz="1000" b="1" dirty="0">
                <a:latin typeface="Georgia" panose="02040502050405020303" pitchFamily="18" charset="0"/>
              </a:endParaRPr>
            </a:p>
          </p:txBody>
        </p:sp>
        <p:sp>
          <p:nvSpPr>
            <p:cNvPr id="57" name="TextBox 56"/>
            <p:cNvSpPr txBox="1"/>
            <p:nvPr userDrawn="1"/>
          </p:nvSpPr>
          <p:spPr>
            <a:xfrm>
              <a:off x="144016" y="59865"/>
              <a:ext cx="151996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>
                  <a:solidFill>
                    <a:schemeClr val="bg1"/>
                  </a:solidFill>
                  <a:latin typeface="Georgia" panose="02040502050405020303" pitchFamily="18" charset="0"/>
                </a:rPr>
                <a:t>YEUNGNAM </a:t>
              </a:r>
            </a:p>
            <a:p>
              <a:r>
                <a:rPr lang="en-US" altLang="ko-KR" sz="1000" dirty="0" smtClean="0">
                  <a:solidFill>
                    <a:schemeClr val="bg1"/>
                  </a:solidFill>
                  <a:latin typeface="Georgia" panose="02040502050405020303" pitchFamily="18" charset="0"/>
                </a:rPr>
                <a:t>          UNIVERSITY</a:t>
              </a:r>
            </a:p>
            <a:p>
              <a:r>
                <a:rPr lang="en-US" altLang="ko-KR" sz="1000" dirty="0" smtClean="0">
                  <a:solidFill>
                    <a:schemeClr val="bg1"/>
                  </a:solidFill>
                  <a:latin typeface="Georgia" panose="02040502050405020303" pitchFamily="18" charset="0"/>
                </a:rPr>
                <a:t>                    COLLEGE </a:t>
              </a:r>
            </a:p>
            <a:p>
              <a:r>
                <a:rPr lang="en-US" altLang="ko-KR" sz="1000" dirty="0" smtClean="0">
                  <a:solidFill>
                    <a:schemeClr val="bg1"/>
                  </a:solidFill>
                  <a:latin typeface="Georgia" panose="02040502050405020303" pitchFamily="18" charset="0"/>
                </a:rPr>
                <a:t>                              is . . . . .</a:t>
              </a:r>
              <a:endParaRPr lang="ko-KR" altLang="en-US" sz="1000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58" name="직사각형 57"/>
            <p:cNvSpPr/>
            <p:nvPr userDrawn="1"/>
          </p:nvSpPr>
          <p:spPr bwMode="auto">
            <a:xfrm>
              <a:off x="2458789" y="485681"/>
              <a:ext cx="159618" cy="118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59" name="직사각형 58"/>
            <p:cNvSpPr/>
            <p:nvPr userDrawn="1"/>
          </p:nvSpPr>
          <p:spPr bwMode="auto">
            <a:xfrm>
              <a:off x="2299171" y="367658"/>
              <a:ext cx="159618" cy="118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60" name="직사각형 59"/>
            <p:cNvSpPr/>
            <p:nvPr userDrawn="1"/>
          </p:nvSpPr>
          <p:spPr bwMode="auto">
            <a:xfrm>
              <a:off x="2139553" y="249042"/>
              <a:ext cx="159618" cy="118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61" name="직사각형 60"/>
            <p:cNvSpPr/>
            <p:nvPr userDrawn="1"/>
          </p:nvSpPr>
          <p:spPr bwMode="auto">
            <a:xfrm>
              <a:off x="1979193" y="127516"/>
              <a:ext cx="159618" cy="118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0" i="0" u="none" strike="noStrike" cap="none" normalizeH="0" baseline="0" smtClean="0">
                <a:ln>
                  <a:noFill/>
                </a:ln>
                <a:solidFill>
                  <a:srgbClr val="336699"/>
                </a:solidFill>
                <a:effectLst/>
                <a:latin typeface="Georgia" pitchFamily="18" charset="0"/>
                <a:ea typeface="돋움" pitchFamily="50" charset="-127"/>
              </a:endParaRPr>
            </a:p>
          </p:txBody>
        </p:sp>
        <p:sp>
          <p:nvSpPr>
            <p:cNvPr id="62" name="TextBox 61"/>
            <p:cNvSpPr txBox="1"/>
            <p:nvPr userDrawn="1"/>
          </p:nvSpPr>
          <p:spPr>
            <a:xfrm>
              <a:off x="2860215" y="408531"/>
              <a:ext cx="3177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bg1"/>
                  </a:solidFill>
                  <a:latin typeface="Georgia" panose="02040502050405020303" pitchFamily="18" charset="0"/>
                </a:rPr>
                <a:t>to</a:t>
              </a:r>
              <a:endParaRPr lang="ko-KR" altLang="en-US" sz="1000" b="1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5092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7"/>
          <p:cNvSpPr>
            <a:spLocks noChangeShapeType="1"/>
          </p:cNvSpPr>
          <p:nvPr userDrawn="1"/>
        </p:nvSpPr>
        <p:spPr bwMode="auto">
          <a:xfrm>
            <a:off x="395288" y="620713"/>
            <a:ext cx="8420100" cy="0"/>
          </a:xfrm>
          <a:prstGeom prst="line">
            <a:avLst/>
          </a:prstGeom>
          <a:noFill/>
          <a:ln w="28575" cap="sq">
            <a:solidFill>
              <a:srgbClr val="0C7EA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" name="Line 11"/>
          <p:cNvSpPr>
            <a:spLocks noChangeShapeType="1"/>
          </p:cNvSpPr>
          <p:nvPr userDrawn="1"/>
        </p:nvSpPr>
        <p:spPr bwMode="auto">
          <a:xfrm>
            <a:off x="395288" y="6597650"/>
            <a:ext cx="7200900" cy="0"/>
          </a:xfrm>
          <a:prstGeom prst="line">
            <a:avLst/>
          </a:prstGeom>
          <a:noFill/>
          <a:ln w="57150" cmpd="thinThick">
            <a:solidFill>
              <a:srgbClr val="0C7EA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1" y="6436409"/>
            <a:ext cx="1313161" cy="307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9255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4C4961-C8B9-4D69-8F25-6BD1B13A5E9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BEA3998-9FC6-4474-BB53-B60FF50A18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266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376238" y="260648"/>
            <a:ext cx="8420100" cy="0"/>
          </a:xfrm>
          <a:prstGeom prst="line">
            <a:avLst/>
          </a:prstGeom>
          <a:noFill/>
          <a:ln w="28575" cap="sq">
            <a:solidFill>
              <a:srgbClr val="0C7EA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" name="Line 11"/>
          <p:cNvSpPr>
            <a:spLocks noChangeShapeType="1"/>
          </p:cNvSpPr>
          <p:nvPr userDrawn="1"/>
        </p:nvSpPr>
        <p:spPr bwMode="auto">
          <a:xfrm>
            <a:off x="395288" y="6597650"/>
            <a:ext cx="7200900" cy="0"/>
          </a:xfrm>
          <a:prstGeom prst="line">
            <a:avLst/>
          </a:prstGeom>
          <a:noFill/>
          <a:ln w="57150" cmpd="thinThick">
            <a:solidFill>
              <a:srgbClr val="0C7EA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1" y="6436409"/>
            <a:ext cx="1313161" cy="307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7279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4C4961-C8B9-4D69-8F25-6BD1B13A5E9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BEA3998-9FC6-4474-BB53-B60FF50A18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43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4C4961-C8B9-4D69-8F25-6BD1B13A5E9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BEA3998-9FC6-4474-BB53-B60FF50A18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706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4C4961-C8B9-4D69-8F25-6BD1B13A5E9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BEA3998-9FC6-4474-BB53-B60FF50A18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914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4C4961-C8B9-4D69-8F25-6BD1B13A5E9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BEA3998-9FC6-4474-BB53-B60FF50A18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876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4C4961-C8B9-4D69-8F25-6BD1B13A5E9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BEA3998-9FC6-4474-BB53-B60FF50A18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885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4C4961-C8B9-4D69-8F25-6BD1B13A5E9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BEA3998-9FC6-4474-BB53-B60FF50A18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38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4C4961-C8B9-4D69-8F25-6BD1B13A5E94}" type="datetimeFigureOut">
              <a:rPr lang="ko-KR" altLang="en-US" smtClean="0"/>
              <a:t>2020-05-18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BEA3998-9FC6-4474-BB53-B60FF50A18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97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3032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://u.educe.co.kr/jobync/?mod=passReport&amp;m_idx=17&amp;gMode=1&amp;gCode=13#category" TargetMode="Externa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mailto:jschoi77@ync.ac.kr" TargetMode="Externa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3242902" y="5586461"/>
            <a:ext cx="2519363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55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컴</a:t>
            </a:r>
            <a:r>
              <a:rPr lang="ko-KR" altLang="en-US" sz="155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155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퓨</a:t>
            </a:r>
            <a:r>
              <a:rPr lang="ko-KR" altLang="en-US" sz="155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터 정 보 과</a:t>
            </a:r>
            <a:endParaRPr lang="en-US" altLang="ko-KR" sz="1550" b="1" dirty="0" smtClean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r>
              <a:rPr lang="ko-KR" altLang="en-US" sz="155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최  중  </a:t>
            </a:r>
            <a:r>
              <a:rPr lang="ko-KR" altLang="en-US" sz="155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섭</a:t>
            </a:r>
            <a:r>
              <a:rPr lang="ko-KR" altLang="en-US" sz="155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ko-KR" altLang="en-US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교 수</a:t>
            </a:r>
            <a:endParaRPr lang="ko-KR" altLang="en-US" sz="1100" b="1" i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2339752" y="1916832"/>
            <a:ext cx="4464496" cy="136815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 cap="sq">
            <a:solidFill>
              <a:srgbClr val="336699"/>
            </a:solidFill>
            <a:round/>
            <a:headEnd type="none" w="sm" len="sm"/>
            <a:tailEnd type="none" w="sm" len="sm"/>
          </a:ln>
          <a:effectLst>
            <a:outerShdw dist="107763" dir="2700000" algn="ctr" rotWithShape="0">
              <a:srgbClr val="000000"/>
            </a:outerShdw>
          </a:effectLst>
        </p:spPr>
        <p:txBody>
          <a:bodyPr wrap="none" anchor="ctr"/>
          <a:lstStyle/>
          <a:p>
            <a:pPr algn="ctr"/>
            <a:endParaRPr lang="ko-KR" altLang="ko-KR" sz="240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" name="Rectangle 43"/>
          <p:cNvSpPr>
            <a:spLocks noChangeArrowheads="1"/>
          </p:cNvSpPr>
          <p:nvPr/>
        </p:nvSpPr>
        <p:spPr bwMode="auto">
          <a:xfrm>
            <a:off x="1979713" y="2041798"/>
            <a:ext cx="5184576" cy="100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ko-KR" altLang="en-US" sz="3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취</a:t>
            </a:r>
            <a:r>
              <a:rPr lang="ko-KR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업 준 비 </a:t>
            </a:r>
            <a:r>
              <a:rPr lang="ko-KR" altLang="en-US" sz="3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특</a:t>
            </a:r>
            <a:r>
              <a:rPr lang="ko-KR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강</a:t>
            </a:r>
            <a:endParaRPr lang="en-US" altLang="ko-KR" sz="3200" b="1" dirty="0" smtClean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515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1700807"/>
            <a:ext cx="59046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Ⅰ. </a:t>
            </a:r>
            <a:r>
              <a:rPr lang="ko-KR" altLang="en-US" sz="4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대학생활과 취업설계</a:t>
            </a:r>
            <a:endParaRPr lang="en-US" altLang="ko-KR" sz="4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765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817841"/>
            <a:ext cx="3096344" cy="241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7298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8270" y="938862"/>
            <a:ext cx="6120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내 현 위치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71600" y="2546334"/>
            <a:ext cx="6449201" cy="353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20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⊙ 졸업이 머지 않았다 </a:t>
            </a:r>
            <a:r>
              <a:rPr lang="en-US" altLang="ko-KR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–&gt; </a:t>
            </a:r>
            <a:r>
              <a:rPr lang="ko-KR" altLang="en-US" sz="2800" b="1" dirty="0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</a:t>
            </a:r>
            <a:r>
              <a:rPr lang="ko-KR" altLang="en-US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집중</a:t>
            </a:r>
            <a:endParaRPr lang="en-US" altLang="ko-KR" sz="2800" b="1" dirty="0" smtClean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>
              <a:lnSpc>
                <a:spcPct val="20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⊙ </a:t>
            </a:r>
            <a:r>
              <a:rPr lang="ko-KR" altLang="en-US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시간이 길지 않다 </a:t>
            </a:r>
            <a:r>
              <a:rPr lang="en-US" altLang="ko-KR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–&gt; </a:t>
            </a:r>
            <a:r>
              <a:rPr lang="ko-KR" altLang="en-US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불철주야 준비</a:t>
            </a:r>
            <a:endParaRPr lang="en-US" altLang="ko-KR" sz="2800" b="1" dirty="0" smtClean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>
              <a:lnSpc>
                <a:spcPct val="20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⊙ 취업정보 부족</a:t>
            </a:r>
            <a:r>
              <a:rPr lang="en-US" altLang="ko-KR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r>
              <a:rPr lang="ko-KR" altLang="en-US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–&gt; </a:t>
            </a:r>
            <a:r>
              <a:rPr lang="ko-KR" altLang="en-US" sz="2800" b="1" dirty="0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학교인프라</a:t>
            </a:r>
            <a:r>
              <a:rPr lang="ko-KR" altLang="en-US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활용</a:t>
            </a:r>
            <a:endParaRPr lang="en-US" altLang="ko-KR" sz="2800" b="1" dirty="0" smtClean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>
              <a:lnSpc>
                <a:spcPct val="20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⊙ 캠퍼스 생활에서 </a:t>
            </a:r>
            <a:r>
              <a:rPr lang="en-US" altLang="ko-KR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–&gt; </a:t>
            </a:r>
            <a:r>
              <a:rPr lang="ko-KR" altLang="en-US" sz="2800" b="1" dirty="0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사회진출 준비</a:t>
            </a:r>
            <a:endParaRPr lang="en-US" altLang="ko-KR" sz="2800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2780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76672"/>
            <a:ext cx="1814314" cy="206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6229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764704"/>
            <a:ext cx="61206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본격적인 취업전략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2400" b="1" dirty="0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숲을 </a:t>
            </a:r>
            <a:r>
              <a:rPr lang="ko-KR" altLang="en-US" sz="2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 나무를 </a:t>
            </a:r>
            <a:r>
              <a:rPr lang="ko-KR" altLang="en-US" sz="2400" b="1" dirty="0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봐라</a:t>
            </a:r>
            <a:endParaRPr lang="en-US" altLang="ko-KR" sz="2400" b="1" dirty="0" smtClean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115616" y="2265834"/>
            <a:ext cx="568863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⊙ 최근의 </a:t>
            </a:r>
            <a:r>
              <a:rPr lang="en-US" altLang="ko-KR" sz="28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IT </a:t>
            </a:r>
            <a:r>
              <a:rPr lang="ko-KR" altLang="en-US" sz="28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트랜드</a:t>
            </a:r>
            <a:r>
              <a:rPr lang="ko-KR" altLang="en-US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읽어라</a:t>
            </a:r>
            <a:endParaRPr lang="en-US" altLang="ko-KR" sz="2800" b="1" dirty="0" smtClean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>
              <a:lnSpc>
                <a:spcPct val="20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⊙ </a:t>
            </a:r>
            <a:r>
              <a:rPr lang="ko-KR" altLang="en-US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나는 </a:t>
            </a:r>
            <a:r>
              <a:rPr lang="ko-KR" altLang="en-US" sz="28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뭘 잘하는가</a:t>
            </a:r>
            <a:r>
              <a:rPr lang="en-US" altLang="ko-KR" sz="28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pPr lvl="0">
              <a:lnSpc>
                <a:spcPct val="20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⊙ </a:t>
            </a:r>
            <a:r>
              <a:rPr lang="ko-KR" altLang="en-US" sz="28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직무경력</a:t>
            </a:r>
            <a:r>
              <a:rPr lang="ko-KR" altLang="en-US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어디서 어떻게</a:t>
            </a:r>
            <a:r>
              <a:rPr lang="en-US" altLang="ko-KR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...</a:t>
            </a:r>
          </a:p>
          <a:p>
            <a:pPr lvl="0">
              <a:lnSpc>
                <a:spcPct val="20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⊙ </a:t>
            </a:r>
            <a:r>
              <a:rPr lang="ko-KR" altLang="en-US" sz="28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미래에 </a:t>
            </a:r>
            <a:r>
              <a:rPr lang="ko-KR" altLang="en-US" sz="28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나는 어디로</a:t>
            </a:r>
            <a:r>
              <a:rPr lang="en-US" altLang="ko-KR" sz="28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pic>
        <p:nvPicPr>
          <p:cNvPr id="3482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764704"/>
            <a:ext cx="3100308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923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3317" y="332656"/>
            <a:ext cx="77791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IT </a:t>
            </a: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업계는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9632" y="1340768"/>
            <a:ext cx="6362639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b="1" dirty="0" smtClean="0"/>
              <a:t>2~3</a:t>
            </a:r>
            <a:r>
              <a:rPr lang="ko-KR" altLang="en-US" sz="2400" b="1" dirty="0" smtClean="0"/>
              <a:t>년의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경력 쌓기 </a:t>
            </a:r>
            <a:r>
              <a:rPr lang="ko-KR" altLang="en-US" sz="2400" b="1" dirty="0" smtClean="0"/>
              <a:t>매우 중요</a:t>
            </a:r>
            <a:endParaRPr lang="en-US" altLang="ko-KR" sz="2400" b="1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 smtClean="0">
                <a:solidFill>
                  <a:srgbClr val="FF0000"/>
                </a:solidFill>
              </a:rPr>
              <a:t>전공무관</a:t>
            </a:r>
            <a:r>
              <a:rPr lang="ko-KR" altLang="en-US" sz="2400" b="1" dirty="0" smtClean="0"/>
              <a:t> 채용 추세</a:t>
            </a:r>
            <a:endParaRPr lang="en-US" altLang="ko-KR" sz="2400" b="1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 smtClean="0">
                <a:solidFill>
                  <a:srgbClr val="FF0000"/>
                </a:solidFill>
              </a:rPr>
              <a:t>경력직</a:t>
            </a:r>
            <a:r>
              <a:rPr lang="ko-KR" altLang="en-US" sz="2400" b="1" dirty="0" smtClean="0"/>
              <a:t> 채용 선호</a:t>
            </a:r>
            <a:r>
              <a:rPr lang="en-US" altLang="ko-KR" sz="2400" b="1" dirty="0" smtClean="0"/>
              <a:t>(</a:t>
            </a:r>
            <a:r>
              <a:rPr lang="ko-KR" altLang="en-US" sz="2400" b="1" dirty="0" smtClean="0"/>
              <a:t>특정분야 인력부족 현상</a:t>
            </a:r>
            <a:r>
              <a:rPr lang="en-US" altLang="ko-KR" sz="2400" b="1" dirty="0" smtClean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 smtClean="0"/>
              <a:t>전공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자격증 반드시 취득</a:t>
            </a:r>
            <a:endParaRPr lang="en-US" altLang="ko-KR" sz="2400" b="1" dirty="0" smtClean="0"/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 </a:t>
            </a:r>
            <a:r>
              <a:rPr lang="en-US" altLang="ko-KR" sz="2400" b="1" dirty="0" smtClean="0"/>
              <a:t>  (</a:t>
            </a:r>
            <a:r>
              <a:rPr lang="ko-KR" altLang="en-US" sz="2400" b="1" dirty="0" smtClean="0"/>
              <a:t>정보처리</a:t>
            </a:r>
            <a:r>
              <a:rPr lang="en-US" altLang="ko-KR" sz="2400" b="1" dirty="0" smtClean="0"/>
              <a:t>, </a:t>
            </a:r>
            <a:r>
              <a:rPr lang="ko-KR" altLang="en-US" sz="2400" b="1" dirty="0" smtClean="0"/>
              <a:t>정보보안</a:t>
            </a:r>
            <a:r>
              <a:rPr lang="en-US" altLang="ko-KR" sz="2400" b="1" dirty="0" smtClean="0"/>
              <a:t>, </a:t>
            </a:r>
            <a:r>
              <a:rPr lang="ko-KR" altLang="en-US" sz="2400" b="1" dirty="0" smtClean="0"/>
              <a:t>네트워크관리 등</a:t>
            </a:r>
            <a:r>
              <a:rPr lang="en-US" altLang="ko-KR" sz="2400" b="1" dirty="0" smtClean="0"/>
              <a:t>)</a:t>
            </a:r>
            <a:r>
              <a:rPr lang="ko-KR" altLang="en-US" sz="2400" b="1" dirty="0" smtClean="0"/>
              <a:t> </a:t>
            </a:r>
            <a:endParaRPr lang="en-US" altLang="ko-KR" sz="2400" b="1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 smtClean="0">
                <a:solidFill>
                  <a:srgbClr val="FF0000"/>
                </a:solidFill>
              </a:rPr>
              <a:t>민간 공인자격 </a:t>
            </a:r>
            <a:r>
              <a:rPr lang="ko-KR" altLang="en-US" sz="2400" b="1" dirty="0" smtClean="0"/>
              <a:t>취득 확산</a:t>
            </a:r>
            <a:endParaRPr lang="en-US" altLang="ko-KR" sz="2400" b="1" dirty="0" smtClean="0"/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 </a:t>
            </a:r>
            <a:r>
              <a:rPr lang="en-US" altLang="ko-KR" sz="2400" b="1" dirty="0" smtClean="0"/>
              <a:t>     (</a:t>
            </a:r>
            <a:r>
              <a:rPr lang="ko-KR" altLang="en-US" sz="2400" b="1" dirty="0" err="1" smtClean="0"/>
              <a:t>오라클</a:t>
            </a:r>
            <a:r>
              <a:rPr lang="en-US" altLang="ko-KR" sz="2400" b="1" dirty="0" smtClean="0"/>
              <a:t>/</a:t>
            </a:r>
            <a:r>
              <a:rPr lang="ko-KR" altLang="en-US" sz="2400" b="1" dirty="0" err="1" smtClean="0"/>
              <a:t>리눅스</a:t>
            </a:r>
            <a:r>
              <a:rPr lang="en-US" altLang="ko-KR" sz="2400" b="1" dirty="0" smtClean="0"/>
              <a:t>/MS/CISCO </a:t>
            </a:r>
            <a:r>
              <a:rPr lang="ko-KR" altLang="en-US" sz="2400" b="1" dirty="0" smtClean="0"/>
              <a:t>등</a:t>
            </a:r>
            <a:r>
              <a:rPr lang="en-US" altLang="ko-KR" sz="2400" b="1" dirty="0" smtClean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b="1" dirty="0" smtClean="0"/>
              <a:t>PG</a:t>
            </a:r>
            <a:r>
              <a:rPr lang="ko-KR" altLang="en-US" sz="2400" b="1" dirty="0" smtClean="0"/>
              <a:t>개발 외에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SDLC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이론적 지식과 경험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 smtClean="0"/>
              <a:t>개발언어 </a:t>
            </a:r>
            <a:r>
              <a:rPr lang="en-US" altLang="ko-KR" sz="2400" b="1" dirty="0" smtClean="0"/>
              <a:t>: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C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기본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, C++, JAVA,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안드로이드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187624" y="1393726"/>
            <a:ext cx="5472608" cy="5612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43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4" descr="2012-10-30 15;56;4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780928"/>
            <a:ext cx="2842449" cy="2170505"/>
          </a:xfrm>
          <a:prstGeom prst="rect">
            <a:avLst/>
          </a:prstGeom>
          <a:noFill/>
          <a:ln w="9525">
            <a:solidFill>
              <a:schemeClr val="accent3">
                <a:lumMod val="20000"/>
                <a:lumOff val="8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53317" y="332656"/>
            <a:ext cx="77791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어떤 분야로 갈까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9" name="직사각형 8"/>
          <p:cNvSpPr/>
          <p:nvPr/>
        </p:nvSpPr>
        <p:spPr>
          <a:xfrm rot="-600000">
            <a:off x="3640204" y="2180301"/>
            <a:ext cx="1005403" cy="338554"/>
          </a:xfrm>
          <a:prstGeom prst="rect">
            <a:avLst/>
          </a:prstGeom>
          <a:ln w="19050">
            <a:solidFill>
              <a:schemeClr val="bg2">
                <a:lumMod val="25000"/>
              </a:schemeClr>
            </a:solidFill>
          </a:ln>
        </p:spPr>
        <p:txBody>
          <a:bodyPr wrap="none">
            <a:spAutoFit/>
          </a:bodyPr>
          <a:lstStyle/>
          <a:p>
            <a:pPr algn="just"/>
            <a:r>
              <a:rPr lang="ko-KR" altLang="en-US" sz="1600" b="1" kern="0" dirty="0" err="1">
                <a:solidFill>
                  <a:srgbClr val="000000"/>
                </a:solidFill>
                <a:latin typeface="+mn-ea"/>
              </a:rPr>
              <a:t>웹디자인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 rot="540000">
            <a:off x="6361771" y="3297172"/>
            <a:ext cx="1935145" cy="338554"/>
          </a:xfrm>
          <a:prstGeom prst="rect">
            <a:avLst/>
          </a:prstGeom>
          <a:ln w="19050">
            <a:solidFill>
              <a:schemeClr val="bg2">
                <a:lumMod val="25000"/>
              </a:schemeClr>
            </a:solidFill>
          </a:ln>
        </p:spPr>
        <p:txBody>
          <a:bodyPr wrap="none">
            <a:spAutoFit/>
          </a:bodyPr>
          <a:lstStyle/>
          <a:p>
            <a:pPr algn="just"/>
            <a:r>
              <a:rPr lang="ko-KR" altLang="en-US" sz="1600" b="1" kern="0" dirty="0">
                <a:solidFill>
                  <a:srgbClr val="0000FF"/>
                </a:solidFill>
                <a:latin typeface="+mn-ea"/>
              </a:rPr>
              <a:t>서버</a:t>
            </a:r>
            <a:r>
              <a:rPr lang="en-US" altLang="ko-KR" sz="1600" b="1" kern="0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600" b="1" kern="0" dirty="0">
                <a:solidFill>
                  <a:srgbClr val="0000FF"/>
                </a:solidFill>
                <a:latin typeface="+mn-ea"/>
              </a:rPr>
              <a:t>네트워크</a:t>
            </a:r>
            <a:r>
              <a:rPr lang="en-US" altLang="ko-KR" sz="1600" b="1" kern="0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600" b="1" kern="0" dirty="0">
                <a:solidFill>
                  <a:srgbClr val="0000FF"/>
                </a:solidFill>
                <a:latin typeface="+mn-ea"/>
              </a:rPr>
              <a:t>보안</a:t>
            </a:r>
            <a:endParaRPr lang="ko-KR" altLang="en-US" sz="16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421171" y="3989776"/>
            <a:ext cx="1970411" cy="338554"/>
          </a:xfrm>
          <a:prstGeom prst="rect">
            <a:avLst/>
          </a:prstGeom>
          <a:ln w="19050">
            <a:solidFill>
              <a:schemeClr val="bg2">
                <a:lumMod val="25000"/>
              </a:schemeClr>
            </a:solidFill>
          </a:ln>
        </p:spPr>
        <p:txBody>
          <a:bodyPr wrap="none">
            <a:spAutoFit/>
          </a:bodyPr>
          <a:lstStyle/>
          <a:p>
            <a:pPr algn="just"/>
            <a:r>
              <a:rPr lang="ko-KR" altLang="en-US" sz="1600" b="1" kern="0" dirty="0">
                <a:solidFill>
                  <a:srgbClr val="0000FF"/>
                </a:solidFill>
                <a:latin typeface="+mn-ea"/>
              </a:rPr>
              <a:t>데이터베이스</a:t>
            </a:r>
            <a:r>
              <a:rPr lang="en-US" altLang="ko-KR" sz="1600" b="1" kern="0" dirty="0">
                <a:solidFill>
                  <a:srgbClr val="0000FF"/>
                </a:solidFill>
                <a:latin typeface="+mn-ea"/>
              </a:rPr>
              <a:t>·DBA </a:t>
            </a:r>
            <a:endParaRPr lang="ko-KR" altLang="en-US" sz="16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869290" y="4170828"/>
            <a:ext cx="2119491" cy="338554"/>
          </a:xfrm>
          <a:prstGeom prst="rect">
            <a:avLst/>
          </a:prstGeom>
          <a:ln w="19050">
            <a:solidFill>
              <a:schemeClr val="bg2">
                <a:lumMod val="25000"/>
              </a:schemeClr>
            </a:solidFill>
          </a:ln>
        </p:spPr>
        <p:txBody>
          <a:bodyPr wrap="none">
            <a:spAutoFit/>
          </a:bodyPr>
          <a:lstStyle/>
          <a:p>
            <a:pPr algn="just"/>
            <a:r>
              <a:rPr lang="en-US" altLang="ko-KR" sz="1600" b="1" kern="0" dirty="0">
                <a:solidFill>
                  <a:srgbClr val="000000"/>
                </a:solidFill>
                <a:latin typeface="+mn-ea"/>
              </a:rPr>
              <a:t>IT·</a:t>
            </a:r>
            <a:r>
              <a:rPr lang="ko-KR" altLang="en-US" sz="1600" b="1" kern="0" dirty="0">
                <a:solidFill>
                  <a:srgbClr val="000000"/>
                </a:solidFill>
                <a:latin typeface="+mn-ea"/>
              </a:rPr>
              <a:t>디자인</a:t>
            </a:r>
            <a:r>
              <a:rPr lang="en-US" altLang="ko-KR" sz="1600" b="1" kern="0" dirty="0">
                <a:solidFill>
                  <a:srgbClr val="000000"/>
                </a:solidFill>
                <a:latin typeface="+mn-ea"/>
              </a:rPr>
              <a:t>·</a:t>
            </a:r>
            <a:r>
              <a:rPr lang="ko-KR" altLang="en-US" sz="1600" b="1" kern="0" dirty="0">
                <a:solidFill>
                  <a:srgbClr val="000000"/>
                </a:solidFill>
                <a:latin typeface="+mn-ea"/>
              </a:rPr>
              <a:t>컴퓨터교육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 rot="420000">
            <a:off x="4119099" y="5256944"/>
            <a:ext cx="1880643" cy="3385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b="1" dirty="0" err="1" smtClean="0"/>
              <a:t>컨텐츠</a:t>
            </a:r>
            <a:r>
              <a:rPr lang="en-US" altLang="ko-KR" sz="1600" b="1" dirty="0" smtClean="0"/>
              <a:t>.</a:t>
            </a:r>
            <a:r>
              <a:rPr lang="ko-KR" altLang="en-US" sz="1600" b="1" dirty="0" smtClean="0"/>
              <a:t>사이트운영</a:t>
            </a:r>
            <a:endParaRPr lang="ko-KR" altLang="en-US" sz="1600" b="1" dirty="0"/>
          </a:p>
        </p:txBody>
      </p:sp>
      <p:sp>
        <p:nvSpPr>
          <p:cNvPr id="28" name="TextBox 27"/>
          <p:cNvSpPr txBox="1"/>
          <p:nvPr/>
        </p:nvSpPr>
        <p:spPr>
          <a:xfrm rot="540000">
            <a:off x="1609954" y="5596756"/>
            <a:ext cx="1265090" cy="3385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0000FF"/>
                </a:solidFill>
              </a:rPr>
              <a:t>통신</a:t>
            </a:r>
            <a:r>
              <a:rPr lang="en-US" altLang="ko-KR" sz="1600" b="1" dirty="0" smtClean="0">
                <a:solidFill>
                  <a:srgbClr val="0000FF"/>
                </a:solidFill>
              </a:rPr>
              <a:t>.</a:t>
            </a:r>
            <a:r>
              <a:rPr lang="ko-KR" altLang="en-US" sz="1600" b="1" dirty="0" err="1" smtClean="0">
                <a:solidFill>
                  <a:srgbClr val="0000FF"/>
                </a:solidFill>
              </a:rPr>
              <a:t>모바일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 rot="1020000">
            <a:off x="3059135" y="5650050"/>
            <a:ext cx="1729961" cy="3385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b="1" dirty="0" smtClean="0"/>
              <a:t>동영상</a:t>
            </a:r>
            <a:r>
              <a:rPr lang="en-US" altLang="ko-KR" sz="1600" b="1" dirty="0" smtClean="0"/>
              <a:t>.</a:t>
            </a:r>
            <a:r>
              <a:rPr lang="ko-KR" altLang="en-US" sz="1600" b="1" dirty="0" smtClean="0"/>
              <a:t>편집</a:t>
            </a:r>
            <a:r>
              <a:rPr lang="en-US" altLang="ko-KR" sz="1600" b="1" dirty="0" smtClean="0"/>
              <a:t>.</a:t>
            </a:r>
            <a:r>
              <a:rPr lang="ko-KR" altLang="en-US" sz="1600" b="1" dirty="0" err="1" smtClean="0"/>
              <a:t>코덱</a:t>
            </a:r>
            <a:endParaRPr lang="ko-KR" altLang="en-US" sz="1600" b="1" dirty="0"/>
          </a:p>
        </p:txBody>
      </p:sp>
      <p:sp>
        <p:nvSpPr>
          <p:cNvPr id="30" name="TextBox 29"/>
          <p:cNvSpPr txBox="1"/>
          <p:nvPr/>
        </p:nvSpPr>
        <p:spPr>
          <a:xfrm rot="20808645">
            <a:off x="6054551" y="5606557"/>
            <a:ext cx="2030492" cy="3385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b="1" dirty="0" err="1" smtClean="0">
                <a:solidFill>
                  <a:srgbClr val="0000FF"/>
                </a:solidFill>
              </a:rPr>
              <a:t>웹마스터</a:t>
            </a:r>
            <a:r>
              <a:rPr lang="en-US" altLang="ko-KR" sz="1600" b="1" dirty="0" smtClean="0">
                <a:solidFill>
                  <a:srgbClr val="0000FF"/>
                </a:solidFill>
              </a:rPr>
              <a:t>.QA.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테스터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570295" y="2924944"/>
            <a:ext cx="1303562" cy="3385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0000FF"/>
                </a:solidFill>
              </a:rPr>
              <a:t>게임</a:t>
            </a:r>
            <a:r>
              <a:rPr lang="en-US" altLang="ko-KR" sz="1600" b="1" dirty="0" smtClean="0">
                <a:solidFill>
                  <a:srgbClr val="0000FF"/>
                </a:solidFill>
              </a:rPr>
              <a:t>(Game)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66415" y="1526395"/>
            <a:ext cx="2116285" cy="3385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0000FF"/>
                </a:solidFill>
              </a:rPr>
              <a:t>HTML.</a:t>
            </a:r>
            <a:r>
              <a:rPr lang="ko-KR" altLang="en-US" sz="1600" b="1" dirty="0" err="1" smtClean="0">
                <a:solidFill>
                  <a:srgbClr val="0000FF"/>
                </a:solidFill>
              </a:rPr>
              <a:t>웹표준</a:t>
            </a:r>
            <a:r>
              <a:rPr lang="en-US" altLang="ko-KR" sz="1600" b="1" dirty="0" smtClean="0">
                <a:solidFill>
                  <a:srgbClr val="0000FF"/>
                </a:solidFill>
              </a:rPr>
              <a:t>.UI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개발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53454" y="2497600"/>
            <a:ext cx="1826141" cy="3385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b="1" dirty="0" smtClean="0"/>
              <a:t>시스템프로그래머</a:t>
            </a:r>
            <a:endParaRPr lang="ko-KR" altLang="en-US" sz="1600" b="1" dirty="0"/>
          </a:p>
        </p:txBody>
      </p:sp>
      <p:sp>
        <p:nvSpPr>
          <p:cNvPr id="34" name="TextBox 33"/>
          <p:cNvSpPr txBox="1"/>
          <p:nvPr/>
        </p:nvSpPr>
        <p:spPr>
          <a:xfrm rot="-240000">
            <a:off x="6115140" y="1751796"/>
            <a:ext cx="1620957" cy="3385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0000FF"/>
                </a:solidFill>
              </a:rPr>
              <a:t>응용프로그래머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 rot="360000">
            <a:off x="715387" y="3538588"/>
            <a:ext cx="2068387" cy="3385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0000FF"/>
                </a:solidFill>
              </a:rPr>
              <a:t>ERP.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시스템분석</a:t>
            </a:r>
            <a:r>
              <a:rPr lang="en-US" altLang="ko-KR" sz="1600" b="1" dirty="0" smtClean="0">
                <a:solidFill>
                  <a:srgbClr val="0000FF"/>
                </a:solidFill>
              </a:rPr>
              <a:t>.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설계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 rot="900000">
            <a:off x="6438337" y="4842512"/>
            <a:ext cx="2085827" cy="3385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b="1" dirty="0" smtClean="0"/>
              <a:t>하드웨어</a:t>
            </a:r>
            <a:r>
              <a:rPr lang="en-US" altLang="ko-KR" sz="1600" b="1" dirty="0" smtClean="0"/>
              <a:t>.</a:t>
            </a:r>
            <a:r>
              <a:rPr lang="ko-KR" altLang="en-US" sz="1600" b="1" dirty="0" smtClean="0"/>
              <a:t>소프트웨어</a:t>
            </a:r>
            <a:endParaRPr lang="ko-KR" altLang="en-US" sz="1600" b="1" dirty="0"/>
          </a:p>
        </p:txBody>
      </p:sp>
      <p:sp>
        <p:nvSpPr>
          <p:cNvPr id="37" name="TextBox 36"/>
          <p:cNvSpPr txBox="1"/>
          <p:nvPr/>
        </p:nvSpPr>
        <p:spPr>
          <a:xfrm rot="446453">
            <a:off x="1763000" y="2373039"/>
            <a:ext cx="1415772" cy="3385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b="1" dirty="0" err="1" smtClean="0"/>
              <a:t>웹프로그래머</a:t>
            </a:r>
            <a:endParaRPr lang="ko-KR" altLang="en-US" sz="1600" b="1" dirty="0"/>
          </a:p>
        </p:txBody>
      </p:sp>
      <p:sp>
        <p:nvSpPr>
          <p:cNvPr id="38" name="TextBox 37"/>
          <p:cNvSpPr txBox="1"/>
          <p:nvPr/>
        </p:nvSpPr>
        <p:spPr>
          <a:xfrm rot="-420000">
            <a:off x="1050115" y="1757228"/>
            <a:ext cx="2053767" cy="3385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b="1" dirty="0" err="1" smtClean="0"/>
              <a:t>웹기획</a:t>
            </a:r>
            <a:r>
              <a:rPr lang="en-US" altLang="ko-KR" sz="1600" b="1" dirty="0" smtClean="0"/>
              <a:t>.</a:t>
            </a:r>
            <a:r>
              <a:rPr lang="ko-KR" altLang="en-US" sz="1600" b="1" dirty="0" err="1" smtClean="0"/>
              <a:t>웹마케팅</a:t>
            </a:r>
            <a:r>
              <a:rPr lang="en-US" altLang="ko-KR" sz="1600" b="1" dirty="0" smtClean="0"/>
              <a:t>.PM</a:t>
            </a:r>
            <a:endParaRPr lang="ko-KR" altLang="en-US" sz="1600" b="1" dirty="0"/>
          </a:p>
        </p:txBody>
      </p:sp>
      <p:sp>
        <p:nvSpPr>
          <p:cNvPr id="20" name="TextBox 19"/>
          <p:cNvSpPr txBox="1"/>
          <p:nvPr/>
        </p:nvSpPr>
        <p:spPr>
          <a:xfrm rot="21173280">
            <a:off x="900570" y="4938177"/>
            <a:ext cx="2085827" cy="3385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0000FF"/>
                </a:solidFill>
              </a:rPr>
              <a:t>시스템운영</a:t>
            </a:r>
            <a:r>
              <a:rPr lang="en-US" altLang="ko-KR" sz="1600" b="1" dirty="0" smtClean="0">
                <a:solidFill>
                  <a:srgbClr val="0000FF"/>
                </a:solidFill>
              </a:rPr>
              <a:t>.</a:t>
            </a:r>
            <a:r>
              <a:rPr lang="ko-KR" altLang="en-US" sz="1600" b="1" dirty="0" smtClean="0">
                <a:solidFill>
                  <a:srgbClr val="0000FF"/>
                </a:solidFill>
              </a:rPr>
              <a:t>유지보수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 rot="921426">
            <a:off x="5030890" y="2180301"/>
            <a:ext cx="984565" cy="338554"/>
          </a:xfrm>
          <a:prstGeom prst="rect">
            <a:avLst/>
          </a:prstGeom>
          <a:ln w="19050">
            <a:solidFill>
              <a:schemeClr val="bg2">
                <a:lumMod val="25000"/>
              </a:schemeClr>
            </a:solidFill>
          </a:ln>
        </p:spPr>
        <p:txBody>
          <a:bodyPr wrap="none">
            <a:spAutoFit/>
          </a:bodyPr>
          <a:lstStyle/>
          <a:p>
            <a:pPr algn="just"/>
            <a:r>
              <a:rPr lang="en-US" altLang="ko-KR" sz="1600" b="1" kern="0" dirty="0" smtClean="0">
                <a:solidFill>
                  <a:srgbClr val="000000"/>
                </a:solidFill>
                <a:latin typeface="+mn-ea"/>
              </a:rPr>
              <a:t>IT</a:t>
            </a:r>
            <a:r>
              <a:rPr lang="ko-KR" altLang="en-US" sz="1600" b="1" kern="0" dirty="0" smtClean="0">
                <a:solidFill>
                  <a:srgbClr val="000000"/>
                </a:solidFill>
                <a:latin typeface="+mn-ea"/>
              </a:rPr>
              <a:t>컨설팅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084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491022"/>
            <a:ext cx="77791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취업준비 첫걸음</a:t>
            </a:r>
            <a:endParaRPr lang="en-US" altLang="ko-KR" sz="3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2784" y="1628800"/>
            <a:ext cx="672171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 smtClean="0"/>
              <a:t>취업준비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“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지금부터다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” </a:t>
            </a:r>
            <a:endParaRPr lang="en-US" altLang="ko-KR" sz="2400" b="1" dirty="0"/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 smtClean="0"/>
              <a:t>나를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분석</a:t>
            </a:r>
            <a:r>
              <a:rPr lang="ko-KR" altLang="en-US" sz="2400" b="1" dirty="0" smtClean="0"/>
              <a:t>하라</a:t>
            </a:r>
            <a:r>
              <a:rPr lang="en-US" altLang="ko-KR" sz="2400" b="1" dirty="0" smtClean="0"/>
              <a:t>(</a:t>
            </a:r>
            <a:r>
              <a:rPr lang="ko-KR" altLang="en-US" sz="2400" b="1" dirty="0" smtClean="0"/>
              <a:t>전공</a:t>
            </a:r>
            <a:r>
              <a:rPr lang="en-US" altLang="ko-KR" sz="2400" b="1" dirty="0" smtClean="0"/>
              <a:t>/</a:t>
            </a:r>
            <a:r>
              <a:rPr lang="ko-KR" altLang="en-US" sz="2400" b="1" dirty="0" smtClean="0"/>
              <a:t>적성</a:t>
            </a:r>
            <a:r>
              <a:rPr lang="en-US" altLang="ko-KR" sz="2400" b="1" dirty="0" smtClean="0"/>
              <a:t>/</a:t>
            </a:r>
            <a:r>
              <a:rPr lang="ko-KR" altLang="en-US" sz="2400" b="1" dirty="0" smtClean="0"/>
              <a:t>흥미</a:t>
            </a:r>
            <a:r>
              <a:rPr lang="en-US" altLang="ko-KR" sz="2400" b="1" dirty="0" smtClean="0"/>
              <a:t>)</a:t>
            </a:r>
            <a:r>
              <a:rPr lang="ko-KR" altLang="en-US" sz="2400" b="1" dirty="0" smtClean="0"/>
              <a:t> </a:t>
            </a:r>
            <a:endParaRPr lang="en-US" altLang="ko-KR" sz="2400" b="1" dirty="0" smtClean="0"/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 dirty="0">
                <a:solidFill>
                  <a:srgbClr val="FF0000"/>
                </a:solidFill>
              </a:rPr>
              <a:t>Fact List</a:t>
            </a:r>
            <a:r>
              <a:rPr lang="ko-KR" altLang="en-US" sz="2400" b="1" dirty="0"/>
              <a:t>를 </a:t>
            </a:r>
            <a:r>
              <a:rPr lang="ko-KR" altLang="en-US" sz="2400" b="1" dirty="0" smtClean="0"/>
              <a:t>만들어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보자</a:t>
            </a:r>
            <a:endParaRPr lang="en-US" altLang="ko-KR" sz="2400" b="1" dirty="0" smtClean="0"/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 smtClean="0"/>
              <a:t>내게 맞는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업종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/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직종</a:t>
            </a:r>
            <a:r>
              <a:rPr lang="ko-KR" altLang="en-US" sz="2400" b="1" dirty="0" smtClean="0"/>
              <a:t>을 선택하자</a:t>
            </a:r>
            <a:endParaRPr lang="en-US" altLang="ko-KR" sz="2400" b="1" dirty="0" smtClean="0"/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 smtClean="0"/>
              <a:t>가고 싶은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기업군</a:t>
            </a:r>
            <a:r>
              <a:rPr lang="ko-KR" altLang="en-US" sz="2400" b="1" dirty="0" smtClean="0"/>
              <a:t>을 알아보자</a:t>
            </a:r>
            <a:r>
              <a:rPr lang="en-US" altLang="ko-KR" sz="2400" b="1" dirty="0" smtClean="0"/>
              <a:t>(3~5</a:t>
            </a:r>
            <a:r>
              <a:rPr lang="ko-KR" altLang="en-US" sz="2400" b="1" dirty="0" smtClean="0"/>
              <a:t>개</a:t>
            </a:r>
            <a:r>
              <a:rPr lang="en-US" altLang="ko-KR" sz="2400" b="1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 </a:t>
            </a:r>
            <a:r>
              <a:rPr lang="en-US" altLang="ko-KR" sz="2400" b="1" dirty="0" smtClean="0"/>
              <a:t>    (</a:t>
            </a:r>
            <a:r>
              <a:rPr lang="ko-KR" altLang="en-US" sz="2400" b="1" dirty="0" err="1" smtClean="0"/>
              <a:t>비젼</a:t>
            </a:r>
            <a:r>
              <a:rPr lang="en-US" altLang="ko-KR" sz="2400" b="1" dirty="0" smtClean="0"/>
              <a:t>/</a:t>
            </a:r>
            <a:r>
              <a:rPr lang="ko-KR" altLang="en-US" sz="2400" b="1" dirty="0" err="1" smtClean="0"/>
              <a:t>스팩</a:t>
            </a:r>
            <a:r>
              <a:rPr lang="en-US" altLang="ko-KR" sz="2400" b="1" dirty="0" smtClean="0"/>
              <a:t>/</a:t>
            </a:r>
            <a:r>
              <a:rPr lang="ko-KR" altLang="en-US" sz="2400" b="1" dirty="0" smtClean="0"/>
              <a:t>인재상</a:t>
            </a:r>
            <a:r>
              <a:rPr lang="en-US" altLang="ko-KR" sz="2400" b="1" dirty="0" smtClean="0"/>
              <a:t>/</a:t>
            </a:r>
            <a:r>
              <a:rPr lang="ko-KR" altLang="en-US" sz="2400" b="1" dirty="0" smtClean="0"/>
              <a:t>채용조건 등</a:t>
            </a:r>
            <a:r>
              <a:rPr lang="en-US" altLang="ko-KR" sz="2400" b="1" dirty="0" smtClean="0"/>
              <a:t>)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 smtClean="0"/>
              <a:t>타인과의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차별화</a:t>
            </a:r>
            <a:r>
              <a:rPr lang="ko-KR" altLang="en-US" sz="2400" b="1" dirty="0" smtClean="0"/>
              <a:t> 요소를 찾아라</a:t>
            </a:r>
            <a:endParaRPr lang="en-US" altLang="ko-KR" sz="2400" b="1" dirty="0" smtClean="0"/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 </a:t>
            </a:r>
            <a:r>
              <a:rPr lang="en-US" altLang="ko-KR" sz="2400" b="1" dirty="0" smtClean="0"/>
              <a:t>    (</a:t>
            </a:r>
            <a:r>
              <a:rPr lang="ko-KR" altLang="en-US" sz="2400" b="1" dirty="0" smtClean="0"/>
              <a:t>자격증</a:t>
            </a:r>
            <a:r>
              <a:rPr lang="en-US" altLang="ko-KR" sz="2400" b="1" dirty="0" smtClean="0"/>
              <a:t>/</a:t>
            </a:r>
            <a:r>
              <a:rPr lang="ko-KR" altLang="en-US" sz="2400" b="1" dirty="0" smtClean="0"/>
              <a:t>특기</a:t>
            </a:r>
            <a:r>
              <a:rPr lang="en-US" altLang="ko-KR" sz="2400" b="1" dirty="0" smtClean="0"/>
              <a:t>/</a:t>
            </a:r>
            <a:r>
              <a:rPr lang="ko-KR" altLang="en-US" sz="2400" b="1" dirty="0" smtClean="0"/>
              <a:t>봉사활동</a:t>
            </a:r>
            <a:r>
              <a:rPr lang="en-US" altLang="ko-KR" sz="2400" b="1" dirty="0" smtClean="0"/>
              <a:t>/</a:t>
            </a:r>
            <a:r>
              <a:rPr lang="ko-KR" altLang="en-US" sz="2400" b="1" dirty="0" smtClean="0"/>
              <a:t>사회경험</a:t>
            </a:r>
            <a:r>
              <a:rPr lang="en-US" altLang="ko-KR" sz="2400" b="1" dirty="0" smtClean="0"/>
              <a:t>/</a:t>
            </a:r>
            <a:r>
              <a:rPr lang="ko-KR" altLang="en-US" sz="2400" b="1" dirty="0" smtClean="0"/>
              <a:t>특별활동</a:t>
            </a:r>
            <a:r>
              <a:rPr lang="en-US" altLang="ko-KR" sz="2400" b="1" dirty="0" smtClean="0"/>
              <a:t>)</a:t>
            </a:r>
          </a:p>
        </p:txBody>
      </p:sp>
      <p:pic>
        <p:nvPicPr>
          <p:cNvPr id="29701" name="Picture 5" descr="잘 다니던 회사 때려치고 스타트업으로 가려는 당신을 위한 5가지 조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735" y="404664"/>
            <a:ext cx="2592288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95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71"/>
          <a:stretch>
            <a:fillRect/>
          </a:stretch>
        </p:blipFill>
        <p:spPr bwMode="auto">
          <a:xfrm>
            <a:off x="539552" y="3356992"/>
            <a:ext cx="4632023" cy="242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67744" y="2492896"/>
            <a:ext cx="55446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Ⅱ. </a:t>
            </a:r>
            <a:r>
              <a:rPr lang="ko-KR" altLang="en-US" sz="4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지원서 작성요령</a:t>
            </a:r>
            <a:endParaRPr lang="en-US" altLang="ko-KR" sz="4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7199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27584" y="221739"/>
            <a:ext cx="6048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지원서 일반 형식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….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1640" y="1268760"/>
            <a:ext cx="3528530" cy="5257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2400" b="1" dirty="0" smtClean="0"/>
              <a:t>입사지원서</a:t>
            </a:r>
            <a:endParaRPr lang="en-US" altLang="ko-KR" sz="2400" b="1" dirty="0" smtClean="0"/>
          </a:p>
          <a:p>
            <a:endParaRPr lang="en-US" altLang="ko-KR" sz="2000" b="1" dirty="0" smtClean="0"/>
          </a:p>
          <a:p>
            <a:pPr marL="914400" lvl="1" indent="-4572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>
                <a:solidFill>
                  <a:srgbClr val="0000FF"/>
                </a:solidFill>
              </a:rPr>
              <a:t>사진</a:t>
            </a:r>
            <a:endParaRPr lang="en-US" altLang="ko-KR" sz="2000" b="1" dirty="0" smtClean="0">
              <a:solidFill>
                <a:srgbClr val="0000FF"/>
              </a:solidFill>
            </a:endParaRPr>
          </a:p>
          <a:p>
            <a:pPr marL="914400" lvl="1" indent="-4572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err="1" smtClean="0">
                <a:solidFill>
                  <a:srgbClr val="0000FF"/>
                </a:solidFill>
              </a:rPr>
              <a:t>인적사항</a:t>
            </a:r>
            <a:endParaRPr lang="en-US" altLang="ko-KR" sz="2000" b="1" dirty="0" smtClean="0">
              <a:solidFill>
                <a:srgbClr val="0000FF"/>
              </a:solidFill>
            </a:endParaRPr>
          </a:p>
          <a:p>
            <a:pPr marL="914400" lvl="1" indent="-4572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>
                <a:solidFill>
                  <a:srgbClr val="0000FF"/>
                </a:solidFill>
              </a:rPr>
              <a:t>개인신</a:t>
            </a:r>
            <a:r>
              <a:rPr lang="ko-KR" altLang="en-US" sz="2000" b="1" dirty="0">
                <a:solidFill>
                  <a:srgbClr val="0000FF"/>
                </a:solidFill>
              </a:rPr>
              <a:t>상</a:t>
            </a:r>
            <a:endParaRPr lang="en-US" altLang="ko-KR" sz="2000" b="1" dirty="0" smtClean="0">
              <a:solidFill>
                <a:srgbClr val="0000FF"/>
              </a:solidFill>
            </a:endParaRPr>
          </a:p>
          <a:p>
            <a:pPr marL="914400" lvl="1" indent="-4572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>
                <a:solidFill>
                  <a:srgbClr val="0000FF"/>
                </a:solidFill>
              </a:rPr>
              <a:t>학력사항</a:t>
            </a:r>
            <a:endParaRPr lang="en-US" altLang="ko-KR" sz="2000" b="1" dirty="0" smtClean="0">
              <a:solidFill>
                <a:srgbClr val="0000FF"/>
              </a:solidFill>
            </a:endParaRPr>
          </a:p>
          <a:p>
            <a:pPr marL="914400" lvl="1" indent="-4572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>
                <a:solidFill>
                  <a:srgbClr val="0000FF"/>
                </a:solidFill>
              </a:rPr>
              <a:t>경력사항</a:t>
            </a:r>
            <a:endParaRPr lang="en-US" altLang="ko-KR" sz="2000" b="1" dirty="0" smtClean="0">
              <a:solidFill>
                <a:srgbClr val="0000FF"/>
              </a:solidFill>
            </a:endParaRPr>
          </a:p>
          <a:p>
            <a:pPr marL="914400" lvl="1" indent="-4572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>
                <a:solidFill>
                  <a:srgbClr val="0000FF"/>
                </a:solidFill>
              </a:rPr>
              <a:t>군 경력</a:t>
            </a:r>
            <a:endParaRPr lang="en-US" altLang="ko-KR" sz="2000" b="1" dirty="0" smtClean="0">
              <a:solidFill>
                <a:srgbClr val="0000FF"/>
              </a:solidFill>
            </a:endParaRPr>
          </a:p>
          <a:p>
            <a:pPr marL="914400" lvl="1" indent="-4572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>
                <a:solidFill>
                  <a:srgbClr val="0000FF"/>
                </a:solidFill>
              </a:rPr>
              <a:t>자격증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/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어학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/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컴퓨터</a:t>
            </a:r>
            <a:endParaRPr lang="en-US" altLang="ko-KR" sz="2000" b="1" dirty="0" smtClean="0">
              <a:solidFill>
                <a:srgbClr val="0000FF"/>
              </a:solidFill>
            </a:endParaRPr>
          </a:p>
          <a:p>
            <a:pPr marL="914400" lvl="1" indent="-4572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>
                <a:solidFill>
                  <a:srgbClr val="0000FF"/>
                </a:solidFill>
              </a:rPr>
              <a:t>봉사활동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/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동아리활동</a:t>
            </a:r>
            <a:endParaRPr lang="en-US" altLang="ko-KR" sz="2000" b="1" dirty="0" smtClean="0">
              <a:solidFill>
                <a:srgbClr val="0000FF"/>
              </a:solidFill>
            </a:endParaRPr>
          </a:p>
          <a:p>
            <a:pPr marL="914400" lvl="1" indent="-4572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>
                <a:solidFill>
                  <a:srgbClr val="0000FF"/>
                </a:solidFill>
              </a:rPr>
              <a:t>특기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/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취미</a:t>
            </a:r>
            <a:endParaRPr lang="en-US" altLang="ko-KR" sz="2000" b="1" dirty="0" smtClean="0">
              <a:solidFill>
                <a:srgbClr val="0000FF"/>
              </a:solidFill>
            </a:endParaRPr>
          </a:p>
          <a:p>
            <a:pPr marL="914400" lvl="1" indent="-4572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>
                <a:solidFill>
                  <a:srgbClr val="0000FF"/>
                </a:solidFill>
              </a:rPr>
              <a:t>기타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(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가족사항</a:t>
            </a:r>
            <a:r>
              <a:rPr lang="en-US" altLang="ko-KR" sz="2000" b="1" dirty="0" smtClean="0">
                <a:solidFill>
                  <a:srgbClr val="0000FF"/>
                </a:solidFill>
              </a:rPr>
              <a:t>)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59169" y="1268760"/>
            <a:ext cx="2736647" cy="3013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/>
              <a:t>2. </a:t>
            </a:r>
            <a:r>
              <a:rPr lang="ko-KR" altLang="en-US" sz="2400" b="1" dirty="0" smtClean="0"/>
              <a:t>자기소개서</a:t>
            </a:r>
            <a:endParaRPr lang="en-US" altLang="ko-KR" sz="2400" b="1" dirty="0" smtClean="0"/>
          </a:p>
          <a:p>
            <a:endParaRPr lang="en-US" altLang="ko-KR" sz="2000" b="1" dirty="0" smtClean="0"/>
          </a:p>
          <a:p>
            <a:pPr marL="914400" lvl="1" indent="-4572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>
                <a:solidFill>
                  <a:srgbClr val="0000FF"/>
                </a:solidFill>
              </a:rPr>
              <a:t>성장과정</a:t>
            </a:r>
            <a:endParaRPr lang="en-US" altLang="ko-KR" sz="2000" b="1" dirty="0" smtClean="0">
              <a:solidFill>
                <a:srgbClr val="0000FF"/>
              </a:solidFill>
            </a:endParaRPr>
          </a:p>
          <a:p>
            <a:pPr marL="914400" lvl="1" indent="-4572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>
                <a:solidFill>
                  <a:srgbClr val="0000FF"/>
                </a:solidFill>
              </a:rPr>
              <a:t>성격의 장단점</a:t>
            </a:r>
            <a:endParaRPr lang="en-US" altLang="ko-KR" sz="2000" b="1" dirty="0" smtClean="0">
              <a:solidFill>
                <a:srgbClr val="0000FF"/>
              </a:solidFill>
            </a:endParaRPr>
          </a:p>
          <a:p>
            <a:pPr marL="914400" lvl="1" indent="-4572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>
                <a:solidFill>
                  <a:srgbClr val="0000FF"/>
                </a:solidFill>
              </a:rPr>
              <a:t>지원동기</a:t>
            </a:r>
            <a:endParaRPr lang="en-US" altLang="ko-KR" sz="2000" b="1" dirty="0" smtClean="0">
              <a:solidFill>
                <a:srgbClr val="0000FF"/>
              </a:solidFill>
            </a:endParaRPr>
          </a:p>
          <a:p>
            <a:pPr marL="914400" lvl="1" indent="-4572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>
                <a:solidFill>
                  <a:srgbClr val="0000FF"/>
                </a:solidFill>
              </a:rPr>
              <a:t>입사 후 포부</a:t>
            </a:r>
            <a:endParaRPr lang="en-US" altLang="ko-KR" sz="2000" b="1" dirty="0" smtClean="0">
              <a:solidFill>
                <a:srgbClr val="0000FF"/>
              </a:solidFill>
            </a:endParaRPr>
          </a:p>
          <a:p>
            <a:pPr marL="914400" lvl="1" indent="-4572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>
                <a:solidFill>
                  <a:srgbClr val="0000FF"/>
                </a:solidFill>
              </a:rPr>
              <a:t>기타 지정항목</a:t>
            </a:r>
            <a:endParaRPr lang="en-US" altLang="ko-KR" sz="2000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7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3568" y="532918"/>
            <a:ext cx="7848872" cy="73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나의 첫인상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200" b="1" dirty="0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입사지원서</a:t>
            </a:r>
            <a:endParaRPr lang="en-US" altLang="ko-KR" sz="3200" b="1" dirty="0" smtClean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4827" y="2133481"/>
            <a:ext cx="4134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입사지원서가 바로 첫인상</a:t>
            </a:r>
            <a:endParaRPr lang="ko-KR" altLang="en-US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41612" y="2830846"/>
            <a:ext cx="6139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첫인상이 좋아야 나중에 다시 보고 싶다</a:t>
            </a:r>
            <a:r>
              <a:rPr lang="en-US" altLang="ko-K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4827" y="4148238"/>
            <a:ext cx="7420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ko-KR" alt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깔끔하고 신뢰할 수 있으며</a:t>
            </a:r>
            <a:r>
              <a:rPr lang="en-US" altLang="ko-K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회사에서 원하는 사람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07704" y="4798893"/>
            <a:ext cx="6715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면접에서 보고 싶다는 </a:t>
            </a:r>
            <a:r>
              <a:rPr lang="ko-KR" altLang="en-US" sz="2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호감가는</a:t>
            </a:r>
            <a:r>
              <a:rPr lang="ko-KR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인상을 줘야</a:t>
            </a:r>
            <a:r>
              <a:rPr lang="en-US" altLang="ko-K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endParaRPr lang="ko-KR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532917"/>
            <a:ext cx="2841129" cy="16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559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51520" y="332656"/>
            <a:ext cx="4536504" cy="655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입사지원서 작성 포인트</a:t>
            </a:r>
            <a:endParaRPr lang="en-US" altLang="ko-KR" sz="28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149180" y="260648"/>
            <a:ext cx="35643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spc="-150" dirty="0" smtClean="0">
                <a:solidFill>
                  <a:srgbClr val="0000FF"/>
                </a:solidFill>
                <a:latin typeface="+mn-ea"/>
              </a:rPr>
              <a:t>▶ </a:t>
            </a:r>
            <a:r>
              <a:rPr lang="ko-KR" altLang="en-US" sz="1200" b="1" spc="-150" dirty="0" err="1" smtClean="0">
                <a:solidFill>
                  <a:srgbClr val="0000FF"/>
                </a:solidFill>
                <a:latin typeface="+mn-ea"/>
              </a:rPr>
              <a:t>미소띠고</a:t>
            </a:r>
            <a:r>
              <a:rPr lang="ko-KR" altLang="en-US" sz="1200" b="1" spc="-150" dirty="0" smtClean="0">
                <a:solidFill>
                  <a:srgbClr val="0000FF"/>
                </a:solidFill>
                <a:latin typeface="+mn-ea"/>
              </a:rPr>
              <a:t> 단정하게 </a:t>
            </a:r>
            <a:r>
              <a:rPr lang="ko-KR" altLang="en-US" sz="1200" b="1" spc="-150" dirty="0">
                <a:solidFill>
                  <a:srgbClr val="0000FF"/>
                </a:solidFill>
                <a:latin typeface="+mn-ea"/>
              </a:rPr>
              <a:t>찍은 </a:t>
            </a:r>
            <a:r>
              <a:rPr lang="ko-KR" altLang="en-US" sz="1200" b="1" spc="-150" dirty="0" smtClean="0">
                <a:solidFill>
                  <a:srgbClr val="0000FF"/>
                </a:solidFill>
                <a:latin typeface="+mn-ea"/>
              </a:rPr>
              <a:t>사진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200" b="1" spc="-150" dirty="0">
                <a:solidFill>
                  <a:srgbClr val="0000FF"/>
                </a:solidFill>
                <a:latin typeface="+mn-ea"/>
              </a:rPr>
              <a:t>▶ </a:t>
            </a:r>
            <a:r>
              <a:rPr lang="ko-KR" altLang="en-US" sz="1200" b="1" spc="-150" dirty="0" smtClean="0">
                <a:solidFill>
                  <a:srgbClr val="0000FF"/>
                </a:solidFill>
                <a:latin typeface="+mn-ea"/>
              </a:rPr>
              <a:t>빈칸 없이 채워라</a:t>
            </a:r>
            <a:r>
              <a:rPr lang="en-US" altLang="ko-KR" sz="1200" b="1" spc="-150" dirty="0" smtClean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spc="-150" dirty="0" smtClean="0">
                <a:solidFill>
                  <a:srgbClr val="0000FF"/>
                </a:solidFill>
                <a:latin typeface="+mn-ea"/>
              </a:rPr>
              <a:t>성실성</a:t>
            </a:r>
            <a:r>
              <a:rPr lang="en-US" altLang="ko-KR" sz="1200" b="1" spc="-150" dirty="0" smtClean="0">
                <a:solidFill>
                  <a:srgbClr val="0000FF"/>
                </a:solidFill>
                <a:latin typeface="+mn-ea"/>
              </a:rPr>
              <a:t>)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rgbClr val="0000FF"/>
                </a:solidFill>
                <a:latin typeface="+mn-ea"/>
              </a:rPr>
              <a:t>▶ </a:t>
            </a:r>
            <a:r>
              <a:rPr lang="ko-KR" altLang="en-US" sz="1200" b="1" spc="-150" dirty="0" err="1" smtClean="0">
                <a:solidFill>
                  <a:srgbClr val="0000FF"/>
                </a:solidFill>
                <a:latin typeface="+mn-ea"/>
              </a:rPr>
              <a:t>오탈자</a:t>
            </a:r>
            <a:r>
              <a:rPr lang="en-US" altLang="ko-KR" sz="1200" b="1" spc="-15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spc="-150" dirty="0">
                <a:solidFill>
                  <a:srgbClr val="0000FF"/>
                </a:solidFill>
                <a:latin typeface="+mn-ea"/>
              </a:rPr>
              <a:t>글자배치</a:t>
            </a:r>
            <a:r>
              <a:rPr lang="en-US" altLang="ko-KR" sz="1200" b="1" spc="-15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spc="-150" dirty="0" smtClean="0">
                <a:solidFill>
                  <a:srgbClr val="0000FF"/>
                </a:solidFill>
                <a:latin typeface="+mn-ea"/>
              </a:rPr>
              <a:t>맞춤법 등</a:t>
            </a:r>
            <a:r>
              <a:rPr lang="en-US" altLang="ko-KR" sz="1200" b="1" spc="-150" dirty="0" smtClean="0">
                <a:solidFill>
                  <a:srgbClr val="0000FF"/>
                </a:solidFill>
                <a:latin typeface="+mn-ea"/>
              </a:rPr>
              <a:t>  </a:t>
            </a:r>
            <a:r>
              <a:rPr lang="ko-KR" altLang="en-US" sz="1200" b="1" spc="-150" dirty="0" smtClean="0">
                <a:solidFill>
                  <a:srgbClr val="0000FF"/>
                </a:solidFill>
                <a:latin typeface="+mn-ea"/>
              </a:rPr>
              <a:t>전체 </a:t>
            </a:r>
            <a:r>
              <a:rPr lang="ko-KR" altLang="en-US" sz="1200" b="1" spc="-150" dirty="0">
                <a:solidFill>
                  <a:srgbClr val="0000FF"/>
                </a:solidFill>
                <a:latin typeface="+mn-ea"/>
              </a:rPr>
              <a:t>모양에 </a:t>
            </a:r>
            <a:r>
              <a:rPr lang="ko-KR" altLang="en-US" sz="1200" b="1" spc="-150" dirty="0" smtClean="0">
                <a:solidFill>
                  <a:srgbClr val="0000FF"/>
                </a:solidFill>
                <a:latin typeface="+mn-ea"/>
              </a:rPr>
              <a:t>유념</a:t>
            </a:r>
            <a:endParaRPr lang="en-US" altLang="ko-KR" sz="1200" b="1" dirty="0" smtClean="0">
              <a:solidFill>
                <a:srgbClr val="0000FF"/>
              </a:solidFill>
              <a:latin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863782"/>
              </p:ext>
            </p:extLst>
          </p:nvPr>
        </p:nvGraphicFramePr>
        <p:xfrm>
          <a:off x="791578" y="1114084"/>
          <a:ext cx="7920883" cy="5267241"/>
        </p:xfrm>
        <a:graphic>
          <a:graphicData uri="http://schemas.openxmlformats.org/drawingml/2006/table">
            <a:tbl>
              <a:tblPr/>
              <a:tblGrid>
                <a:gridCol w="398118"/>
                <a:gridCol w="1149989"/>
                <a:gridCol w="437908"/>
                <a:gridCol w="566326"/>
                <a:gridCol w="785280"/>
                <a:gridCol w="218954"/>
                <a:gridCol w="566326"/>
                <a:gridCol w="566326"/>
                <a:gridCol w="218954"/>
                <a:gridCol w="566326"/>
                <a:gridCol w="218954"/>
                <a:gridCol w="218954"/>
                <a:gridCol w="460295"/>
                <a:gridCol w="106031"/>
                <a:gridCol w="437908"/>
                <a:gridCol w="566326"/>
                <a:gridCol w="437908"/>
              </a:tblGrid>
              <a:tr h="545494">
                <a:tc gridSpan="1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ea typeface="HY견고딕"/>
                        </a:rPr>
                        <a:t>입 사 지 원 서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2612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지원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사항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F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지원구분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지원회사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지원부문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희망연봉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EE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26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신입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기업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주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품질관리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회사내규에 따름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77716">
                <a:tc gridSpan="1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0612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항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FC1"/>
                    </a:solidFill>
                  </a:tcPr>
                </a:tc>
                <a:tc rowSpan="4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3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개월이내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정장을 착용한 사진을 칸 안에 넣어 주세요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!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성 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13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[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한글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] [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한자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]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06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[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영문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]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생년월일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13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주 소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13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(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굴림"/>
                          <a:ea typeface="굴림"/>
                        </a:rPr>
                        <a:t>우편번호 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: - )</a:t>
                      </a: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91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전 화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0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000-000-0000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휴대폰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000-0000-0000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이메일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00000000@naver.com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77716">
                <a:tc gridSpan="1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2612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학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력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항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FC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학 교 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전 공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10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기 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10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소재지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10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졸업구분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10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학점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2979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고등학교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022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0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00.00~00.00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10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경주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10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졸업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0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-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9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대학교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022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0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00.00~00.00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10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대구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10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졸업예정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0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/4.5</a:t>
                      </a: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영남이공대학교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022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기계계열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/00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전공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00" dirty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00.00~00.00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10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대구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10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졸업예정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0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/4.5</a:t>
                      </a: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16">
                <a:tc gridSpan="1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2612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경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력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항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FC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근 무 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기 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직 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담 당 업 무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675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주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)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하이마트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복현점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5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00.00.00~00.00.00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실습생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10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고객응대</a:t>
                      </a:r>
                      <a:r>
                        <a:rPr lang="en-US" altLang="ko-KR" sz="1000" kern="0" spc="-10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, </a:t>
                      </a:r>
                      <a:r>
                        <a:rPr lang="ko-KR" altLang="en-US" sz="1000" kern="0" spc="-10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제품판매</a:t>
                      </a:r>
                      <a:r>
                        <a:rPr lang="en-US" altLang="ko-KR" sz="1000" kern="0" spc="-10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, </a:t>
                      </a:r>
                      <a:r>
                        <a:rPr lang="ko-KR" altLang="en-US" sz="1000" kern="0" spc="-10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매장 및 재고관리 등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675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롯데칠성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5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00.00.00~00.00.00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사원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10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자재발주 및 입출고 관리</a:t>
                      </a:r>
                      <a:r>
                        <a:rPr lang="en-US" altLang="ko-KR" sz="1000" kern="0" spc="-100" dirty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, </a:t>
                      </a:r>
                      <a:r>
                        <a:rPr lang="ko-KR" altLang="en-US" sz="1000" kern="0" spc="-10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재고관리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675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영남이공대학교 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50" dirty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00.00.00~00.00.00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근로학생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학사업무 보조 및 사무지원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2612">
                <a:tc gridSpan="1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11" marR="12611" marT="12611" marB="12611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54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51520" y="332656"/>
            <a:ext cx="4536504" cy="655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입사지원서 작성 포인트</a:t>
            </a:r>
            <a:endParaRPr lang="en-US" altLang="ko-KR" sz="28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379532"/>
              </p:ext>
            </p:extLst>
          </p:nvPr>
        </p:nvGraphicFramePr>
        <p:xfrm>
          <a:off x="467544" y="1124744"/>
          <a:ext cx="8316928" cy="5312583"/>
        </p:xfrm>
        <a:graphic>
          <a:graphicData uri="http://schemas.openxmlformats.org/drawingml/2006/table">
            <a:tbl>
              <a:tblPr/>
              <a:tblGrid>
                <a:gridCol w="547915"/>
                <a:gridCol w="547915"/>
                <a:gridCol w="178652"/>
                <a:gridCol w="178652"/>
                <a:gridCol w="178652"/>
                <a:gridCol w="492198"/>
                <a:gridCol w="178652"/>
                <a:gridCol w="594846"/>
                <a:gridCol w="178652"/>
                <a:gridCol w="178652"/>
                <a:gridCol w="178652"/>
                <a:gridCol w="599010"/>
                <a:gridCol w="258008"/>
                <a:gridCol w="178652"/>
                <a:gridCol w="178652"/>
                <a:gridCol w="178652"/>
                <a:gridCol w="840674"/>
                <a:gridCol w="857018"/>
                <a:gridCol w="178652"/>
                <a:gridCol w="416194"/>
                <a:gridCol w="178652"/>
                <a:gridCol w="178652"/>
                <a:gridCol w="840674"/>
              </a:tblGrid>
              <a:tr h="323709">
                <a:tc row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격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사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항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FC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자 격 증 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발급기관명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취득일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산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능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력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FC1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종 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i="1" kern="0" spc="-100">
                          <a:solidFill>
                            <a:srgbClr val="0000FF"/>
                          </a:solidFill>
                          <a:effectLst/>
                          <a:latin typeface="굴림"/>
                        </a:rPr>
                        <a:t>(</a:t>
                      </a:r>
                      <a:r>
                        <a:rPr lang="ko-KR" altLang="en-US" sz="1000" i="1" kern="0" spc="-100">
                          <a:solidFill>
                            <a:srgbClr val="0000FF"/>
                          </a:solidFill>
                          <a:effectLst/>
                          <a:ea typeface="굴림"/>
                        </a:rPr>
                        <a:t>자격취득 외에 사용 가능한 프로그램 쓰세요</a:t>
                      </a:r>
                      <a:r>
                        <a:rPr lang="en-US" altLang="ko-KR" sz="1000" i="1" kern="0" spc="-100">
                          <a:solidFill>
                            <a:srgbClr val="0000FF"/>
                          </a:solidFill>
                          <a:effectLst/>
                          <a:latin typeface="굴림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상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.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중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.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2344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전산회계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2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급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한국세무사회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0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00.00.00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 smtClean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오토캐드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4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컴퓨터활용능력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2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급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대한상공회의소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0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00.00.00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 smtClean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포토샵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4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컴퓨터활용능력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2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급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대한상공회의소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0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00.00.00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워드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상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4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ITQ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아래한글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A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등급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한국생산성본부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00" dirty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00.00.00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엑셀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중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6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파워포인트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447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국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어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FC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외국어명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시험명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점수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/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등급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취득일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기타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FC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취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 미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다이어리 쓰기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29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영어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토익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600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2013.09.23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034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특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 기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배드민턴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44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9883">
                <a:tc gridSpan="2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4447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교내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활동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FC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활동내용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기간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수상경력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FC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수상내역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상훈명칭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연월일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수여기관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창업동아리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0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09.03-10.02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-15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</a:t>
                      </a:r>
                      <a:r>
                        <a:rPr lang="ko-KR" altLang="en-US" sz="1000" kern="0" spc="-15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콘테스트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15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동상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5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00.00.00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15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대구광역시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626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한샘마을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 청년봉사단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0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10.02-11.02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667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국토순례 완주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-10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08.07.07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9883">
                <a:tc gridSpan="2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074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병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역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F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군별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육군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병과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보병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계급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병장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보훈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FC1"/>
                    </a:solidFill>
                  </a:tcPr>
                </a:tc>
                <a:tc rowSpan="2"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10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해당없음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908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복무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기간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00.00.00~00.00.00(00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개월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면제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사유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-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9883">
                <a:tc gridSpan="2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4447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족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항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FC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관 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성 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연 령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동거여부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관 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성 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연 령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동거여부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608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  <a:ea typeface="굴림"/>
                        </a:rPr>
                        <a:t>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굴림"/>
                      </a:endParaRPr>
                    </a:p>
                  </a:txBody>
                  <a:tcPr marL="28170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동거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  <a:ea typeface="굴림"/>
                        </a:rPr>
                        <a:t>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굴림"/>
                      </a:endParaRPr>
                    </a:p>
                  </a:txBody>
                  <a:tcPr marL="28170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608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  <a:ea typeface="굴림"/>
                        </a:rPr>
                        <a:t>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굴림"/>
                      </a:endParaRPr>
                    </a:p>
                  </a:txBody>
                  <a:tcPr marL="28170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비동거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  <a:ea typeface="굴림"/>
                        </a:rPr>
                        <a:t>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굴림"/>
                      </a:endParaRPr>
                    </a:p>
                  </a:txBody>
                  <a:tcPr marL="28170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608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  <a:ea typeface="굴림"/>
                        </a:rPr>
                        <a:t>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굴림"/>
                      </a:endParaRPr>
                    </a:p>
                  </a:txBody>
                  <a:tcPr marL="28170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굴림"/>
                          <a:ea typeface="굴림"/>
                        </a:rPr>
                        <a:t>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굴림"/>
                      </a:endParaRPr>
                    </a:p>
                  </a:txBody>
                  <a:tcPr marL="28170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73" marR="4673" marT="4673" marB="46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856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12" y="3603032"/>
            <a:ext cx="1749815" cy="219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49" y="3622454"/>
            <a:ext cx="1584180" cy="2182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924704"/>
            <a:ext cx="1728192" cy="222767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905679"/>
            <a:ext cx="1872208" cy="226207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1" y="877104"/>
            <a:ext cx="1743577" cy="2270845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2" y="838508"/>
            <a:ext cx="1749816" cy="230944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10024" y="3452515"/>
            <a:ext cx="433844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 smtClean="0"/>
              <a:t>사진만 봐도 만나고 싶은</a:t>
            </a:r>
            <a:r>
              <a:rPr lang="en-US" altLang="ko-KR" dirty="0" smtClean="0"/>
              <a:t>~~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 smtClean="0"/>
              <a:t>남자는 신뢰감</a:t>
            </a:r>
            <a:r>
              <a:rPr lang="en-US" altLang="ko-KR" dirty="0" smtClean="0"/>
              <a:t>, </a:t>
            </a:r>
            <a:r>
              <a:rPr lang="ko-KR" altLang="en-US" dirty="0" smtClean="0"/>
              <a:t>똑똑하게 보일 때</a:t>
            </a:r>
            <a:endParaRPr lang="en-US" altLang="ko-KR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 smtClean="0"/>
              <a:t>여자는 호감을 주는 인상일 때</a:t>
            </a:r>
            <a:endParaRPr lang="en-US" altLang="ko-KR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 err="1" smtClean="0"/>
              <a:t>미소지을</a:t>
            </a:r>
            <a:r>
              <a:rPr lang="ko-KR" altLang="en-US" dirty="0" smtClean="0"/>
              <a:t> </a:t>
            </a:r>
            <a:r>
              <a:rPr lang="ko-KR" altLang="en-US" dirty="0"/>
              <a:t>때 잇몸이 드러나지 않게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/>
              <a:t>안경은 평범한 것으로 착용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/>
              <a:t>밝은 복장은 배경색이 있게 사진처리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/>
              <a:t>정장차림</a:t>
            </a:r>
            <a:r>
              <a:rPr lang="en-US" altLang="ko-KR" dirty="0"/>
              <a:t>, </a:t>
            </a:r>
            <a:r>
              <a:rPr lang="ko-KR" altLang="en-US" dirty="0"/>
              <a:t>캐주얼인 경우는 </a:t>
            </a:r>
            <a:r>
              <a:rPr lang="ko-KR" altLang="en-US" dirty="0" smtClean="0"/>
              <a:t>단정하게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901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99592" y="332656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입사지원서 작성은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35451" y="1318435"/>
            <a:ext cx="7610211" cy="440120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</a:pPr>
            <a:r>
              <a:rPr lang="en-US" altLang="ko-KR" sz="2000" b="1" dirty="0" smtClean="0"/>
              <a:t>1</a:t>
            </a:r>
            <a:r>
              <a:rPr lang="en-US" altLang="ko-KR" sz="2000" b="1" dirty="0"/>
              <a:t>. </a:t>
            </a:r>
            <a:r>
              <a:rPr lang="ko-KR" altLang="en-US" sz="2000" b="1" dirty="0" err="1" smtClean="0"/>
              <a:t>인적사항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: </a:t>
            </a:r>
            <a:r>
              <a:rPr lang="ko-KR" altLang="en-US" sz="2000" b="1" dirty="0" smtClean="0"/>
              <a:t>양식대로 정확하게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공식적인 사진 사용</a:t>
            </a:r>
            <a:endParaRPr lang="en-US" altLang="ko-KR" sz="2000" b="1" dirty="0"/>
          </a:p>
          <a:p>
            <a:pPr>
              <a:lnSpc>
                <a:spcPts val="4200"/>
              </a:lnSpc>
            </a:pPr>
            <a:r>
              <a:rPr lang="en-US" altLang="ko-KR" sz="2000" b="1" dirty="0" smtClean="0"/>
              <a:t>2. </a:t>
            </a:r>
            <a:r>
              <a:rPr lang="ko-KR" altLang="en-US" sz="2000" b="1" dirty="0" smtClean="0"/>
              <a:t>학력사항 </a:t>
            </a:r>
            <a:r>
              <a:rPr lang="en-US" altLang="ko-KR" sz="2000" b="1" dirty="0" smtClean="0"/>
              <a:t>: </a:t>
            </a:r>
            <a:r>
              <a:rPr lang="ko-KR" altLang="en-US" sz="2000" b="1" dirty="0" smtClean="0"/>
              <a:t>고교부터 기재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졸업</a:t>
            </a:r>
            <a:r>
              <a:rPr lang="en-US" altLang="ko-KR" sz="2000" b="1" dirty="0" smtClean="0"/>
              <a:t>/</a:t>
            </a:r>
            <a:r>
              <a:rPr lang="ko-KR" altLang="en-US" sz="2000" b="1" dirty="0" smtClean="0"/>
              <a:t>졸업예정 표기</a:t>
            </a:r>
            <a:endParaRPr lang="en-US" altLang="ko-KR" sz="2000" b="1" dirty="0" smtClean="0"/>
          </a:p>
          <a:p>
            <a:pPr>
              <a:lnSpc>
                <a:spcPts val="4200"/>
              </a:lnSpc>
            </a:pPr>
            <a:r>
              <a:rPr lang="en-US" altLang="ko-KR" sz="2000" b="1" dirty="0" smtClean="0"/>
              <a:t>3. </a:t>
            </a:r>
            <a:r>
              <a:rPr lang="ko-KR" altLang="en-US" sz="2000" b="1" dirty="0" smtClean="0"/>
              <a:t>교육훈련 </a:t>
            </a:r>
            <a:r>
              <a:rPr lang="en-US" altLang="ko-KR" sz="2000" b="1" dirty="0" smtClean="0"/>
              <a:t>: </a:t>
            </a:r>
            <a:r>
              <a:rPr lang="ko-KR" altLang="en-US" sz="2000" b="1" dirty="0" smtClean="0"/>
              <a:t>지원직무와 관련된 교육</a:t>
            </a:r>
            <a:r>
              <a:rPr lang="en-US" altLang="ko-KR" sz="2000" b="1" dirty="0" smtClean="0"/>
              <a:t>/</a:t>
            </a:r>
            <a:r>
              <a:rPr lang="ko-KR" altLang="en-US" sz="2000" b="1" dirty="0" smtClean="0"/>
              <a:t>훈련 경험이 돋보이게</a:t>
            </a:r>
            <a:endParaRPr lang="en-US" altLang="ko-KR" sz="2000" b="1" dirty="0" smtClean="0"/>
          </a:p>
          <a:p>
            <a:pPr>
              <a:lnSpc>
                <a:spcPts val="4200"/>
              </a:lnSpc>
            </a:pPr>
            <a:r>
              <a:rPr lang="en-US" altLang="ko-KR" sz="2000" b="1" dirty="0" smtClean="0"/>
              <a:t>4.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경력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경험사항 </a:t>
            </a:r>
            <a:r>
              <a:rPr lang="en-US" altLang="ko-KR" sz="2000" b="1" dirty="0" smtClean="0"/>
              <a:t>: </a:t>
            </a:r>
            <a:r>
              <a:rPr lang="ko-KR" altLang="en-US" sz="2000" b="1" dirty="0" smtClean="0"/>
              <a:t>아르바이트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현장실습 등 기재</a:t>
            </a:r>
            <a:endParaRPr lang="en-US" altLang="ko-KR" sz="2000" b="1" dirty="0" smtClean="0"/>
          </a:p>
          <a:p>
            <a:pPr>
              <a:lnSpc>
                <a:spcPts val="4200"/>
              </a:lnSpc>
            </a:pPr>
            <a:r>
              <a:rPr lang="en-US" altLang="ko-KR" sz="2000" b="1" dirty="0" smtClean="0"/>
              <a:t>5.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교내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.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외 활동 </a:t>
            </a:r>
            <a:r>
              <a:rPr lang="en-US" altLang="ko-KR" sz="2000" b="1" dirty="0" smtClean="0"/>
              <a:t>: </a:t>
            </a:r>
            <a:r>
              <a:rPr lang="ko-KR" altLang="en-US" sz="2000" b="1" dirty="0" smtClean="0"/>
              <a:t>동아리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봉사활동 등 어필사항 기재</a:t>
            </a:r>
            <a:endParaRPr lang="en-US" altLang="ko-KR" sz="2000" b="1" dirty="0" smtClean="0"/>
          </a:p>
          <a:p>
            <a:pPr>
              <a:lnSpc>
                <a:spcPts val="4200"/>
              </a:lnSpc>
            </a:pPr>
            <a:r>
              <a:rPr lang="en-US" altLang="ko-KR" sz="2000" b="1" dirty="0" smtClean="0"/>
              <a:t>6.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취미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/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특기 </a:t>
            </a:r>
            <a:r>
              <a:rPr lang="en-US" altLang="ko-KR" sz="2000" b="1" dirty="0" smtClean="0"/>
              <a:t>: </a:t>
            </a:r>
            <a:r>
              <a:rPr lang="ko-KR" altLang="en-US" sz="2000" b="1" dirty="0" smtClean="0"/>
              <a:t>둘 중 하나는 운동을 권고</a:t>
            </a:r>
            <a:endParaRPr lang="en-US" altLang="ko-KR" sz="2000" b="1" dirty="0" smtClean="0"/>
          </a:p>
          <a:p>
            <a:pPr>
              <a:lnSpc>
                <a:spcPts val="4200"/>
              </a:lnSpc>
            </a:pPr>
            <a:r>
              <a:rPr lang="en-US" altLang="ko-KR" sz="2000" b="1" dirty="0" smtClean="0"/>
              <a:t>7. </a:t>
            </a:r>
            <a:r>
              <a:rPr lang="ko-KR" altLang="en-US" sz="2000" b="1" dirty="0" smtClean="0"/>
              <a:t>자격사항 </a:t>
            </a:r>
            <a:r>
              <a:rPr lang="en-US" altLang="ko-KR" sz="2000" b="1" dirty="0" smtClean="0"/>
              <a:t>: </a:t>
            </a:r>
            <a:r>
              <a:rPr lang="ko-KR" altLang="en-US" sz="2000" b="1" dirty="0"/>
              <a:t>보</a:t>
            </a:r>
            <a:r>
              <a:rPr lang="ko-KR" altLang="en-US" sz="2000" b="1" dirty="0" smtClean="0"/>
              <a:t>유자격증 기재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전공자격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외국어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컴퓨터 등</a:t>
            </a:r>
            <a:r>
              <a:rPr lang="en-US" altLang="ko-KR" sz="2000" b="1" dirty="0" smtClean="0"/>
              <a:t>)</a:t>
            </a:r>
          </a:p>
          <a:p>
            <a:pPr>
              <a:lnSpc>
                <a:spcPts val="4200"/>
              </a:lnSpc>
            </a:pPr>
            <a:r>
              <a:rPr lang="en-US" altLang="ko-KR" sz="2000" b="1" dirty="0" smtClean="0"/>
              <a:t>8. </a:t>
            </a:r>
            <a:r>
              <a:rPr lang="ko-KR" altLang="en-US" sz="2000" b="1" dirty="0" smtClean="0"/>
              <a:t>기타 </a:t>
            </a:r>
            <a:r>
              <a:rPr lang="en-US" altLang="ko-KR" sz="2000" b="1" dirty="0" smtClean="0"/>
              <a:t>: </a:t>
            </a:r>
            <a:r>
              <a:rPr lang="ko-KR" altLang="en-US" sz="2000" b="1" dirty="0" smtClean="0"/>
              <a:t>수상경력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장학금 등 기타 업무관련 사항 정확히 기재 </a:t>
            </a:r>
            <a:endParaRPr lang="en-US" altLang="ko-KR" sz="2000" b="1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971600" y="5877272"/>
            <a:ext cx="5171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600" b="1" dirty="0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경력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금전적 대가가 있는 활동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아르바이트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인턴 등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6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경험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금전적 대가가 없는 활동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동호회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재능기부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6533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15616" y="260648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이런 실수도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….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043608" y="1484784"/>
            <a:ext cx="7610211" cy="452431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400" b="1" dirty="0" smtClean="0">
                <a:solidFill>
                  <a:srgbClr val="FF0000"/>
                </a:solidFill>
              </a:rPr>
              <a:t>성의 없이 작성하다 보면 이런 실수도 한다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 smtClean="0"/>
              <a:t> 7</a:t>
            </a:r>
            <a:r>
              <a:rPr lang="en-US" altLang="ko-KR" sz="2400" b="1" dirty="0"/>
              <a:t>. </a:t>
            </a:r>
            <a:r>
              <a:rPr lang="en-US" altLang="ko-KR" sz="2400" b="1" spc="-150" dirty="0" smtClean="0"/>
              <a:t>nara1818@  </a:t>
            </a:r>
            <a:r>
              <a:rPr lang="en-US" altLang="ko-KR" sz="2400" b="1" spc="-150" dirty="0" err="1"/>
              <a:t>ssagaji</a:t>
            </a:r>
            <a:r>
              <a:rPr lang="en-US" altLang="ko-KR" sz="2400" b="1" spc="-150" dirty="0"/>
              <a:t>@  </a:t>
            </a:r>
            <a:r>
              <a:rPr lang="en-US" altLang="ko-KR" sz="2400" b="1" spc="-150" dirty="0" smtClean="0"/>
              <a:t>hi25years</a:t>
            </a:r>
            <a:r>
              <a:rPr lang="en-US" altLang="ko-KR" sz="2400" b="1" spc="-150" dirty="0"/>
              <a:t>@</a:t>
            </a:r>
            <a:br>
              <a:rPr lang="en-US" altLang="ko-KR" sz="2400" b="1" spc="-150" dirty="0"/>
            </a:br>
            <a:r>
              <a:rPr lang="en-US" altLang="ko-KR" sz="2400" b="1" spc="-150" dirty="0" smtClean="0"/>
              <a:t> </a:t>
            </a:r>
            <a:r>
              <a:rPr lang="en-US" altLang="ko-KR" sz="2400" b="1" dirty="0" smtClean="0"/>
              <a:t>6</a:t>
            </a:r>
            <a:r>
              <a:rPr lang="en-US" altLang="ko-KR" sz="2400" b="1" dirty="0"/>
              <a:t>. </a:t>
            </a:r>
            <a:r>
              <a:rPr lang="ko-KR" altLang="en-US" sz="2400" b="1" dirty="0" err="1" smtClean="0"/>
              <a:t>오탈자</a:t>
            </a:r>
            <a:r>
              <a:rPr lang="en-US" altLang="ko-KR" sz="2400" b="1" dirty="0" smtClean="0"/>
              <a:t>, </a:t>
            </a:r>
            <a:r>
              <a:rPr lang="ko-KR" altLang="en-US" sz="2400" b="1" dirty="0" smtClean="0"/>
              <a:t>맞춤법</a:t>
            </a:r>
            <a:r>
              <a:rPr lang="en-US" altLang="ko-KR" sz="2400" b="1" dirty="0" smtClean="0"/>
              <a:t>, </a:t>
            </a:r>
            <a:r>
              <a:rPr lang="ko-KR" altLang="en-US" sz="2400" b="1" dirty="0" smtClean="0"/>
              <a:t>은어</a:t>
            </a:r>
            <a:r>
              <a:rPr lang="en-US" altLang="ko-KR" sz="2400" b="1" dirty="0" smtClean="0"/>
              <a:t>, </a:t>
            </a:r>
            <a:r>
              <a:rPr lang="ko-KR" altLang="en-US" sz="2400" b="1" dirty="0" smtClean="0"/>
              <a:t>약어</a:t>
            </a:r>
            <a:endParaRPr lang="en-US" altLang="ko-KR" sz="2400" b="1" dirty="0" smtClean="0"/>
          </a:p>
          <a:p>
            <a:pPr>
              <a:lnSpc>
                <a:spcPct val="150000"/>
              </a:lnSpc>
            </a:pPr>
            <a:r>
              <a:rPr lang="en-US" altLang="ko-KR" sz="2400" b="1" dirty="0" smtClean="0"/>
              <a:t> 5</a:t>
            </a:r>
            <a:r>
              <a:rPr lang="en-US" altLang="ko-KR" sz="2400" b="1" dirty="0"/>
              <a:t>. </a:t>
            </a:r>
            <a:r>
              <a:rPr lang="ko-KR" altLang="en-US" sz="2400" b="1" dirty="0"/>
              <a:t>입사지원서 사진이 </a:t>
            </a:r>
            <a:r>
              <a:rPr lang="ko-KR" altLang="en-US" sz="2400" b="1" dirty="0" err="1"/>
              <a:t>우리집</a:t>
            </a:r>
            <a:r>
              <a:rPr lang="ko-KR" altLang="en-US" sz="2400" b="1" dirty="0"/>
              <a:t> 강아지</a:t>
            </a:r>
            <a:r>
              <a:rPr lang="en-US" altLang="ko-KR" sz="2400" b="1" dirty="0"/>
              <a:t/>
            </a:r>
            <a:br>
              <a:rPr lang="en-US" altLang="ko-KR" sz="2400" b="1" dirty="0"/>
            </a:br>
            <a:r>
              <a:rPr lang="en-US" altLang="ko-KR" sz="2400" b="1" dirty="0" smtClean="0"/>
              <a:t> 4</a:t>
            </a:r>
            <a:r>
              <a:rPr lang="en-US" altLang="ko-KR" sz="2400" b="1" dirty="0"/>
              <a:t>. </a:t>
            </a:r>
            <a:r>
              <a:rPr lang="ko-KR" altLang="en-US" sz="2400" b="1" dirty="0"/>
              <a:t>연락처도 확실하지 않고 전화번호도 다르고</a:t>
            </a:r>
            <a:r>
              <a:rPr lang="en-US" altLang="ko-KR" sz="2400" b="1" dirty="0"/>
              <a:t/>
            </a:r>
            <a:br>
              <a:rPr lang="en-US" altLang="ko-KR" sz="2400" b="1" dirty="0"/>
            </a:br>
            <a:r>
              <a:rPr lang="en-US" altLang="ko-KR" sz="2400" b="1" dirty="0" smtClean="0"/>
              <a:t> 3. </a:t>
            </a:r>
            <a:r>
              <a:rPr lang="ko-KR" altLang="en-US" sz="2400" b="1" dirty="0"/>
              <a:t>다른 회사 지원 내용이 그대로</a:t>
            </a:r>
            <a:r>
              <a:rPr lang="en-US" altLang="ko-KR" sz="2400" b="1" dirty="0"/>
              <a:t/>
            </a:r>
            <a:br>
              <a:rPr lang="en-US" altLang="ko-KR" sz="2400" b="1" dirty="0"/>
            </a:br>
            <a:r>
              <a:rPr lang="en-US" altLang="ko-KR" sz="2400" b="1" dirty="0" smtClean="0"/>
              <a:t> 2</a:t>
            </a:r>
            <a:r>
              <a:rPr lang="en-US" altLang="ko-KR" sz="2400" b="1" dirty="0"/>
              <a:t>. </a:t>
            </a:r>
            <a:r>
              <a:rPr lang="ko-KR" altLang="en-US" sz="2400" b="1" dirty="0"/>
              <a:t>찾을 수 없는 첨부 파일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비밀번호 걸려있는 서류</a:t>
            </a:r>
            <a:r>
              <a:rPr lang="en-US" altLang="ko-KR" sz="2400" b="1" dirty="0"/>
              <a:t/>
            </a:r>
            <a:br>
              <a:rPr lang="en-US" altLang="ko-KR" sz="2400" b="1" dirty="0"/>
            </a:br>
            <a:r>
              <a:rPr lang="en-US" altLang="ko-KR" sz="2400" b="1" dirty="0" smtClean="0"/>
              <a:t> 1</a:t>
            </a:r>
            <a:r>
              <a:rPr lang="en-US" altLang="ko-KR" sz="2400" b="1" dirty="0"/>
              <a:t>. </a:t>
            </a:r>
            <a:r>
              <a:rPr lang="ko-KR" altLang="en-US" sz="2400" b="1" dirty="0"/>
              <a:t>증명사진이 아닌 </a:t>
            </a:r>
            <a:r>
              <a:rPr lang="ko-KR" altLang="en-US" sz="2400" b="1" dirty="0" err="1" smtClean="0"/>
              <a:t>셀카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04664"/>
            <a:ext cx="1834840" cy="960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0687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2"/>
          <p:cNvSpPr txBox="1">
            <a:spLocks/>
          </p:cNvSpPr>
          <p:nvPr/>
        </p:nvSpPr>
        <p:spPr>
          <a:xfrm>
            <a:off x="827584" y="1700808"/>
            <a:ext cx="8064896" cy="482453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2000" b="1" dirty="0" smtClean="0">
                <a:latin typeface="+mn-ea"/>
              </a:rPr>
              <a:t>◈ 자기소개서는 왜 쓰는 걸까</a:t>
            </a:r>
            <a:r>
              <a:rPr lang="en-US" altLang="ko-KR" sz="2000" b="1" dirty="0" smtClean="0">
                <a:latin typeface="+mn-ea"/>
              </a:rPr>
              <a:t>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 smtClean="0">
                <a:latin typeface="+mn-ea"/>
              </a:rPr>
              <a:t>입사지원서가 자기를 개괄적으로 보여주는 문서라면</a:t>
            </a:r>
            <a:endParaRPr lang="en-US" altLang="ko-KR" sz="2000" b="1" dirty="0" smtClean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spc="-150" dirty="0" smtClean="0">
                <a:latin typeface="+mn-ea"/>
              </a:rPr>
              <a:t>자기소개서는 </a:t>
            </a:r>
            <a:r>
              <a:rPr lang="ko-KR" altLang="en-US" sz="2000" b="1" spc="-150" dirty="0" smtClean="0">
                <a:solidFill>
                  <a:srgbClr val="FF0000"/>
                </a:solidFill>
                <a:latin typeface="+mn-ea"/>
              </a:rPr>
              <a:t>자신을 좀 더 깊이 있게 </a:t>
            </a:r>
            <a:r>
              <a:rPr lang="ko-KR" altLang="en-US" sz="2000" b="1" spc="-150" dirty="0" smtClean="0">
                <a:latin typeface="+mn-ea"/>
              </a:rPr>
              <a:t>보여주는 문서</a:t>
            </a:r>
            <a:endParaRPr lang="en-US" altLang="ko-KR" sz="2000" b="1" spc="-150" dirty="0" smtClean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spc="-150" dirty="0" smtClean="0">
                <a:latin typeface="+mn-ea"/>
              </a:rPr>
              <a:t>자기 자신이 </a:t>
            </a:r>
            <a:r>
              <a:rPr lang="ko-KR" altLang="en-US" sz="2000" b="1" spc="-150" dirty="0" smtClean="0">
                <a:solidFill>
                  <a:srgbClr val="FF0000"/>
                </a:solidFill>
                <a:latin typeface="+mn-ea"/>
              </a:rPr>
              <a:t>그 업무에 적임자임</a:t>
            </a:r>
            <a:r>
              <a:rPr lang="ko-KR" altLang="en-US" sz="2000" b="1" spc="-150" dirty="0" smtClean="0">
                <a:latin typeface="+mn-ea"/>
              </a:rPr>
              <a:t>을 논리적으로  설득하는 자료</a:t>
            </a:r>
            <a:endParaRPr lang="en-US" altLang="ko-KR" sz="2000" b="1" spc="-150" dirty="0" smtClean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spc="-150" dirty="0" smtClean="0">
                <a:latin typeface="+mn-ea"/>
              </a:rPr>
              <a:t>자기만의 </a:t>
            </a:r>
            <a:r>
              <a:rPr lang="ko-KR" altLang="en-US" sz="2000" b="1" spc="-150" dirty="0" smtClean="0">
                <a:solidFill>
                  <a:srgbClr val="FF0000"/>
                </a:solidFill>
                <a:latin typeface="+mn-ea"/>
              </a:rPr>
              <a:t>스토리를 업무와 연관</a:t>
            </a:r>
            <a:r>
              <a:rPr lang="ko-KR" altLang="en-US" sz="2000" b="1" spc="-150" dirty="0" smtClean="0">
                <a:latin typeface="+mn-ea"/>
              </a:rPr>
              <a:t>시켜서 보여주는 것</a:t>
            </a:r>
            <a:endParaRPr lang="en-US" altLang="ko-KR" sz="2000" b="1" spc="-150" dirty="0" smtClean="0">
              <a:latin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b="1" dirty="0">
              <a:latin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2000" b="1" dirty="0" smtClean="0">
                <a:latin typeface="+mn-ea"/>
              </a:rPr>
              <a:t>◈ 지원하고자 하는 기업의 </a:t>
            </a:r>
            <a:r>
              <a:rPr lang="ko-KR" altLang="en-US" sz="2000" b="1" dirty="0" smtClean="0">
                <a:solidFill>
                  <a:srgbClr val="FF0000"/>
                </a:solidFill>
                <a:latin typeface="+mn-ea"/>
              </a:rPr>
              <a:t>인재상</a:t>
            </a:r>
            <a:r>
              <a:rPr lang="en-US" altLang="ko-KR" sz="2000" b="1" dirty="0" smtClean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2000" b="1" dirty="0" smtClean="0">
                <a:solidFill>
                  <a:srgbClr val="FF0000"/>
                </a:solidFill>
                <a:latin typeface="+mn-ea"/>
              </a:rPr>
              <a:t>특성과 양식</a:t>
            </a:r>
            <a:r>
              <a:rPr lang="ko-KR" altLang="en-US" sz="2000" b="1" dirty="0" smtClean="0">
                <a:latin typeface="+mn-ea"/>
              </a:rPr>
              <a:t>을 꼭 확인</a:t>
            </a:r>
            <a:r>
              <a:rPr lang="en-US" altLang="ko-KR" sz="2000" b="1" dirty="0" smtClean="0">
                <a:latin typeface="+mn-ea"/>
              </a:rPr>
              <a:t>!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b="1" dirty="0" smtClean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b="1" dirty="0">
                <a:latin typeface="+mn-ea"/>
              </a:rPr>
              <a:t>◈ </a:t>
            </a:r>
            <a:r>
              <a:rPr lang="ko-KR" altLang="en-US" sz="2000" b="1" dirty="0" smtClean="0">
                <a:latin typeface="+mn-ea"/>
              </a:rPr>
              <a:t>자기소개서는 </a:t>
            </a:r>
            <a:r>
              <a:rPr lang="ko-KR" altLang="en-US" sz="2000" b="1" dirty="0" smtClean="0">
                <a:solidFill>
                  <a:srgbClr val="FF0000"/>
                </a:solidFill>
                <a:latin typeface="+mn-ea"/>
              </a:rPr>
              <a:t>비즈니스 문서</a:t>
            </a:r>
            <a:r>
              <a:rPr lang="ko-KR" altLang="en-US" sz="2000" b="1" dirty="0" smtClean="0">
                <a:latin typeface="+mn-ea"/>
              </a:rPr>
              <a:t>임을 명심하라</a:t>
            </a:r>
            <a:r>
              <a:rPr lang="en-US" altLang="ko-KR" sz="2000" b="1" dirty="0" smtClean="0">
                <a:latin typeface="+mn-ea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84" y="490027"/>
            <a:ext cx="743751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나의 능력 자랑하기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 dirty="0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자기소개서</a:t>
            </a:r>
            <a:endParaRPr lang="en-US" altLang="ko-KR" sz="3200" b="1" dirty="0" smtClean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3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24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합격을 부르는 나만의 스토리</a:t>
            </a:r>
            <a:endParaRPr lang="en-US" altLang="ko-KR" sz="24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388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2"/>
          <p:cNvSpPr txBox="1">
            <a:spLocks/>
          </p:cNvSpPr>
          <p:nvPr/>
        </p:nvSpPr>
        <p:spPr>
          <a:xfrm>
            <a:off x="827584" y="1340768"/>
            <a:ext cx="8064896" cy="482453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2000" b="1" dirty="0" smtClean="0">
                <a:latin typeface="+mn-ea"/>
              </a:rPr>
              <a:t>◈ 짧게는 </a:t>
            </a:r>
            <a:r>
              <a:rPr lang="en-US" altLang="ko-KR" sz="2000" b="1" dirty="0" smtClean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2000" b="1" dirty="0" smtClean="0">
                <a:solidFill>
                  <a:srgbClr val="FF0000"/>
                </a:solidFill>
                <a:latin typeface="+mn-ea"/>
              </a:rPr>
              <a:t>년부터 길게는 </a:t>
            </a:r>
            <a:r>
              <a:rPr lang="en-US" altLang="ko-KR" sz="2000" b="1" dirty="0" smtClean="0">
                <a:solidFill>
                  <a:srgbClr val="FF0000"/>
                </a:solidFill>
                <a:latin typeface="+mn-ea"/>
              </a:rPr>
              <a:t>40</a:t>
            </a:r>
            <a:r>
              <a:rPr lang="ko-KR" altLang="en-US" sz="2000" b="1" dirty="0" smtClean="0">
                <a:solidFill>
                  <a:srgbClr val="FF0000"/>
                </a:solidFill>
                <a:latin typeface="+mn-ea"/>
              </a:rPr>
              <a:t>년까지 </a:t>
            </a:r>
            <a:r>
              <a:rPr lang="ko-KR" altLang="en-US" sz="2000" b="1" dirty="0" smtClean="0">
                <a:latin typeface="+mn-ea"/>
              </a:rPr>
              <a:t>지원자의 </a:t>
            </a:r>
            <a:r>
              <a:rPr lang="ko-KR" altLang="en-US" sz="2000" b="1" dirty="0" smtClean="0">
                <a:solidFill>
                  <a:srgbClr val="FF0000"/>
                </a:solidFill>
                <a:latin typeface="+mn-ea"/>
              </a:rPr>
              <a:t>운명을 가를 수 있는 기획서</a:t>
            </a:r>
            <a:r>
              <a:rPr lang="en-US" altLang="ko-KR" sz="2000" b="1" dirty="0" smtClean="0">
                <a:solidFill>
                  <a:srgbClr val="FF0000"/>
                </a:solidFill>
                <a:latin typeface="+mn-ea"/>
              </a:rPr>
              <a:t>!</a:t>
            </a:r>
            <a:r>
              <a:rPr lang="en-US" altLang="ko-KR" sz="2000" b="1" dirty="0" smtClean="0">
                <a:latin typeface="+mn-ea"/>
              </a:rPr>
              <a:t> </a:t>
            </a:r>
            <a:r>
              <a:rPr lang="ko-KR" altLang="en-US" sz="2000" b="1" dirty="0" smtClean="0">
                <a:latin typeface="+mn-ea"/>
              </a:rPr>
              <a:t>바로 자기소개서다</a:t>
            </a:r>
            <a:r>
              <a:rPr lang="en-US" altLang="ko-KR" sz="2000" b="1" dirty="0" smtClean="0">
                <a:latin typeface="+mn-ea"/>
              </a:rPr>
              <a:t>.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b="1" dirty="0" smtClean="0">
              <a:latin typeface="+mn-ea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 smtClean="0">
                <a:solidFill>
                  <a:srgbClr val="0000FF"/>
                </a:solidFill>
                <a:latin typeface="+mn-ea"/>
              </a:rPr>
              <a:t>첫째</a:t>
            </a:r>
            <a:r>
              <a:rPr lang="en-US" altLang="ko-KR" sz="2000" b="1" dirty="0" smtClean="0">
                <a:latin typeface="+mn-ea"/>
              </a:rPr>
              <a:t>, </a:t>
            </a:r>
            <a:r>
              <a:rPr lang="ko-KR" altLang="en-US" sz="2000" b="1" dirty="0" smtClean="0">
                <a:solidFill>
                  <a:srgbClr val="FF0000"/>
                </a:solidFill>
                <a:latin typeface="+mn-ea"/>
              </a:rPr>
              <a:t>전체적인 틀</a:t>
            </a:r>
            <a:r>
              <a:rPr lang="ko-KR" altLang="en-US" sz="2000" b="1" dirty="0" smtClean="0">
                <a:latin typeface="+mn-ea"/>
              </a:rPr>
              <a:t>을 짜고 작성하라</a:t>
            </a:r>
            <a:r>
              <a:rPr lang="en-US" altLang="ko-KR" sz="2000" b="1" dirty="0" smtClean="0">
                <a:latin typeface="+mn-ea"/>
              </a:rPr>
              <a:t>.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 smtClean="0">
                <a:solidFill>
                  <a:srgbClr val="0000FF"/>
                </a:solidFill>
                <a:latin typeface="+mn-ea"/>
              </a:rPr>
              <a:t>둘째</a:t>
            </a:r>
            <a:r>
              <a:rPr lang="en-US" altLang="ko-KR" sz="2000" b="1" dirty="0" smtClean="0">
                <a:latin typeface="+mn-ea"/>
              </a:rPr>
              <a:t>, </a:t>
            </a:r>
            <a:r>
              <a:rPr lang="ko-KR" altLang="en-US" sz="2000" b="1" dirty="0" smtClean="0">
                <a:solidFill>
                  <a:srgbClr val="FF0000"/>
                </a:solidFill>
                <a:latin typeface="+mn-ea"/>
              </a:rPr>
              <a:t>맞춤법</a:t>
            </a:r>
            <a:r>
              <a:rPr lang="ko-KR" altLang="en-US" sz="2000" b="1" dirty="0" smtClean="0">
                <a:latin typeface="+mn-ea"/>
              </a:rPr>
              <a:t>을 체크하라</a:t>
            </a:r>
            <a:r>
              <a:rPr lang="en-US" altLang="ko-KR" sz="2000" b="1" dirty="0" smtClean="0">
                <a:latin typeface="+mn-ea"/>
              </a:rPr>
              <a:t>.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 smtClean="0">
                <a:solidFill>
                  <a:srgbClr val="0000FF"/>
                </a:solidFill>
                <a:latin typeface="+mn-ea"/>
              </a:rPr>
              <a:t>셋째</a:t>
            </a:r>
            <a:r>
              <a:rPr lang="en-US" altLang="ko-KR" sz="2000" b="1" dirty="0" smtClean="0">
                <a:latin typeface="+mn-ea"/>
              </a:rPr>
              <a:t>, </a:t>
            </a:r>
            <a:r>
              <a:rPr lang="ko-KR" altLang="en-US" sz="2000" b="1" dirty="0" smtClean="0">
                <a:latin typeface="+mn-ea"/>
              </a:rPr>
              <a:t>정해진 </a:t>
            </a:r>
            <a:r>
              <a:rPr lang="ko-KR" altLang="en-US" sz="2000" b="1" dirty="0" smtClean="0">
                <a:solidFill>
                  <a:srgbClr val="FF0000"/>
                </a:solidFill>
                <a:latin typeface="+mn-ea"/>
              </a:rPr>
              <a:t>글자 수</a:t>
            </a:r>
            <a:r>
              <a:rPr lang="ko-KR" altLang="en-US" sz="2000" b="1" dirty="0" smtClean="0">
                <a:latin typeface="+mn-ea"/>
              </a:rPr>
              <a:t>를 맞춰라</a:t>
            </a:r>
            <a:r>
              <a:rPr lang="en-US" altLang="ko-KR" sz="2000" b="1" dirty="0" smtClean="0">
                <a:latin typeface="+mn-ea"/>
              </a:rPr>
              <a:t>(</a:t>
            </a:r>
            <a:r>
              <a:rPr lang="ko-KR" altLang="en-US" sz="2000" b="1" dirty="0" smtClean="0">
                <a:latin typeface="+mn-ea"/>
              </a:rPr>
              <a:t>과유불급</a:t>
            </a: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 err="1">
                <a:latin typeface="+mn-ea"/>
              </a:rPr>
              <a:t>過猶不及</a:t>
            </a:r>
            <a:r>
              <a:rPr lang="en-US" altLang="ko-KR" sz="2000" b="1" dirty="0">
                <a:latin typeface="+mn-ea"/>
              </a:rPr>
              <a:t>))</a:t>
            </a:r>
            <a:endParaRPr lang="en-US" altLang="ko-KR" sz="2000" b="1" dirty="0" smtClean="0">
              <a:latin typeface="+mn-ea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 smtClean="0">
                <a:solidFill>
                  <a:srgbClr val="0000FF"/>
                </a:solidFill>
                <a:latin typeface="+mn-ea"/>
              </a:rPr>
              <a:t>넷째</a:t>
            </a:r>
            <a:r>
              <a:rPr lang="en-US" altLang="ko-KR" sz="2000" b="1" dirty="0" smtClean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표</a:t>
            </a:r>
            <a:r>
              <a:rPr lang="ko-KR" altLang="en-US" sz="2000" b="1" dirty="0" smtClean="0">
                <a:latin typeface="+mn-ea"/>
              </a:rPr>
              <a:t>현은 </a:t>
            </a:r>
            <a:r>
              <a:rPr lang="ko-KR" altLang="en-US" sz="2000" b="1" dirty="0" smtClean="0">
                <a:solidFill>
                  <a:srgbClr val="FF0000"/>
                </a:solidFill>
                <a:latin typeface="+mn-ea"/>
              </a:rPr>
              <a:t>솔직하게</a:t>
            </a:r>
            <a:r>
              <a:rPr lang="ko-KR" altLang="en-US" sz="2000" b="1" dirty="0" smtClean="0">
                <a:latin typeface="+mn-ea"/>
              </a:rPr>
              <a:t> 내용전개는 </a:t>
            </a:r>
            <a:r>
              <a:rPr lang="ko-KR" altLang="en-US" sz="2000" b="1" dirty="0" smtClean="0">
                <a:solidFill>
                  <a:srgbClr val="FF0000"/>
                </a:solidFill>
                <a:latin typeface="+mn-ea"/>
              </a:rPr>
              <a:t>두괄식</a:t>
            </a:r>
            <a:r>
              <a:rPr lang="ko-KR" altLang="en-US" sz="2000" b="1" dirty="0" smtClean="0">
                <a:latin typeface="+mn-ea"/>
              </a:rPr>
              <a:t>으로 하라</a:t>
            </a:r>
            <a:r>
              <a:rPr lang="en-US" altLang="ko-KR" sz="2000" b="1" dirty="0" smtClean="0">
                <a:latin typeface="+mn-ea"/>
              </a:rPr>
              <a:t>.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 smtClean="0">
                <a:solidFill>
                  <a:srgbClr val="0000FF"/>
                </a:solidFill>
                <a:latin typeface="+mn-ea"/>
              </a:rPr>
              <a:t>다섯째</a:t>
            </a:r>
            <a:r>
              <a:rPr lang="en-US" altLang="ko-KR" sz="2000" b="1" dirty="0" smtClean="0">
                <a:latin typeface="+mn-ea"/>
              </a:rPr>
              <a:t>, </a:t>
            </a:r>
            <a:r>
              <a:rPr lang="ko-KR" altLang="en-US" sz="2000" b="1" dirty="0" smtClean="0">
                <a:latin typeface="+mn-ea"/>
              </a:rPr>
              <a:t>구어체가 아닌 </a:t>
            </a:r>
            <a:r>
              <a:rPr lang="ko-KR" altLang="en-US" sz="2000" b="1" dirty="0" smtClean="0">
                <a:solidFill>
                  <a:srgbClr val="FF0000"/>
                </a:solidFill>
                <a:latin typeface="+mn-ea"/>
              </a:rPr>
              <a:t>문어체</a:t>
            </a:r>
            <a:r>
              <a:rPr lang="ko-KR" altLang="en-US" sz="2000" b="1" dirty="0" smtClean="0">
                <a:latin typeface="+mn-ea"/>
              </a:rPr>
              <a:t>를 쓰고 </a:t>
            </a:r>
            <a:r>
              <a:rPr lang="ko-KR" altLang="en-US" sz="2000" b="1" dirty="0" smtClean="0">
                <a:solidFill>
                  <a:srgbClr val="FF0000"/>
                </a:solidFill>
                <a:latin typeface="+mn-ea"/>
              </a:rPr>
              <a:t>형식을 정돈</a:t>
            </a:r>
            <a:r>
              <a:rPr lang="ko-KR" altLang="en-US" sz="2000" b="1" dirty="0" smtClean="0">
                <a:latin typeface="+mn-ea"/>
              </a:rPr>
              <a:t>하라</a:t>
            </a:r>
            <a:r>
              <a:rPr lang="en-US" altLang="ko-KR" sz="2000" b="1" dirty="0" smtClean="0">
                <a:latin typeface="+mn-ea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560" y="404664"/>
            <a:ext cx="7992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200" b="1" dirty="0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운명의 기획서가 </a:t>
            </a:r>
            <a:r>
              <a:rPr lang="ko-KR" altLang="en-US" sz="3200" b="1" dirty="0" err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되게하라</a:t>
            </a:r>
            <a:r>
              <a:rPr lang="en-US" altLang="ko-KR" sz="3200" b="1" dirty="0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en-US" altLang="ko-KR" sz="2400" b="1" dirty="0" smtClean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3711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2"/>
          <p:cNvSpPr txBox="1">
            <a:spLocks/>
          </p:cNvSpPr>
          <p:nvPr/>
        </p:nvSpPr>
        <p:spPr>
          <a:xfrm>
            <a:off x="827584" y="1752348"/>
            <a:ext cx="8064896" cy="435779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800" b="1" dirty="0" smtClean="0">
                <a:latin typeface="+mn-ea"/>
              </a:rPr>
              <a:t>◈ </a:t>
            </a:r>
            <a:r>
              <a:rPr lang="ko-KR" altLang="en-US" sz="1800" b="1" spc="-150" dirty="0" smtClean="0">
                <a:latin typeface="+mn-ea"/>
              </a:rPr>
              <a:t>나를 </a:t>
            </a:r>
            <a:r>
              <a:rPr lang="en-US" altLang="ko-KR" sz="1800" b="1" spc="-150" dirty="0" smtClean="0">
                <a:latin typeface="+mn-ea"/>
              </a:rPr>
              <a:t>Sales </a:t>
            </a:r>
            <a:r>
              <a:rPr lang="ko-KR" altLang="en-US" sz="1800" b="1" spc="-150" dirty="0" smtClean="0">
                <a:latin typeface="+mn-ea"/>
              </a:rPr>
              <a:t>한다는 생각으로 </a:t>
            </a:r>
            <a:r>
              <a:rPr lang="ko-KR" altLang="en-US" sz="1800" b="1" spc="-150" dirty="0" smtClean="0">
                <a:solidFill>
                  <a:srgbClr val="FF0000"/>
                </a:solidFill>
                <a:latin typeface="+mn-ea"/>
              </a:rPr>
              <a:t>내 자랑거리 중심</a:t>
            </a:r>
            <a:r>
              <a:rPr lang="ko-KR" altLang="en-US" sz="1800" b="1" spc="-150" dirty="0" smtClean="0">
                <a:latin typeface="+mn-ea"/>
              </a:rPr>
              <a:t>으로 작성</a:t>
            </a:r>
            <a:r>
              <a:rPr lang="en-US" altLang="ko-KR" sz="1800" b="1" spc="-150" dirty="0" smtClean="0">
                <a:latin typeface="+mn-ea"/>
              </a:rPr>
              <a:t>(</a:t>
            </a:r>
            <a:r>
              <a:rPr lang="ko-KR" altLang="en-US" sz="1800" b="1" spc="-150" dirty="0" smtClean="0">
                <a:latin typeface="+mn-ea"/>
              </a:rPr>
              <a:t>경쟁력 부각</a:t>
            </a:r>
            <a:r>
              <a:rPr lang="en-US" altLang="ko-KR" sz="1800" b="1" spc="-150" dirty="0" smtClean="0">
                <a:latin typeface="+mn-ea"/>
              </a:rPr>
              <a:t>)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ko-KR" altLang="en-US" sz="1800" b="1" dirty="0">
                <a:latin typeface="+mn-ea"/>
              </a:rPr>
              <a:t>◈ </a:t>
            </a:r>
            <a:r>
              <a:rPr lang="ko-KR" altLang="en-US" sz="1800" b="1" spc="-150" dirty="0" smtClean="0">
                <a:latin typeface="+mn-ea"/>
              </a:rPr>
              <a:t>잘 쓰려고는 것 보다 </a:t>
            </a:r>
            <a:r>
              <a:rPr lang="ko-KR" altLang="en-US" sz="1800" b="1" spc="-150" dirty="0" smtClean="0">
                <a:solidFill>
                  <a:srgbClr val="FF0000"/>
                </a:solidFill>
                <a:latin typeface="+mn-ea"/>
              </a:rPr>
              <a:t>다르게 쓰려는 노력</a:t>
            </a:r>
            <a:r>
              <a:rPr lang="ko-KR" altLang="en-US" sz="1800" b="1" spc="-150" dirty="0" smtClean="0">
                <a:latin typeface="+mn-ea"/>
              </a:rPr>
              <a:t>이 필요</a:t>
            </a:r>
            <a:r>
              <a:rPr lang="en-US" altLang="ko-KR" sz="1800" b="1" spc="-150" dirty="0" smtClean="0">
                <a:latin typeface="+mn-ea"/>
              </a:rPr>
              <a:t>(</a:t>
            </a:r>
            <a:r>
              <a:rPr lang="ko-KR" altLang="en-US" sz="1800" b="1" spc="-150" dirty="0" smtClean="0">
                <a:latin typeface="+mn-ea"/>
              </a:rPr>
              <a:t>차별화 부각</a:t>
            </a:r>
            <a:r>
              <a:rPr lang="en-US" altLang="ko-KR" sz="1800" b="1" spc="-150" dirty="0" smtClean="0">
                <a:latin typeface="+mn-ea"/>
              </a:rPr>
              <a:t>)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ko-KR" altLang="en-US" sz="1800" b="1" dirty="0">
                <a:latin typeface="+mn-ea"/>
              </a:rPr>
              <a:t>◈ </a:t>
            </a:r>
            <a:r>
              <a:rPr lang="ko-KR" altLang="en-US" sz="1800" b="1" spc="-150" dirty="0" smtClean="0">
                <a:solidFill>
                  <a:srgbClr val="FF0000"/>
                </a:solidFill>
                <a:latin typeface="+mn-ea"/>
              </a:rPr>
              <a:t>두괄식</a:t>
            </a:r>
            <a:r>
              <a:rPr lang="ko-KR" altLang="en-US" sz="1800" b="1" spc="-150" dirty="0" smtClean="0">
                <a:latin typeface="+mn-ea"/>
              </a:rPr>
              <a:t>으로 전개</a:t>
            </a:r>
            <a:endParaRPr lang="en-US" altLang="ko-KR" sz="1800" b="1" spc="-150" dirty="0" smtClean="0">
              <a:latin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800" b="1" dirty="0" smtClean="0">
                <a:latin typeface="+mn-ea"/>
              </a:rPr>
              <a:t>◈ </a:t>
            </a:r>
            <a:r>
              <a:rPr lang="ko-KR" altLang="en-US" sz="1800" b="1" dirty="0" smtClean="0"/>
              <a:t>자기 </a:t>
            </a:r>
            <a:r>
              <a:rPr lang="en-US" altLang="ko-KR" sz="1800" b="1" dirty="0" smtClean="0">
                <a:solidFill>
                  <a:srgbClr val="FF0000"/>
                </a:solidFill>
              </a:rPr>
              <a:t>Story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표</a:t>
            </a:r>
            <a:r>
              <a:rPr lang="ko-KR" altLang="en-US" sz="1800" b="1" dirty="0" smtClean="0"/>
              <a:t> 작성 활용</a:t>
            </a:r>
            <a:r>
              <a:rPr lang="en-US" altLang="ko-KR" sz="1800" b="1" dirty="0" smtClean="0"/>
              <a:t>(</a:t>
            </a:r>
            <a:r>
              <a:rPr lang="en-US" altLang="ko-KR" sz="1800" b="1" dirty="0" smtClean="0">
                <a:solidFill>
                  <a:srgbClr val="FF0000"/>
                </a:solidFill>
              </a:rPr>
              <a:t>Fact List</a:t>
            </a:r>
            <a:r>
              <a:rPr lang="en-US" altLang="ko-KR" sz="1800" b="1" dirty="0" smtClean="0"/>
              <a:t>)</a:t>
            </a:r>
            <a:endParaRPr lang="en-US" altLang="ko-KR" sz="1800" b="1" i="1" dirty="0" smtClean="0">
              <a:solidFill>
                <a:srgbClr val="0000FF"/>
              </a:solidFill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1800" b="1" i="1" dirty="0" smtClean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18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endParaRPr lang="en-US" altLang="ko-KR" sz="18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ko-KR" altLang="en-US" sz="1800" b="1" dirty="0" smtClean="0"/>
              <a:t>◈ 지망 회사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지망 분야에 맞게 편집</a:t>
            </a:r>
            <a:endParaRPr lang="en-US" altLang="ko-KR" sz="1800" b="1" dirty="0" smtClean="0"/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ko-KR" sz="1800" b="1" dirty="0" smtClean="0">
                <a:latin typeface="+mn-ea"/>
              </a:rPr>
              <a:t>   - 300</a:t>
            </a:r>
            <a:r>
              <a:rPr lang="ko-KR" altLang="en-US" sz="1800" b="1" dirty="0" smtClean="0">
                <a:latin typeface="+mn-ea"/>
              </a:rPr>
              <a:t>자</a:t>
            </a:r>
            <a:r>
              <a:rPr lang="en-US" altLang="ko-KR" sz="1800" b="1" dirty="0" smtClean="0">
                <a:latin typeface="+mn-ea"/>
              </a:rPr>
              <a:t>, 500</a:t>
            </a:r>
            <a:r>
              <a:rPr lang="ko-KR" altLang="en-US" sz="1800" b="1" dirty="0" smtClean="0">
                <a:latin typeface="+mn-ea"/>
              </a:rPr>
              <a:t>자</a:t>
            </a:r>
            <a:r>
              <a:rPr lang="en-US" altLang="ko-KR" sz="1800" b="1" dirty="0" smtClean="0">
                <a:latin typeface="+mn-ea"/>
              </a:rPr>
              <a:t>, 700</a:t>
            </a:r>
            <a:r>
              <a:rPr lang="ko-KR" altLang="en-US" sz="1800" b="1" dirty="0" smtClean="0">
                <a:latin typeface="+mn-ea"/>
              </a:rPr>
              <a:t>자</a:t>
            </a:r>
            <a:r>
              <a:rPr lang="en-US" altLang="ko-KR" sz="1800" b="1" dirty="0" smtClean="0">
                <a:latin typeface="+mn-ea"/>
              </a:rPr>
              <a:t>, 1,000</a:t>
            </a:r>
            <a:r>
              <a:rPr lang="ko-KR" altLang="en-US" sz="1800" b="1" dirty="0" smtClean="0">
                <a:latin typeface="+mn-ea"/>
              </a:rPr>
              <a:t>자 충족</a:t>
            </a:r>
            <a:endParaRPr lang="en-US" altLang="ko-KR" sz="1800" b="1" dirty="0" smtClean="0">
              <a:latin typeface="+mn-ea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661909"/>
              </p:ext>
            </p:extLst>
          </p:nvPr>
        </p:nvGraphicFramePr>
        <p:xfrm>
          <a:off x="1136303" y="3717032"/>
          <a:ext cx="7128793" cy="12241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/>
                <a:gridCol w="3240360"/>
                <a:gridCol w="2520281"/>
              </a:tblGrid>
              <a:tr h="4080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연도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일어났던 일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기억할만한 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결과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err="1" smtClean="0">
                          <a:solidFill>
                            <a:schemeClr val="tx1"/>
                          </a:solidFill>
                        </a:rPr>
                        <a:t>느낀점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err="1" smtClean="0">
                          <a:solidFill>
                            <a:schemeClr val="tx1"/>
                          </a:solidFill>
                        </a:rPr>
                        <a:t>배운점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27584" y="367353"/>
            <a:ext cx="743751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 작성 포인트</a:t>
            </a:r>
            <a:endParaRPr lang="en-US" altLang="ko-KR" sz="3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       성장과정</a:t>
            </a:r>
            <a:r>
              <a:rPr lang="en-US" altLang="ko-KR" sz="2000" dirty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, </a:t>
            </a:r>
            <a:r>
              <a:rPr lang="ko-KR" altLang="en-US" sz="2000" dirty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성격의 장단점</a:t>
            </a:r>
            <a:r>
              <a:rPr lang="en-US" altLang="ko-KR" sz="2000" dirty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, </a:t>
            </a:r>
            <a:r>
              <a:rPr lang="ko-KR" altLang="en-US" sz="2000" dirty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입사 지원 동기</a:t>
            </a:r>
            <a:r>
              <a:rPr lang="en-US" altLang="ko-KR" sz="2000" dirty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, </a:t>
            </a:r>
            <a:r>
              <a:rPr lang="ko-KR" altLang="en-US" sz="2000" dirty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입사 후 </a:t>
            </a:r>
            <a:r>
              <a:rPr lang="ko-KR" altLang="en-US" sz="20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포부</a:t>
            </a:r>
            <a:endParaRPr lang="en-US" altLang="ko-KR" sz="36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375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27584" y="367353"/>
            <a:ext cx="7437512" cy="73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 작성 포인트</a:t>
            </a:r>
            <a:endParaRPr lang="en-US" altLang="ko-KR" sz="3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5" name="그룹 94"/>
          <p:cNvGrpSpPr/>
          <p:nvPr/>
        </p:nvGrpSpPr>
        <p:grpSpPr>
          <a:xfrm>
            <a:off x="6140026" y="2305160"/>
            <a:ext cx="2428480" cy="2475418"/>
            <a:chOff x="2116435" y="2276040"/>
            <a:chExt cx="2815605" cy="2870025"/>
          </a:xfrm>
        </p:grpSpPr>
        <p:sp>
          <p:nvSpPr>
            <p:cNvPr id="96" name="타원 95"/>
            <p:cNvSpPr/>
            <p:nvPr/>
          </p:nvSpPr>
          <p:spPr>
            <a:xfrm>
              <a:off x="2766030" y="2915398"/>
              <a:ext cx="167031" cy="200548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타원 96"/>
            <p:cNvSpPr/>
            <p:nvPr/>
          </p:nvSpPr>
          <p:spPr>
            <a:xfrm>
              <a:off x="3107505" y="3055934"/>
              <a:ext cx="311970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타원 97"/>
            <p:cNvSpPr/>
            <p:nvPr/>
          </p:nvSpPr>
          <p:spPr>
            <a:xfrm>
              <a:off x="3194486" y="2276040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타원 98"/>
            <p:cNvSpPr/>
            <p:nvPr/>
          </p:nvSpPr>
          <p:spPr>
            <a:xfrm>
              <a:off x="2613049" y="2490816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타원 99"/>
            <p:cNvSpPr/>
            <p:nvPr/>
          </p:nvSpPr>
          <p:spPr>
            <a:xfrm>
              <a:off x="3706055" y="2502067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타원 100"/>
            <p:cNvSpPr/>
            <p:nvPr/>
          </p:nvSpPr>
          <p:spPr>
            <a:xfrm>
              <a:off x="2116435" y="3242608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타원 101"/>
            <p:cNvSpPr/>
            <p:nvPr/>
          </p:nvSpPr>
          <p:spPr>
            <a:xfrm>
              <a:off x="2415790" y="3817417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타원 102"/>
            <p:cNvSpPr/>
            <p:nvPr/>
          </p:nvSpPr>
          <p:spPr>
            <a:xfrm>
              <a:off x="4249057" y="3200372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타원 103"/>
            <p:cNvSpPr/>
            <p:nvPr/>
          </p:nvSpPr>
          <p:spPr>
            <a:xfrm>
              <a:off x="3986574" y="3780385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타원 104"/>
            <p:cNvSpPr/>
            <p:nvPr/>
          </p:nvSpPr>
          <p:spPr>
            <a:xfrm>
              <a:off x="2622014" y="4174415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타원 105"/>
            <p:cNvSpPr/>
            <p:nvPr/>
          </p:nvSpPr>
          <p:spPr>
            <a:xfrm>
              <a:off x="2364142" y="4589512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타원 106"/>
            <p:cNvSpPr/>
            <p:nvPr/>
          </p:nvSpPr>
          <p:spPr>
            <a:xfrm>
              <a:off x="2539625" y="4886509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/>
            <p:cNvSpPr/>
            <p:nvPr/>
          </p:nvSpPr>
          <p:spPr>
            <a:xfrm>
              <a:off x="3575172" y="2924363"/>
              <a:ext cx="167031" cy="200548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/>
            <p:cNvSpPr/>
            <p:nvPr/>
          </p:nvSpPr>
          <p:spPr>
            <a:xfrm>
              <a:off x="3770550" y="4164869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/>
            <p:cNvSpPr/>
            <p:nvPr/>
          </p:nvSpPr>
          <p:spPr>
            <a:xfrm>
              <a:off x="4022434" y="4587826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타원 110"/>
            <p:cNvSpPr/>
            <p:nvPr/>
          </p:nvSpPr>
          <p:spPr>
            <a:xfrm>
              <a:off x="3860776" y="4893788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타원 111"/>
            <p:cNvSpPr/>
            <p:nvPr/>
          </p:nvSpPr>
          <p:spPr>
            <a:xfrm>
              <a:off x="2766030" y="3699412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타원 112"/>
            <p:cNvSpPr/>
            <p:nvPr/>
          </p:nvSpPr>
          <p:spPr>
            <a:xfrm>
              <a:off x="3670195" y="3666500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타원 113"/>
            <p:cNvSpPr/>
            <p:nvPr/>
          </p:nvSpPr>
          <p:spPr>
            <a:xfrm>
              <a:off x="2963489" y="4174415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/>
            <p:cNvSpPr/>
            <p:nvPr/>
          </p:nvSpPr>
          <p:spPr>
            <a:xfrm>
              <a:off x="3431156" y="4174415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타원 115"/>
            <p:cNvSpPr/>
            <p:nvPr/>
          </p:nvSpPr>
          <p:spPr>
            <a:xfrm>
              <a:off x="3107505" y="4866893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3332253" y="4866893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타원 117"/>
            <p:cNvSpPr/>
            <p:nvPr/>
          </p:nvSpPr>
          <p:spPr>
            <a:xfrm>
              <a:off x="2559806" y="3303965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타원 118"/>
            <p:cNvSpPr/>
            <p:nvPr/>
          </p:nvSpPr>
          <p:spPr>
            <a:xfrm>
              <a:off x="3778063" y="3323581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자유형 119"/>
            <p:cNvSpPr/>
            <p:nvPr/>
          </p:nvSpPr>
          <p:spPr>
            <a:xfrm>
              <a:off x="2629735" y="2302872"/>
              <a:ext cx="1246821" cy="1570842"/>
            </a:xfrm>
            <a:custGeom>
              <a:avLst/>
              <a:gdLst>
                <a:gd name="connsiteX0" fmla="*/ 616833 w 1246821"/>
                <a:gd name="connsiteY0" fmla="*/ 1569881 h 1570842"/>
                <a:gd name="connsiteX1" fmla="*/ 195492 w 1246821"/>
                <a:gd name="connsiteY1" fmla="*/ 1480234 h 1570842"/>
                <a:gd name="connsiteX2" fmla="*/ 7233 w 1246821"/>
                <a:gd name="connsiteY2" fmla="*/ 1121646 h 1570842"/>
                <a:gd name="connsiteX3" fmla="*/ 428575 w 1246821"/>
                <a:gd name="connsiteY3" fmla="*/ 763057 h 1570842"/>
                <a:gd name="connsiteX4" fmla="*/ 446504 w 1246821"/>
                <a:gd name="connsiteY4" fmla="*/ 99669 h 1570842"/>
                <a:gd name="connsiteX5" fmla="*/ 840951 w 1246821"/>
                <a:gd name="connsiteY5" fmla="*/ 72775 h 1570842"/>
                <a:gd name="connsiteX6" fmla="*/ 849916 w 1246821"/>
                <a:gd name="connsiteY6" fmla="*/ 772022 h 1570842"/>
                <a:gd name="connsiteX7" fmla="*/ 1226433 w 1246821"/>
                <a:gd name="connsiteY7" fmla="*/ 1130610 h 1570842"/>
                <a:gd name="connsiteX8" fmla="*/ 1136786 w 1246821"/>
                <a:gd name="connsiteY8" fmla="*/ 1444375 h 1570842"/>
                <a:gd name="connsiteX9" fmla="*/ 616833 w 1246821"/>
                <a:gd name="connsiteY9" fmla="*/ 1569881 h 15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46821" h="1570842">
                  <a:moveTo>
                    <a:pt x="616833" y="1569881"/>
                  </a:moveTo>
                  <a:cubicBezTo>
                    <a:pt x="459951" y="1575857"/>
                    <a:pt x="297092" y="1554940"/>
                    <a:pt x="195492" y="1480234"/>
                  </a:cubicBezTo>
                  <a:cubicBezTo>
                    <a:pt x="93892" y="1405528"/>
                    <a:pt x="-31614" y="1241175"/>
                    <a:pt x="7233" y="1121646"/>
                  </a:cubicBezTo>
                  <a:cubicBezTo>
                    <a:pt x="46080" y="1002116"/>
                    <a:pt x="355363" y="933386"/>
                    <a:pt x="428575" y="763057"/>
                  </a:cubicBezTo>
                  <a:cubicBezTo>
                    <a:pt x="501787" y="592728"/>
                    <a:pt x="377775" y="214716"/>
                    <a:pt x="446504" y="99669"/>
                  </a:cubicBezTo>
                  <a:cubicBezTo>
                    <a:pt x="515233" y="-15378"/>
                    <a:pt x="773716" y="-39284"/>
                    <a:pt x="840951" y="72775"/>
                  </a:cubicBezTo>
                  <a:cubicBezTo>
                    <a:pt x="908186" y="184834"/>
                    <a:pt x="785669" y="595716"/>
                    <a:pt x="849916" y="772022"/>
                  </a:cubicBezTo>
                  <a:cubicBezTo>
                    <a:pt x="914163" y="948328"/>
                    <a:pt x="1178621" y="1018551"/>
                    <a:pt x="1226433" y="1130610"/>
                  </a:cubicBezTo>
                  <a:cubicBezTo>
                    <a:pt x="1274245" y="1242669"/>
                    <a:pt x="1235398" y="1368175"/>
                    <a:pt x="1136786" y="1444375"/>
                  </a:cubicBezTo>
                  <a:cubicBezTo>
                    <a:pt x="1038174" y="1520575"/>
                    <a:pt x="773715" y="1563905"/>
                    <a:pt x="616833" y="1569881"/>
                  </a:cubicBezTo>
                  <a:close/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자유형 120"/>
            <p:cNvSpPr/>
            <p:nvPr/>
          </p:nvSpPr>
          <p:spPr>
            <a:xfrm>
              <a:off x="2186339" y="2276982"/>
              <a:ext cx="2158563" cy="1641527"/>
            </a:xfrm>
            <a:custGeom>
              <a:avLst/>
              <a:gdLst>
                <a:gd name="connsiteX0" fmla="*/ 558206 w 2158563"/>
                <a:gd name="connsiteY0" fmla="*/ 1452336 h 1641527"/>
                <a:gd name="connsiteX1" fmla="*/ 298229 w 2158563"/>
                <a:gd name="connsiteY1" fmla="*/ 1622665 h 1641527"/>
                <a:gd name="connsiteX2" fmla="*/ 2394 w 2158563"/>
                <a:gd name="connsiteY2" fmla="*/ 1057889 h 1641527"/>
                <a:gd name="connsiteX3" fmla="*/ 468559 w 2158563"/>
                <a:gd name="connsiteY3" fmla="*/ 242100 h 1641527"/>
                <a:gd name="connsiteX4" fmla="*/ 549241 w 2158563"/>
                <a:gd name="connsiteY4" fmla="*/ 313818 h 1641527"/>
                <a:gd name="connsiteX5" fmla="*/ 1087123 w 2158563"/>
                <a:gd name="connsiteY5" fmla="*/ 53 h 1641527"/>
                <a:gd name="connsiteX6" fmla="*/ 1562253 w 2158563"/>
                <a:gd name="connsiteY6" fmla="*/ 340712 h 1641527"/>
                <a:gd name="connsiteX7" fmla="*/ 1651900 w 2158563"/>
                <a:gd name="connsiteY7" fmla="*/ 268994 h 1641527"/>
                <a:gd name="connsiteX8" fmla="*/ 2153923 w 2158563"/>
                <a:gd name="connsiteY8" fmla="*/ 1013065 h 1641527"/>
                <a:gd name="connsiteX9" fmla="*/ 1884982 w 2158563"/>
                <a:gd name="connsiteY9" fmla="*/ 1604736 h 1641527"/>
                <a:gd name="connsiteX10" fmla="*/ 1598112 w 2158563"/>
                <a:gd name="connsiteY10" fmla="*/ 1506124 h 1641527"/>
                <a:gd name="connsiteX11" fmla="*/ 1598112 w 2158563"/>
                <a:gd name="connsiteY11" fmla="*/ 1506124 h 1641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58563" h="1641527">
                  <a:moveTo>
                    <a:pt x="558206" y="1452336"/>
                  </a:moveTo>
                  <a:cubicBezTo>
                    <a:pt x="474535" y="1570371"/>
                    <a:pt x="390864" y="1688406"/>
                    <a:pt x="298229" y="1622665"/>
                  </a:cubicBezTo>
                  <a:cubicBezTo>
                    <a:pt x="205594" y="1556924"/>
                    <a:pt x="-25994" y="1287983"/>
                    <a:pt x="2394" y="1057889"/>
                  </a:cubicBezTo>
                  <a:cubicBezTo>
                    <a:pt x="30782" y="827795"/>
                    <a:pt x="377418" y="366112"/>
                    <a:pt x="468559" y="242100"/>
                  </a:cubicBezTo>
                  <a:cubicBezTo>
                    <a:pt x="559700" y="118088"/>
                    <a:pt x="446147" y="354159"/>
                    <a:pt x="549241" y="313818"/>
                  </a:cubicBezTo>
                  <a:cubicBezTo>
                    <a:pt x="652335" y="273477"/>
                    <a:pt x="918288" y="-4429"/>
                    <a:pt x="1087123" y="53"/>
                  </a:cubicBezTo>
                  <a:cubicBezTo>
                    <a:pt x="1255958" y="4535"/>
                    <a:pt x="1468124" y="295889"/>
                    <a:pt x="1562253" y="340712"/>
                  </a:cubicBezTo>
                  <a:cubicBezTo>
                    <a:pt x="1656382" y="385535"/>
                    <a:pt x="1553288" y="156935"/>
                    <a:pt x="1651900" y="268994"/>
                  </a:cubicBezTo>
                  <a:cubicBezTo>
                    <a:pt x="1750512" y="381053"/>
                    <a:pt x="2115076" y="790441"/>
                    <a:pt x="2153923" y="1013065"/>
                  </a:cubicBezTo>
                  <a:cubicBezTo>
                    <a:pt x="2192770" y="1235689"/>
                    <a:pt x="1977617" y="1522560"/>
                    <a:pt x="1884982" y="1604736"/>
                  </a:cubicBezTo>
                  <a:cubicBezTo>
                    <a:pt x="1792347" y="1686912"/>
                    <a:pt x="1598112" y="1506124"/>
                    <a:pt x="1598112" y="1506124"/>
                  </a:cubicBezTo>
                  <a:lnTo>
                    <a:pt x="1598112" y="1506124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자유형 121"/>
            <p:cNvSpPr/>
            <p:nvPr/>
          </p:nvSpPr>
          <p:spPr>
            <a:xfrm>
              <a:off x="2393028" y="3774141"/>
              <a:ext cx="656317" cy="1371924"/>
            </a:xfrm>
            <a:custGeom>
              <a:avLst/>
              <a:gdLst>
                <a:gd name="connsiteX0" fmla="*/ 450129 w 656317"/>
                <a:gd name="connsiteY0" fmla="*/ 0 h 1371924"/>
                <a:gd name="connsiteX1" fmla="*/ 234976 w 656317"/>
                <a:gd name="connsiteY1" fmla="*/ 493059 h 1371924"/>
                <a:gd name="connsiteX2" fmla="*/ 10858 w 656317"/>
                <a:gd name="connsiteY2" fmla="*/ 645459 h 1371924"/>
                <a:gd name="connsiteX3" fmla="*/ 55682 w 656317"/>
                <a:gd name="connsiteY3" fmla="*/ 923365 h 1371924"/>
                <a:gd name="connsiteX4" fmla="*/ 234976 w 656317"/>
                <a:gd name="connsiteY4" fmla="*/ 1237130 h 1371924"/>
                <a:gd name="connsiteX5" fmla="*/ 145329 w 656317"/>
                <a:gd name="connsiteY5" fmla="*/ 1335741 h 1371924"/>
                <a:gd name="connsiteX6" fmla="*/ 252905 w 656317"/>
                <a:gd name="connsiteY6" fmla="*/ 1326777 h 1371924"/>
                <a:gd name="connsiteX7" fmla="*/ 226011 w 656317"/>
                <a:gd name="connsiteY7" fmla="*/ 1371600 h 1371924"/>
                <a:gd name="connsiteX8" fmla="*/ 252905 w 656317"/>
                <a:gd name="connsiteY8" fmla="*/ 1299883 h 1371924"/>
                <a:gd name="connsiteX9" fmla="*/ 270834 w 656317"/>
                <a:gd name="connsiteY9" fmla="*/ 1362635 h 1371924"/>
                <a:gd name="connsiteX10" fmla="*/ 297729 w 656317"/>
                <a:gd name="connsiteY10" fmla="*/ 1290918 h 1371924"/>
                <a:gd name="connsiteX11" fmla="*/ 306693 w 656317"/>
                <a:gd name="connsiteY11" fmla="*/ 1353671 h 1371924"/>
                <a:gd name="connsiteX12" fmla="*/ 324623 w 656317"/>
                <a:gd name="connsiteY12" fmla="*/ 1272988 h 1371924"/>
                <a:gd name="connsiteX13" fmla="*/ 342552 w 656317"/>
                <a:gd name="connsiteY13" fmla="*/ 1272988 h 1371924"/>
                <a:gd name="connsiteX14" fmla="*/ 369446 w 656317"/>
                <a:gd name="connsiteY14" fmla="*/ 1344706 h 1371924"/>
                <a:gd name="connsiteX15" fmla="*/ 378411 w 656317"/>
                <a:gd name="connsiteY15" fmla="*/ 1335741 h 1371924"/>
                <a:gd name="connsiteX16" fmla="*/ 396340 w 656317"/>
                <a:gd name="connsiteY16" fmla="*/ 1219200 h 1371924"/>
                <a:gd name="connsiteX17" fmla="*/ 297729 w 656317"/>
                <a:gd name="connsiteY17" fmla="*/ 905435 h 1371924"/>
                <a:gd name="connsiteX18" fmla="*/ 351517 w 656317"/>
                <a:gd name="connsiteY18" fmla="*/ 484094 h 1371924"/>
                <a:gd name="connsiteX19" fmla="*/ 566670 w 656317"/>
                <a:gd name="connsiteY19" fmla="*/ 295835 h 1371924"/>
                <a:gd name="connsiteX20" fmla="*/ 656317 w 656317"/>
                <a:gd name="connsiteY20" fmla="*/ 89647 h 1371924"/>
                <a:gd name="connsiteX21" fmla="*/ 656317 w 656317"/>
                <a:gd name="connsiteY21" fmla="*/ 89647 h 1371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56317" h="1371924">
                  <a:moveTo>
                    <a:pt x="450129" y="0"/>
                  </a:moveTo>
                  <a:cubicBezTo>
                    <a:pt x="379158" y="192741"/>
                    <a:pt x="308188" y="385483"/>
                    <a:pt x="234976" y="493059"/>
                  </a:cubicBezTo>
                  <a:cubicBezTo>
                    <a:pt x="161764" y="600636"/>
                    <a:pt x="40740" y="573741"/>
                    <a:pt x="10858" y="645459"/>
                  </a:cubicBezTo>
                  <a:cubicBezTo>
                    <a:pt x="-19024" y="717177"/>
                    <a:pt x="18329" y="824753"/>
                    <a:pt x="55682" y="923365"/>
                  </a:cubicBezTo>
                  <a:cubicBezTo>
                    <a:pt x="93035" y="1021977"/>
                    <a:pt x="220035" y="1168401"/>
                    <a:pt x="234976" y="1237130"/>
                  </a:cubicBezTo>
                  <a:cubicBezTo>
                    <a:pt x="249917" y="1305859"/>
                    <a:pt x="142341" y="1320800"/>
                    <a:pt x="145329" y="1335741"/>
                  </a:cubicBezTo>
                  <a:cubicBezTo>
                    <a:pt x="148317" y="1350682"/>
                    <a:pt x="239458" y="1320801"/>
                    <a:pt x="252905" y="1326777"/>
                  </a:cubicBezTo>
                  <a:cubicBezTo>
                    <a:pt x="266352" y="1332753"/>
                    <a:pt x="226011" y="1376082"/>
                    <a:pt x="226011" y="1371600"/>
                  </a:cubicBezTo>
                  <a:cubicBezTo>
                    <a:pt x="226011" y="1367118"/>
                    <a:pt x="245434" y="1301377"/>
                    <a:pt x="252905" y="1299883"/>
                  </a:cubicBezTo>
                  <a:cubicBezTo>
                    <a:pt x="260376" y="1298389"/>
                    <a:pt x="263363" y="1364129"/>
                    <a:pt x="270834" y="1362635"/>
                  </a:cubicBezTo>
                  <a:cubicBezTo>
                    <a:pt x="278305" y="1361141"/>
                    <a:pt x="291752" y="1292412"/>
                    <a:pt x="297729" y="1290918"/>
                  </a:cubicBezTo>
                  <a:cubicBezTo>
                    <a:pt x="303705" y="1289424"/>
                    <a:pt x="302211" y="1356659"/>
                    <a:pt x="306693" y="1353671"/>
                  </a:cubicBezTo>
                  <a:cubicBezTo>
                    <a:pt x="311175" y="1350683"/>
                    <a:pt x="318647" y="1286435"/>
                    <a:pt x="324623" y="1272988"/>
                  </a:cubicBezTo>
                  <a:cubicBezTo>
                    <a:pt x="330599" y="1259541"/>
                    <a:pt x="335081" y="1261035"/>
                    <a:pt x="342552" y="1272988"/>
                  </a:cubicBezTo>
                  <a:cubicBezTo>
                    <a:pt x="350022" y="1284941"/>
                    <a:pt x="363470" y="1334247"/>
                    <a:pt x="369446" y="1344706"/>
                  </a:cubicBezTo>
                  <a:cubicBezTo>
                    <a:pt x="375422" y="1355165"/>
                    <a:pt x="373929" y="1356659"/>
                    <a:pt x="378411" y="1335741"/>
                  </a:cubicBezTo>
                  <a:cubicBezTo>
                    <a:pt x="382893" y="1314823"/>
                    <a:pt x="409787" y="1290918"/>
                    <a:pt x="396340" y="1219200"/>
                  </a:cubicBezTo>
                  <a:cubicBezTo>
                    <a:pt x="382893" y="1147482"/>
                    <a:pt x="305199" y="1027953"/>
                    <a:pt x="297729" y="905435"/>
                  </a:cubicBezTo>
                  <a:cubicBezTo>
                    <a:pt x="290258" y="782917"/>
                    <a:pt x="306693" y="585694"/>
                    <a:pt x="351517" y="484094"/>
                  </a:cubicBezTo>
                  <a:cubicBezTo>
                    <a:pt x="396340" y="382494"/>
                    <a:pt x="515870" y="361576"/>
                    <a:pt x="566670" y="295835"/>
                  </a:cubicBezTo>
                  <a:cubicBezTo>
                    <a:pt x="617470" y="230094"/>
                    <a:pt x="656317" y="89647"/>
                    <a:pt x="656317" y="89647"/>
                  </a:cubicBezTo>
                  <a:lnTo>
                    <a:pt x="656317" y="89647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자유형 122"/>
            <p:cNvSpPr/>
            <p:nvPr/>
          </p:nvSpPr>
          <p:spPr>
            <a:xfrm flipH="1">
              <a:off x="3486052" y="3753118"/>
              <a:ext cx="656317" cy="1371924"/>
            </a:xfrm>
            <a:custGeom>
              <a:avLst/>
              <a:gdLst>
                <a:gd name="connsiteX0" fmla="*/ 450129 w 656317"/>
                <a:gd name="connsiteY0" fmla="*/ 0 h 1371924"/>
                <a:gd name="connsiteX1" fmla="*/ 234976 w 656317"/>
                <a:gd name="connsiteY1" fmla="*/ 493059 h 1371924"/>
                <a:gd name="connsiteX2" fmla="*/ 10858 w 656317"/>
                <a:gd name="connsiteY2" fmla="*/ 645459 h 1371924"/>
                <a:gd name="connsiteX3" fmla="*/ 55682 w 656317"/>
                <a:gd name="connsiteY3" fmla="*/ 923365 h 1371924"/>
                <a:gd name="connsiteX4" fmla="*/ 234976 w 656317"/>
                <a:gd name="connsiteY4" fmla="*/ 1237130 h 1371924"/>
                <a:gd name="connsiteX5" fmla="*/ 145329 w 656317"/>
                <a:gd name="connsiteY5" fmla="*/ 1335741 h 1371924"/>
                <a:gd name="connsiteX6" fmla="*/ 252905 w 656317"/>
                <a:gd name="connsiteY6" fmla="*/ 1326777 h 1371924"/>
                <a:gd name="connsiteX7" fmla="*/ 226011 w 656317"/>
                <a:gd name="connsiteY7" fmla="*/ 1371600 h 1371924"/>
                <a:gd name="connsiteX8" fmla="*/ 252905 w 656317"/>
                <a:gd name="connsiteY8" fmla="*/ 1299883 h 1371924"/>
                <a:gd name="connsiteX9" fmla="*/ 270834 w 656317"/>
                <a:gd name="connsiteY9" fmla="*/ 1362635 h 1371924"/>
                <a:gd name="connsiteX10" fmla="*/ 297729 w 656317"/>
                <a:gd name="connsiteY10" fmla="*/ 1290918 h 1371924"/>
                <a:gd name="connsiteX11" fmla="*/ 306693 w 656317"/>
                <a:gd name="connsiteY11" fmla="*/ 1353671 h 1371924"/>
                <a:gd name="connsiteX12" fmla="*/ 324623 w 656317"/>
                <a:gd name="connsiteY12" fmla="*/ 1272988 h 1371924"/>
                <a:gd name="connsiteX13" fmla="*/ 342552 w 656317"/>
                <a:gd name="connsiteY13" fmla="*/ 1272988 h 1371924"/>
                <a:gd name="connsiteX14" fmla="*/ 369446 w 656317"/>
                <a:gd name="connsiteY14" fmla="*/ 1344706 h 1371924"/>
                <a:gd name="connsiteX15" fmla="*/ 378411 w 656317"/>
                <a:gd name="connsiteY15" fmla="*/ 1335741 h 1371924"/>
                <a:gd name="connsiteX16" fmla="*/ 396340 w 656317"/>
                <a:gd name="connsiteY16" fmla="*/ 1219200 h 1371924"/>
                <a:gd name="connsiteX17" fmla="*/ 297729 w 656317"/>
                <a:gd name="connsiteY17" fmla="*/ 905435 h 1371924"/>
                <a:gd name="connsiteX18" fmla="*/ 351517 w 656317"/>
                <a:gd name="connsiteY18" fmla="*/ 484094 h 1371924"/>
                <a:gd name="connsiteX19" fmla="*/ 566670 w 656317"/>
                <a:gd name="connsiteY19" fmla="*/ 295835 h 1371924"/>
                <a:gd name="connsiteX20" fmla="*/ 656317 w 656317"/>
                <a:gd name="connsiteY20" fmla="*/ 89647 h 1371924"/>
                <a:gd name="connsiteX21" fmla="*/ 656317 w 656317"/>
                <a:gd name="connsiteY21" fmla="*/ 89647 h 1371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56317" h="1371924">
                  <a:moveTo>
                    <a:pt x="450129" y="0"/>
                  </a:moveTo>
                  <a:cubicBezTo>
                    <a:pt x="379158" y="192741"/>
                    <a:pt x="308188" y="385483"/>
                    <a:pt x="234976" y="493059"/>
                  </a:cubicBezTo>
                  <a:cubicBezTo>
                    <a:pt x="161764" y="600636"/>
                    <a:pt x="40740" y="573741"/>
                    <a:pt x="10858" y="645459"/>
                  </a:cubicBezTo>
                  <a:cubicBezTo>
                    <a:pt x="-19024" y="717177"/>
                    <a:pt x="18329" y="824753"/>
                    <a:pt x="55682" y="923365"/>
                  </a:cubicBezTo>
                  <a:cubicBezTo>
                    <a:pt x="93035" y="1021977"/>
                    <a:pt x="220035" y="1168401"/>
                    <a:pt x="234976" y="1237130"/>
                  </a:cubicBezTo>
                  <a:cubicBezTo>
                    <a:pt x="249917" y="1305859"/>
                    <a:pt x="142341" y="1320800"/>
                    <a:pt x="145329" y="1335741"/>
                  </a:cubicBezTo>
                  <a:cubicBezTo>
                    <a:pt x="148317" y="1350682"/>
                    <a:pt x="239458" y="1320801"/>
                    <a:pt x="252905" y="1326777"/>
                  </a:cubicBezTo>
                  <a:cubicBezTo>
                    <a:pt x="266352" y="1332753"/>
                    <a:pt x="226011" y="1376082"/>
                    <a:pt x="226011" y="1371600"/>
                  </a:cubicBezTo>
                  <a:cubicBezTo>
                    <a:pt x="226011" y="1367118"/>
                    <a:pt x="245434" y="1301377"/>
                    <a:pt x="252905" y="1299883"/>
                  </a:cubicBezTo>
                  <a:cubicBezTo>
                    <a:pt x="260376" y="1298389"/>
                    <a:pt x="263363" y="1364129"/>
                    <a:pt x="270834" y="1362635"/>
                  </a:cubicBezTo>
                  <a:cubicBezTo>
                    <a:pt x="278305" y="1361141"/>
                    <a:pt x="291752" y="1292412"/>
                    <a:pt x="297729" y="1290918"/>
                  </a:cubicBezTo>
                  <a:cubicBezTo>
                    <a:pt x="303705" y="1289424"/>
                    <a:pt x="302211" y="1356659"/>
                    <a:pt x="306693" y="1353671"/>
                  </a:cubicBezTo>
                  <a:cubicBezTo>
                    <a:pt x="311175" y="1350683"/>
                    <a:pt x="318647" y="1286435"/>
                    <a:pt x="324623" y="1272988"/>
                  </a:cubicBezTo>
                  <a:cubicBezTo>
                    <a:pt x="330599" y="1259541"/>
                    <a:pt x="335081" y="1261035"/>
                    <a:pt x="342552" y="1272988"/>
                  </a:cubicBezTo>
                  <a:cubicBezTo>
                    <a:pt x="350022" y="1284941"/>
                    <a:pt x="363470" y="1334247"/>
                    <a:pt x="369446" y="1344706"/>
                  </a:cubicBezTo>
                  <a:cubicBezTo>
                    <a:pt x="375422" y="1355165"/>
                    <a:pt x="373929" y="1356659"/>
                    <a:pt x="378411" y="1335741"/>
                  </a:cubicBezTo>
                  <a:cubicBezTo>
                    <a:pt x="382893" y="1314823"/>
                    <a:pt x="409787" y="1290918"/>
                    <a:pt x="396340" y="1219200"/>
                  </a:cubicBezTo>
                  <a:cubicBezTo>
                    <a:pt x="382893" y="1147482"/>
                    <a:pt x="305199" y="1027953"/>
                    <a:pt x="297729" y="905435"/>
                  </a:cubicBezTo>
                  <a:cubicBezTo>
                    <a:pt x="290258" y="782917"/>
                    <a:pt x="306693" y="585694"/>
                    <a:pt x="351517" y="484094"/>
                  </a:cubicBezTo>
                  <a:cubicBezTo>
                    <a:pt x="396340" y="382494"/>
                    <a:pt x="515870" y="361576"/>
                    <a:pt x="566670" y="295835"/>
                  </a:cubicBezTo>
                  <a:cubicBezTo>
                    <a:pt x="617470" y="230094"/>
                    <a:pt x="656317" y="89647"/>
                    <a:pt x="656317" y="89647"/>
                  </a:cubicBezTo>
                  <a:lnTo>
                    <a:pt x="656317" y="89647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자유형 123"/>
            <p:cNvSpPr/>
            <p:nvPr/>
          </p:nvSpPr>
          <p:spPr>
            <a:xfrm>
              <a:off x="2801974" y="4258235"/>
              <a:ext cx="398637" cy="859054"/>
            </a:xfrm>
            <a:custGeom>
              <a:avLst/>
              <a:gdLst>
                <a:gd name="connsiteX0" fmla="*/ 238406 w 398637"/>
                <a:gd name="connsiteY0" fmla="*/ 0 h 859054"/>
                <a:gd name="connsiteX1" fmla="*/ 202547 w 398637"/>
                <a:gd name="connsiteY1" fmla="*/ 385483 h 859054"/>
                <a:gd name="connsiteX2" fmla="*/ 381841 w 398637"/>
                <a:gd name="connsiteY2" fmla="*/ 717177 h 859054"/>
                <a:gd name="connsiteX3" fmla="*/ 381841 w 398637"/>
                <a:gd name="connsiteY3" fmla="*/ 824753 h 859054"/>
                <a:gd name="connsiteX4" fmla="*/ 301159 w 398637"/>
                <a:gd name="connsiteY4" fmla="*/ 833718 h 859054"/>
                <a:gd name="connsiteX5" fmla="*/ 274265 w 398637"/>
                <a:gd name="connsiteY5" fmla="*/ 770965 h 859054"/>
                <a:gd name="connsiteX6" fmla="*/ 274265 w 398637"/>
                <a:gd name="connsiteY6" fmla="*/ 842683 h 859054"/>
                <a:gd name="connsiteX7" fmla="*/ 202547 w 398637"/>
                <a:gd name="connsiteY7" fmla="*/ 851647 h 859054"/>
                <a:gd name="connsiteX8" fmla="*/ 211512 w 398637"/>
                <a:gd name="connsiteY8" fmla="*/ 753036 h 859054"/>
                <a:gd name="connsiteX9" fmla="*/ 157724 w 398637"/>
                <a:gd name="connsiteY9" fmla="*/ 842683 h 859054"/>
                <a:gd name="connsiteX10" fmla="*/ 130830 w 398637"/>
                <a:gd name="connsiteY10" fmla="*/ 851647 h 859054"/>
                <a:gd name="connsiteX11" fmla="*/ 86006 w 398637"/>
                <a:gd name="connsiteY11" fmla="*/ 762000 h 859054"/>
                <a:gd name="connsiteX12" fmla="*/ 5324 w 398637"/>
                <a:gd name="connsiteY12" fmla="*/ 788894 h 859054"/>
                <a:gd name="connsiteX13" fmla="*/ 14288 w 398637"/>
                <a:gd name="connsiteY13" fmla="*/ 770965 h 859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637" h="859054">
                  <a:moveTo>
                    <a:pt x="238406" y="0"/>
                  </a:moveTo>
                  <a:cubicBezTo>
                    <a:pt x="208523" y="132977"/>
                    <a:pt x="178641" y="265954"/>
                    <a:pt x="202547" y="385483"/>
                  </a:cubicBezTo>
                  <a:cubicBezTo>
                    <a:pt x="226453" y="505013"/>
                    <a:pt x="351959" y="643965"/>
                    <a:pt x="381841" y="717177"/>
                  </a:cubicBezTo>
                  <a:cubicBezTo>
                    <a:pt x="411723" y="790389"/>
                    <a:pt x="395288" y="805330"/>
                    <a:pt x="381841" y="824753"/>
                  </a:cubicBezTo>
                  <a:cubicBezTo>
                    <a:pt x="368394" y="844176"/>
                    <a:pt x="319088" y="842683"/>
                    <a:pt x="301159" y="833718"/>
                  </a:cubicBezTo>
                  <a:cubicBezTo>
                    <a:pt x="283230" y="824753"/>
                    <a:pt x="278747" y="769471"/>
                    <a:pt x="274265" y="770965"/>
                  </a:cubicBezTo>
                  <a:cubicBezTo>
                    <a:pt x="269783" y="772459"/>
                    <a:pt x="286218" y="829236"/>
                    <a:pt x="274265" y="842683"/>
                  </a:cubicBezTo>
                  <a:cubicBezTo>
                    <a:pt x="262312" y="856130"/>
                    <a:pt x="213006" y="866588"/>
                    <a:pt x="202547" y="851647"/>
                  </a:cubicBezTo>
                  <a:cubicBezTo>
                    <a:pt x="192088" y="836706"/>
                    <a:pt x="218983" y="754530"/>
                    <a:pt x="211512" y="753036"/>
                  </a:cubicBezTo>
                  <a:cubicBezTo>
                    <a:pt x="204041" y="751542"/>
                    <a:pt x="171171" y="826248"/>
                    <a:pt x="157724" y="842683"/>
                  </a:cubicBezTo>
                  <a:cubicBezTo>
                    <a:pt x="144277" y="859118"/>
                    <a:pt x="142783" y="865094"/>
                    <a:pt x="130830" y="851647"/>
                  </a:cubicBezTo>
                  <a:cubicBezTo>
                    <a:pt x="118877" y="838200"/>
                    <a:pt x="106924" y="772459"/>
                    <a:pt x="86006" y="762000"/>
                  </a:cubicBezTo>
                  <a:cubicBezTo>
                    <a:pt x="65088" y="751541"/>
                    <a:pt x="17277" y="787400"/>
                    <a:pt x="5324" y="788894"/>
                  </a:cubicBezTo>
                  <a:cubicBezTo>
                    <a:pt x="-6629" y="790388"/>
                    <a:pt x="3829" y="780676"/>
                    <a:pt x="14288" y="770965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자유형 124"/>
            <p:cNvSpPr/>
            <p:nvPr/>
          </p:nvSpPr>
          <p:spPr>
            <a:xfrm flipH="1">
              <a:off x="3345018" y="4235095"/>
              <a:ext cx="398637" cy="859054"/>
            </a:xfrm>
            <a:custGeom>
              <a:avLst/>
              <a:gdLst>
                <a:gd name="connsiteX0" fmla="*/ 238406 w 398637"/>
                <a:gd name="connsiteY0" fmla="*/ 0 h 859054"/>
                <a:gd name="connsiteX1" fmla="*/ 202547 w 398637"/>
                <a:gd name="connsiteY1" fmla="*/ 385483 h 859054"/>
                <a:gd name="connsiteX2" fmla="*/ 381841 w 398637"/>
                <a:gd name="connsiteY2" fmla="*/ 717177 h 859054"/>
                <a:gd name="connsiteX3" fmla="*/ 381841 w 398637"/>
                <a:gd name="connsiteY3" fmla="*/ 824753 h 859054"/>
                <a:gd name="connsiteX4" fmla="*/ 301159 w 398637"/>
                <a:gd name="connsiteY4" fmla="*/ 833718 h 859054"/>
                <a:gd name="connsiteX5" fmla="*/ 274265 w 398637"/>
                <a:gd name="connsiteY5" fmla="*/ 770965 h 859054"/>
                <a:gd name="connsiteX6" fmla="*/ 274265 w 398637"/>
                <a:gd name="connsiteY6" fmla="*/ 842683 h 859054"/>
                <a:gd name="connsiteX7" fmla="*/ 202547 w 398637"/>
                <a:gd name="connsiteY7" fmla="*/ 851647 h 859054"/>
                <a:gd name="connsiteX8" fmla="*/ 211512 w 398637"/>
                <a:gd name="connsiteY8" fmla="*/ 753036 h 859054"/>
                <a:gd name="connsiteX9" fmla="*/ 157724 w 398637"/>
                <a:gd name="connsiteY9" fmla="*/ 842683 h 859054"/>
                <a:gd name="connsiteX10" fmla="*/ 130830 w 398637"/>
                <a:gd name="connsiteY10" fmla="*/ 851647 h 859054"/>
                <a:gd name="connsiteX11" fmla="*/ 86006 w 398637"/>
                <a:gd name="connsiteY11" fmla="*/ 762000 h 859054"/>
                <a:gd name="connsiteX12" fmla="*/ 5324 w 398637"/>
                <a:gd name="connsiteY12" fmla="*/ 788894 h 859054"/>
                <a:gd name="connsiteX13" fmla="*/ 14288 w 398637"/>
                <a:gd name="connsiteY13" fmla="*/ 770965 h 859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637" h="859054">
                  <a:moveTo>
                    <a:pt x="238406" y="0"/>
                  </a:moveTo>
                  <a:cubicBezTo>
                    <a:pt x="208523" y="132977"/>
                    <a:pt x="178641" y="265954"/>
                    <a:pt x="202547" y="385483"/>
                  </a:cubicBezTo>
                  <a:cubicBezTo>
                    <a:pt x="226453" y="505013"/>
                    <a:pt x="351959" y="643965"/>
                    <a:pt x="381841" y="717177"/>
                  </a:cubicBezTo>
                  <a:cubicBezTo>
                    <a:pt x="411723" y="790389"/>
                    <a:pt x="395288" y="805330"/>
                    <a:pt x="381841" y="824753"/>
                  </a:cubicBezTo>
                  <a:cubicBezTo>
                    <a:pt x="368394" y="844176"/>
                    <a:pt x="319088" y="842683"/>
                    <a:pt x="301159" y="833718"/>
                  </a:cubicBezTo>
                  <a:cubicBezTo>
                    <a:pt x="283230" y="824753"/>
                    <a:pt x="278747" y="769471"/>
                    <a:pt x="274265" y="770965"/>
                  </a:cubicBezTo>
                  <a:cubicBezTo>
                    <a:pt x="269783" y="772459"/>
                    <a:pt x="286218" y="829236"/>
                    <a:pt x="274265" y="842683"/>
                  </a:cubicBezTo>
                  <a:cubicBezTo>
                    <a:pt x="262312" y="856130"/>
                    <a:pt x="213006" y="866588"/>
                    <a:pt x="202547" y="851647"/>
                  </a:cubicBezTo>
                  <a:cubicBezTo>
                    <a:pt x="192088" y="836706"/>
                    <a:pt x="218983" y="754530"/>
                    <a:pt x="211512" y="753036"/>
                  </a:cubicBezTo>
                  <a:cubicBezTo>
                    <a:pt x="204041" y="751542"/>
                    <a:pt x="171171" y="826248"/>
                    <a:pt x="157724" y="842683"/>
                  </a:cubicBezTo>
                  <a:cubicBezTo>
                    <a:pt x="144277" y="859118"/>
                    <a:pt x="142783" y="865094"/>
                    <a:pt x="130830" y="851647"/>
                  </a:cubicBezTo>
                  <a:cubicBezTo>
                    <a:pt x="118877" y="838200"/>
                    <a:pt x="106924" y="772459"/>
                    <a:pt x="86006" y="762000"/>
                  </a:cubicBezTo>
                  <a:cubicBezTo>
                    <a:pt x="65088" y="751541"/>
                    <a:pt x="17277" y="787400"/>
                    <a:pt x="5324" y="788894"/>
                  </a:cubicBezTo>
                  <a:cubicBezTo>
                    <a:pt x="-6629" y="790388"/>
                    <a:pt x="3829" y="780676"/>
                    <a:pt x="14288" y="770965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자유형 125"/>
            <p:cNvSpPr/>
            <p:nvPr/>
          </p:nvSpPr>
          <p:spPr>
            <a:xfrm>
              <a:off x="3954780" y="3848939"/>
              <a:ext cx="905252" cy="525837"/>
            </a:xfrm>
            <a:custGeom>
              <a:avLst/>
              <a:gdLst>
                <a:gd name="connsiteX0" fmla="*/ 0 w 905252"/>
                <a:gd name="connsiteY0" fmla="*/ 391367 h 525837"/>
                <a:gd name="connsiteX1" fmla="*/ 367553 w 905252"/>
                <a:gd name="connsiteY1" fmla="*/ 310685 h 525837"/>
                <a:gd name="connsiteX2" fmla="*/ 546847 w 905252"/>
                <a:gd name="connsiteY2" fmla="*/ 14849 h 525837"/>
                <a:gd name="connsiteX3" fmla="*/ 860612 w 905252"/>
                <a:gd name="connsiteY3" fmla="*/ 59673 h 525837"/>
                <a:gd name="connsiteX4" fmla="*/ 878541 w 905252"/>
                <a:gd name="connsiteY4" fmla="*/ 194143 h 525837"/>
                <a:gd name="connsiteX5" fmla="*/ 627530 w 905252"/>
                <a:gd name="connsiteY5" fmla="*/ 167249 h 525837"/>
                <a:gd name="connsiteX6" fmla="*/ 475130 w 905252"/>
                <a:gd name="connsiteY6" fmla="*/ 400332 h 525837"/>
                <a:gd name="connsiteX7" fmla="*/ 170330 w 905252"/>
                <a:gd name="connsiteY7" fmla="*/ 525837 h 525837"/>
                <a:gd name="connsiteX8" fmla="*/ 170330 w 905252"/>
                <a:gd name="connsiteY8" fmla="*/ 525837 h 525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252" h="525837">
                  <a:moveTo>
                    <a:pt x="0" y="391367"/>
                  </a:moveTo>
                  <a:cubicBezTo>
                    <a:pt x="138206" y="382402"/>
                    <a:pt x="276412" y="373438"/>
                    <a:pt x="367553" y="310685"/>
                  </a:cubicBezTo>
                  <a:cubicBezTo>
                    <a:pt x="458694" y="247932"/>
                    <a:pt x="464671" y="56684"/>
                    <a:pt x="546847" y="14849"/>
                  </a:cubicBezTo>
                  <a:cubicBezTo>
                    <a:pt x="629024" y="-26986"/>
                    <a:pt x="805330" y="29791"/>
                    <a:pt x="860612" y="59673"/>
                  </a:cubicBezTo>
                  <a:cubicBezTo>
                    <a:pt x="915894" y="89555"/>
                    <a:pt x="917388" y="176214"/>
                    <a:pt x="878541" y="194143"/>
                  </a:cubicBezTo>
                  <a:cubicBezTo>
                    <a:pt x="839694" y="212072"/>
                    <a:pt x="694765" y="132884"/>
                    <a:pt x="627530" y="167249"/>
                  </a:cubicBezTo>
                  <a:cubicBezTo>
                    <a:pt x="560295" y="201614"/>
                    <a:pt x="551330" y="340567"/>
                    <a:pt x="475130" y="400332"/>
                  </a:cubicBezTo>
                  <a:cubicBezTo>
                    <a:pt x="398930" y="460097"/>
                    <a:pt x="170330" y="525837"/>
                    <a:pt x="170330" y="525837"/>
                  </a:cubicBezTo>
                  <a:lnTo>
                    <a:pt x="170330" y="525837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/>
            <p:cNvSpPr/>
            <p:nvPr/>
          </p:nvSpPr>
          <p:spPr>
            <a:xfrm>
              <a:off x="4788024" y="3874140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타원 127"/>
            <p:cNvSpPr/>
            <p:nvPr/>
          </p:nvSpPr>
          <p:spPr>
            <a:xfrm>
              <a:off x="4318850" y="3933056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타원 128"/>
            <p:cNvSpPr/>
            <p:nvPr/>
          </p:nvSpPr>
          <p:spPr>
            <a:xfrm>
              <a:off x="4102826" y="4291536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자유형 129"/>
            <p:cNvSpPr/>
            <p:nvPr/>
          </p:nvSpPr>
          <p:spPr>
            <a:xfrm>
              <a:off x="3179513" y="2930562"/>
              <a:ext cx="165505" cy="45719"/>
            </a:xfrm>
            <a:custGeom>
              <a:avLst/>
              <a:gdLst>
                <a:gd name="connsiteX0" fmla="*/ 0 w 251012"/>
                <a:gd name="connsiteY0" fmla="*/ 53846 h 62810"/>
                <a:gd name="connsiteX1" fmla="*/ 125506 w 251012"/>
                <a:gd name="connsiteY1" fmla="*/ 57 h 62810"/>
                <a:gd name="connsiteX2" fmla="*/ 251012 w 251012"/>
                <a:gd name="connsiteY2" fmla="*/ 62810 h 62810"/>
                <a:gd name="connsiteX3" fmla="*/ 251012 w 251012"/>
                <a:gd name="connsiteY3" fmla="*/ 62810 h 6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012" h="62810">
                  <a:moveTo>
                    <a:pt x="0" y="53846"/>
                  </a:moveTo>
                  <a:cubicBezTo>
                    <a:pt x="41835" y="26204"/>
                    <a:pt x="83671" y="-1437"/>
                    <a:pt x="125506" y="57"/>
                  </a:cubicBezTo>
                  <a:cubicBezTo>
                    <a:pt x="167341" y="1551"/>
                    <a:pt x="251012" y="62810"/>
                    <a:pt x="251012" y="62810"/>
                  </a:cubicBezTo>
                  <a:lnTo>
                    <a:pt x="251012" y="6281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자유형 130"/>
            <p:cNvSpPr/>
            <p:nvPr/>
          </p:nvSpPr>
          <p:spPr>
            <a:xfrm>
              <a:off x="2887980" y="3236259"/>
              <a:ext cx="370541" cy="372573"/>
            </a:xfrm>
            <a:custGeom>
              <a:avLst/>
              <a:gdLst>
                <a:gd name="connsiteX0" fmla="*/ 367553 w 370541"/>
                <a:gd name="connsiteY0" fmla="*/ 0 h 372573"/>
                <a:gd name="connsiteX1" fmla="*/ 340659 w 370541"/>
                <a:gd name="connsiteY1" fmla="*/ 242047 h 372573"/>
                <a:gd name="connsiteX2" fmla="*/ 152400 w 370541"/>
                <a:gd name="connsiteY2" fmla="*/ 367553 h 372573"/>
                <a:gd name="connsiteX3" fmla="*/ 0 w 370541"/>
                <a:gd name="connsiteY3" fmla="*/ 349623 h 372573"/>
                <a:gd name="connsiteX4" fmla="*/ 0 w 370541"/>
                <a:gd name="connsiteY4" fmla="*/ 349623 h 372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541" h="372573">
                  <a:moveTo>
                    <a:pt x="367553" y="0"/>
                  </a:moveTo>
                  <a:cubicBezTo>
                    <a:pt x="372035" y="90394"/>
                    <a:pt x="376518" y="180788"/>
                    <a:pt x="340659" y="242047"/>
                  </a:cubicBezTo>
                  <a:cubicBezTo>
                    <a:pt x="304800" y="303306"/>
                    <a:pt x="209176" y="349624"/>
                    <a:pt x="152400" y="367553"/>
                  </a:cubicBezTo>
                  <a:cubicBezTo>
                    <a:pt x="95623" y="385482"/>
                    <a:pt x="0" y="349623"/>
                    <a:pt x="0" y="349623"/>
                  </a:cubicBezTo>
                  <a:lnTo>
                    <a:pt x="0" y="349623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자유형 131"/>
            <p:cNvSpPr/>
            <p:nvPr/>
          </p:nvSpPr>
          <p:spPr>
            <a:xfrm flipH="1">
              <a:off x="3263815" y="3236259"/>
              <a:ext cx="370541" cy="372573"/>
            </a:xfrm>
            <a:custGeom>
              <a:avLst/>
              <a:gdLst>
                <a:gd name="connsiteX0" fmla="*/ 367553 w 370541"/>
                <a:gd name="connsiteY0" fmla="*/ 0 h 372573"/>
                <a:gd name="connsiteX1" fmla="*/ 340659 w 370541"/>
                <a:gd name="connsiteY1" fmla="*/ 242047 h 372573"/>
                <a:gd name="connsiteX2" fmla="*/ 152400 w 370541"/>
                <a:gd name="connsiteY2" fmla="*/ 367553 h 372573"/>
                <a:gd name="connsiteX3" fmla="*/ 0 w 370541"/>
                <a:gd name="connsiteY3" fmla="*/ 349623 h 372573"/>
                <a:gd name="connsiteX4" fmla="*/ 0 w 370541"/>
                <a:gd name="connsiteY4" fmla="*/ 349623 h 372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541" h="372573">
                  <a:moveTo>
                    <a:pt x="367553" y="0"/>
                  </a:moveTo>
                  <a:cubicBezTo>
                    <a:pt x="372035" y="90394"/>
                    <a:pt x="376518" y="180788"/>
                    <a:pt x="340659" y="242047"/>
                  </a:cubicBezTo>
                  <a:cubicBezTo>
                    <a:pt x="304800" y="303306"/>
                    <a:pt x="209176" y="349624"/>
                    <a:pt x="152400" y="367553"/>
                  </a:cubicBezTo>
                  <a:cubicBezTo>
                    <a:pt x="95623" y="385482"/>
                    <a:pt x="0" y="349623"/>
                    <a:pt x="0" y="349623"/>
                  </a:cubicBezTo>
                  <a:lnTo>
                    <a:pt x="0" y="349623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자유형 132"/>
            <p:cNvSpPr/>
            <p:nvPr/>
          </p:nvSpPr>
          <p:spPr>
            <a:xfrm>
              <a:off x="2612138" y="2599765"/>
              <a:ext cx="78619" cy="788894"/>
            </a:xfrm>
            <a:custGeom>
              <a:avLst/>
              <a:gdLst>
                <a:gd name="connsiteX0" fmla="*/ 78619 w 78619"/>
                <a:gd name="connsiteY0" fmla="*/ 0 h 788894"/>
                <a:gd name="connsiteX1" fmla="*/ 6901 w 78619"/>
                <a:gd name="connsiteY1" fmla="*/ 331694 h 788894"/>
                <a:gd name="connsiteX2" fmla="*/ 6901 w 78619"/>
                <a:gd name="connsiteY2" fmla="*/ 788894 h 788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619" h="788894">
                  <a:moveTo>
                    <a:pt x="78619" y="0"/>
                  </a:moveTo>
                  <a:cubicBezTo>
                    <a:pt x="48736" y="100106"/>
                    <a:pt x="18854" y="200212"/>
                    <a:pt x="6901" y="331694"/>
                  </a:cubicBezTo>
                  <a:cubicBezTo>
                    <a:pt x="-5052" y="463176"/>
                    <a:pt x="924" y="626035"/>
                    <a:pt x="6901" y="788894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자유형 133"/>
            <p:cNvSpPr/>
            <p:nvPr/>
          </p:nvSpPr>
          <p:spPr>
            <a:xfrm flipH="1">
              <a:off x="3809052" y="2618982"/>
              <a:ext cx="78619" cy="788894"/>
            </a:xfrm>
            <a:custGeom>
              <a:avLst/>
              <a:gdLst>
                <a:gd name="connsiteX0" fmla="*/ 78619 w 78619"/>
                <a:gd name="connsiteY0" fmla="*/ 0 h 788894"/>
                <a:gd name="connsiteX1" fmla="*/ 6901 w 78619"/>
                <a:gd name="connsiteY1" fmla="*/ 331694 h 788894"/>
                <a:gd name="connsiteX2" fmla="*/ 6901 w 78619"/>
                <a:gd name="connsiteY2" fmla="*/ 788894 h 788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619" h="788894">
                  <a:moveTo>
                    <a:pt x="78619" y="0"/>
                  </a:moveTo>
                  <a:cubicBezTo>
                    <a:pt x="48736" y="100106"/>
                    <a:pt x="18854" y="200212"/>
                    <a:pt x="6901" y="331694"/>
                  </a:cubicBezTo>
                  <a:cubicBezTo>
                    <a:pt x="-5052" y="463176"/>
                    <a:pt x="924" y="626035"/>
                    <a:pt x="6901" y="788894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자유형 134"/>
            <p:cNvSpPr/>
            <p:nvPr/>
          </p:nvSpPr>
          <p:spPr>
            <a:xfrm flipV="1">
              <a:off x="3170392" y="3789040"/>
              <a:ext cx="165505" cy="45719"/>
            </a:xfrm>
            <a:custGeom>
              <a:avLst/>
              <a:gdLst>
                <a:gd name="connsiteX0" fmla="*/ 0 w 251012"/>
                <a:gd name="connsiteY0" fmla="*/ 53846 h 62810"/>
                <a:gd name="connsiteX1" fmla="*/ 125506 w 251012"/>
                <a:gd name="connsiteY1" fmla="*/ 57 h 62810"/>
                <a:gd name="connsiteX2" fmla="*/ 251012 w 251012"/>
                <a:gd name="connsiteY2" fmla="*/ 62810 h 62810"/>
                <a:gd name="connsiteX3" fmla="*/ 251012 w 251012"/>
                <a:gd name="connsiteY3" fmla="*/ 62810 h 6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012" h="62810">
                  <a:moveTo>
                    <a:pt x="0" y="53846"/>
                  </a:moveTo>
                  <a:cubicBezTo>
                    <a:pt x="41835" y="26204"/>
                    <a:pt x="83671" y="-1437"/>
                    <a:pt x="125506" y="57"/>
                  </a:cubicBezTo>
                  <a:cubicBezTo>
                    <a:pt x="167341" y="1551"/>
                    <a:pt x="251012" y="62810"/>
                    <a:pt x="251012" y="62810"/>
                  </a:cubicBezTo>
                  <a:lnTo>
                    <a:pt x="251012" y="6281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41217" y="3450248"/>
              <a:ext cx="451032" cy="294858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자유형 136"/>
            <p:cNvSpPr/>
            <p:nvPr/>
          </p:nvSpPr>
          <p:spPr>
            <a:xfrm>
              <a:off x="2376992" y="2752165"/>
              <a:ext cx="259976" cy="510988"/>
            </a:xfrm>
            <a:custGeom>
              <a:avLst/>
              <a:gdLst>
                <a:gd name="connsiteX0" fmla="*/ 259976 w 259976"/>
                <a:gd name="connsiteY0" fmla="*/ 0 h 510988"/>
                <a:gd name="connsiteX1" fmla="*/ 134470 w 259976"/>
                <a:gd name="connsiteY1" fmla="*/ 134470 h 510988"/>
                <a:gd name="connsiteX2" fmla="*/ 89647 w 259976"/>
                <a:gd name="connsiteY2" fmla="*/ 340659 h 510988"/>
                <a:gd name="connsiteX3" fmla="*/ 0 w 259976"/>
                <a:gd name="connsiteY3" fmla="*/ 510988 h 51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976" h="510988">
                  <a:moveTo>
                    <a:pt x="259976" y="0"/>
                  </a:moveTo>
                  <a:cubicBezTo>
                    <a:pt x="211417" y="38847"/>
                    <a:pt x="162858" y="77694"/>
                    <a:pt x="134470" y="134470"/>
                  </a:cubicBezTo>
                  <a:cubicBezTo>
                    <a:pt x="106082" y="191247"/>
                    <a:pt x="112059" y="277906"/>
                    <a:pt x="89647" y="340659"/>
                  </a:cubicBezTo>
                  <a:cubicBezTo>
                    <a:pt x="67235" y="403412"/>
                    <a:pt x="33617" y="457200"/>
                    <a:pt x="0" y="510988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자유형 137"/>
            <p:cNvSpPr/>
            <p:nvPr/>
          </p:nvSpPr>
          <p:spPr>
            <a:xfrm flipH="1">
              <a:off x="3834466" y="2715857"/>
              <a:ext cx="259976" cy="510988"/>
            </a:xfrm>
            <a:custGeom>
              <a:avLst/>
              <a:gdLst>
                <a:gd name="connsiteX0" fmla="*/ 259976 w 259976"/>
                <a:gd name="connsiteY0" fmla="*/ 0 h 510988"/>
                <a:gd name="connsiteX1" fmla="*/ 134470 w 259976"/>
                <a:gd name="connsiteY1" fmla="*/ 134470 h 510988"/>
                <a:gd name="connsiteX2" fmla="*/ 89647 w 259976"/>
                <a:gd name="connsiteY2" fmla="*/ 340659 h 510988"/>
                <a:gd name="connsiteX3" fmla="*/ 0 w 259976"/>
                <a:gd name="connsiteY3" fmla="*/ 510988 h 51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976" h="510988">
                  <a:moveTo>
                    <a:pt x="259976" y="0"/>
                  </a:moveTo>
                  <a:cubicBezTo>
                    <a:pt x="211417" y="38847"/>
                    <a:pt x="162858" y="77694"/>
                    <a:pt x="134470" y="134470"/>
                  </a:cubicBezTo>
                  <a:cubicBezTo>
                    <a:pt x="106082" y="191247"/>
                    <a:pt x="112059" y="277906"/>
                    <a:pt x="89647" y="340659"/>
                  </a:cubicBezTo>
                  <a:cubicBezTo>
                    <a:pt x="67235" y="403412"/>
                    <a:pt x="33617" y="457200"/>
                    <a:pt x="0" y="510988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3" name="직사각형 92"/>
          <p:cNvSpPr/>
          <p:nvPr/>
        </p:nvSpPr>
        <p:spPr>
          <a:xfrm>
            <a:off x="6084168" y="2204864"/>
            <a:ext cx="2664296" cy="26642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직사각형 143"/>
          <p:cNvSpPr/>
          <p:nvPr/>
        </p:nvSpPr>
        <p:spPr>
          <a:xfrm>
            <a:off x="323528" y="2204864"/>
            <a:ext cx="2664296" cy="26642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3" name="그룹 232"/>
          <p:cNvGrpSpPr/>
          <p:nvPr/>
        </p:nvGrpSpPr>
        <p:grpSpPr>
          <a:xfrm>
            <a:off x="441436" y="2305160"/>
            <a:ext cx="2428480" cy="2397507"/>
            <a:chOff x="2116435" y="2276040"/>
            <a:chExt cx="2815605" cy="2779694"/>
          </a:xfrm>
        </p:grpSpPr>
        <p:sp>
          <p:nvSpPr>
            <p:cNvPr id="234" name="타원 233"/>
            <p:cNvSpPr/>
            <p:nvPr/>
          </p:nvSpPr>
          <p:spPr>
            <a:xfrm>
              <a:off x="2766030" y="2915398"/>
              <a:ext cx="167031" cy="200548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5" name="타원 234"/>
            <p:cNvSpPr/>
            <p:nvPr/>
          </p:nvSpPr>
          <p:spPr>
            <a:xfrm>
              <a:off x="3107505" y="3055934"/>
              <a:ext cx="311970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6" name="타원 235"/>
            <p:cNvSpPr/>
            <p:nvPr/>
          </p:nvSpPr>
          <p:spPr>
            <a:xfrm>
              <a:off x="3194486" y="2276040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7" name="타원 236"/>
            <p:cNvSpPr/>
            <p:nvPr/>
          </p:nvSpPr>
          <p:spPr>
            <a:xfrm>
              <a:off x="2613049" y="2490816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8" name="타원 237"/>
            <p:cNvSpPr/>
            <p:nvPr/>
          </p:nvSpPr>
          <p:spPr>
            <a:xfrm>
              <a:off x="3706055" y="2502067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9" name="타원 238"/>
            <p:cNvSpPr/>
            <p:nvPr/>
          </p:nvSpPr>
          <p:spPr>
            <a:xfrm>
              <a:off x="2116435" y="3242608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0" name="타원 239"/>
            <p:cNvSpPr/>
            <p:nvPr/>
          </p:nvSpPr>
          <p:spPr>
            <a:xfrm>
              <a:off x="2415790" y="3817417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1" name="타원 240"/>
            <p:cNvSpPr/>
            <p:nvPr/>
          </p:nvSpPr>
          <p:spPr>
            <a:xfrm>
              <a:off x="4249057" y="3200372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2" name="타원 241"/>
            <p:cNvSpPr/>
            <p:nvPr/>
          </p:nvSpPr>
          <p:spPr>
            <a:xfrm>
              <a:off x="3986574" y="3780385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3" name="타원 242"/>
            <p:cNvSpPr/>
            <p:nvPr/>
          </p:nvSpPr>
          <p:spPr>
            <a:xfrm>
              <a:off x="2622014" y="4174415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4" name="타원 243"/>
            <p:cNvSpPr/>
            <p:nvPr/>
          </p:nvSpPr>
          <p:spPr>
            <a:xfrm>
              <a:off x="2364142" y="4589512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5" name="타원 244"/>
            <p:cNvSpPr/>
            <p:nvPr/>
          </p:nvSpPr>
          <p:spPr>
            <a:xfrm>
              <a:off x="2539625" y="4886509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6" name="타원 245"/>
            <p:cNvSpPr/>
            <p:nvPr/>
          </p:nvSpPr>
          <p:spPr>
            <a:xfrm>
              <a:off x="3575172" y="2924363"/>
              <a:ext cx="167031" cy="200548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7" name="타원 246"/>
            <p:cNvSpPr/>
            <p:nvPr/>
          </p:nvSpPr>
          <p:spPr>
            <a:xfrm>
              <a:off x="3770550" y="4164869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8" name="타원 247"/>
            <p:cNvSpPr/>
            <p:nvPr/>
          </p:nvSpPr>
          <p:spPr>
            <a:xfrm>
              <a:off x="4022434" y="4587826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9" name="타원 248"/>
            <p:cNvSpPr/>
            <p:nvPr/>
          </p:nvSpPr>
          <p:spPr>
            <a:xfrm>
              <a:off x="3860776" y="4893788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0" name="타원 249"/>
            <p:cNvSpPr/>
            <p:nvPr/>
          </p:nvSpPr>
          <p:spPr>
            <a:xfrm>
              <a:off x="2766030" y="3699412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1" name="타원 250"/>
            <p:cNvSpPr/>
            <p:nvPr/>
          </p:nvSpPr>
          <p:spPr>
            <a:xfrm>
              <a:off x="3670195" y="3666500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2" name="타원 251"/>
            <p:cNvSpPr/>
            <p:nvPr/>
          </p:nvSpPr>
          <p:spPr>
            <a:xfrm>
              <a:off x="2963489" y="4174415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3" name="타원 252"/>
            <p:cNvSpPr/>
            <p:nvPr/>
          </p:nvSpPr>
          <p:spPr>
            <a:xfrm>
              <a:off x="3431156" y="4174415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4" name="타원 253"/>
            <p:cNvSpPr/>
            <p:nvPr/>
          </p:nvSpPr>
          <p:spPr>
            <a:xfrm>
              <a:off x="3107505" y="4866893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5" name="타원 254"/>
            <p:cNvSpPr/>
            <p:nvPr/>
          </p:nvSpPr>
          <p:spPr>
            <a:xfrm>
              <a:off x="3332253" y="4866893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6" name="타원 255"/>
            <p:cNvSpPr/>
            <p:nvPr/>
          </p:nvSpPr>
          <p:spPr>
            <a:xfrm>
              <a:off x="2559806" y="3303965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7" name="타원 256"/>
            <p:cNvSpPr/>
            <p:nvPr/>
          </p:nvSpPr>
          <p:spPr>
            <a:xfrm>
              <a:off x="3778063" y="3323581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5" name="타원 264"/>
            <p:cNvSpPr/>
            <p:nvPr/>
          </p:nvSpPr>
          <p:spPr>
            <a:xfrm>
              <a:off x="4788024" y="3874140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6" name="타원 265"/>
            <p:cNvSpPr/>
            <p:nvPr/>
          </p:nvSpPr>
          <p:spPr>
            <a:xfrm>
              <a:off x="4318850" y="3933056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7" name="타원 266"/>
            <p:cNvSpPr/>
            <p:nvPr/>
          </p:nvSpPr>
          <p:spPr>
            <a:xfrm>
              <a:off x="4102826" y="4291536"/>
              <a:ext cx="144016" cy="161946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4" name="타원 273"/>
            <p:cNvSpPr/>
            <p:nvPr/>
          </p:nvSpPr>
          <p:spPr>
            <a:xfrm>
              <a:off x="3041217" y="3450248"/>
              <a:ext cx="451032" cy="294858"/>
            </a:xfrm>
            <a:prstGeom prst="ellipse">
              <a:avLst/>
            </a:prstGeom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705" name="그룹 27704"/>
          <p:cNvGrpSpPr/>
          <p:nvPr/>
        </p:nvGrpSpPr>
        <p:grpSpPr>
          <a:xfrm>
            <a:off x="3214192" y="2204864"/>
            <a:ext cx="2664296" cy="2664296"/>
            <a:chOff x="3214192" y="1700808"/>
            <a:chExt cx="2664296" cy="2664296"/>
          </a:xfrm>
        </p:grpSpPr>
        <p:sp>
          <p:nvSpPr>
            <p:cNvPr id="277" name="직사각형 276"/>
            <p:cNvSpPr/>
            <p:nvPr/>
          </p:nvSpPr>
          <p:spPr>
            <a:xfrm>
              <a:off x="3214192" y="1700808"/>
              <a:ext cx="2664296" cy="26642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8" name="그룹 277"/>
            <p:cNvGrpSpPr/>
            <p:nvPr/>
          </p:nvGrpSpPr>
          <p:grpSpPr>
            <a:xfrm>
              <a:off x="3332100" y="1801104"/>
              <a:ext cx="2428480" cy="2397507"/>
              <a:chOff x="2116435" y="2276040"/>
              <a:chExt cx="2815605" cy="2779694"/>
            </a:xfrm>
          </p:grpSpPr>
          <p:sp>
            <p:nvSpPr>
              <p:cNvPr id="279" name="타원 278"/>
              <p:cNvSpPr/>
              <p:nvPr/>
            </p:nvSpPr>
            <p:spPr>
              <a:xfrm>
                <a:off x="2766030" y="2915398"/>
                <a:ext cx="167031" cy="200548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0" name="타원 279"/>
              <p:cNvSpPr/>
              <p:nvPr/>
            </p:nvSpPr>
            <p:spPr>
              <a:xfrm>
                <a:off x="3107505" y="3055934"/>
                <a:ext cx="311970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1" name="타원 280"/>
              <p:cNvSpPr/>
              <p:nvPr/>
            </p:nvSpPr>
            <p:spPr>
              <a:xfrm>
                <a:off x="3194486" y="2276040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" name="타원 281"/>
              <p:cNvSpPr/>
              <p:nvPr/>
            </p:nvSpPr>
            <p:spPr>
              <a:xfrm>
                <a:off x="2613049" y="2490816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3" name="타원 282"/>
              <p:cNvSpPr/>
              <p:nvPr/>
            </p:nvSpPr>
            <p:spPr>
              <a:xfrm>
                <a:off x="3706055" y="2502067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4" name="타원 283"/>
              <p:cNvSpPr/>
              <p:nvPr/>
            </p:nvSpPr>
            <p:spPr>
              <a:xfrm>
                <a:off x="2116435" y="3242608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" name="타원 284"/>
              <p:cNvSpPr/>
              <p:nvPr/>
            </p:nvSpPr>
            <p:spPr>
              <a:xfrm>
                <a:off x="2415790" y="3817417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6" name="타원 285"/>
              <p:cNvSpPr/>
              <p:nvPr/>
            </p:nvSpPr>
            <p:spPr>
              <a:xfrm>
                <a:off x="4249057" y="3200372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7" name="타원 286"/>
              <p:cNvSpPr/>
              <p:nvPr/>
            </p:nvSpPr>
            <p:spPr>
              <a:xfrm>
                <a:off x="3986574" y="3780385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8" name="타원 287"/>
              <p:cNvSpPr/>
              <p:nvPr/>
            </p:nvSpPr>
            <p:spPr>
              <a:xfrm>
                <a:off x="2622014" y="4174415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9" name="타원 288"/>
              <p:cNvSpPr/>
              <p:nvPr/>
            </p:nvSpPr>
            <p:spPr>
              <a:xfrm>
                <a:off x="2364142" y="4589512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0" name="타원 289"/>
              <p:cNvSpPr/>
              <p:nvPr/>
            </p:nvSpPr>
            <p:spPr>
              <a:xfrm>
                <a:off x="2539625" y="4886509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1" name="타원 290"/>
              <p:cNvSpPr/>
              <p:nvPr/>
            </p:nvSpPr>
            <p:spPr>
              <a:xfrm>
                <a:off x="3575172" y="2924363"/>
                <a:ext cx="167031" cy="200548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2" name="타원 291"/>
              <p:cNvSpPr/>
              <p:nvPr/>
            </p:nvSpPr>
            <p:spPr>
              <a:xfrm>
                <a:off x="3770550" y="4164869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3" name="타원 292"/>
              <p:cNvSpPr/>
              <p:nvPr/>
            </p:nvSpPr>
            <p:spPr>
              <a:xfrm>
                <a:off x="4022434" y="4587826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4" name="타원 293"/>
              <p:cNvSpPr/>
              <p:nvPr/>
            </p:nvSpPr>
            <p:spPr>
              <a:xfrm>
                <a:off x="3860776" y="4893788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5" name="타원 294"/>
              <p:cNvSpPr/>
              <p:nvPr/>
            </p:nvSpPr>
            <p:spPr>
              <a:xfrm>
                <a:off x="2766030" y="3699412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6" name="타원 295"/>
              <p:cNvSpPr/>
              <p:nvPr/>
            </p:nvSpPr>
            <p:spPr>
              <a:xfrm>
                <a:off x="3670195" y="3666500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7" name="타원 296"/>
              <p:cNvSpPr/>
              <p:nvPr/>
            </p:nvSpPr>
            <p:spPr>
              <a:xfrm>
                <a:off x="2963489" y="4174415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8" name="타원 297"/>
              <p:cNvSpPr/>
              <p:nvPr/>
            </p:nvSpPr>
            <p:spPr>
              <a:xfrm>
                <a:off x="3431156" y="4174415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9" name="타원 298"/>
              <p:cNvSpPr/>
              <p:nvPr/>
            </p:nvSpPr>
            <p:spPr>
              <a:xfrm>
                <a:off x="3107505" y="4866893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0" name="타원 299"/>
              <p:cNvSpPr/>
              <p:nvPr/>
            </p:nvSpPr>
            <p:spPr>
              <a:xfrm>
                <a:off x="3332253" y="4866893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1" name="타원 300"/>
              <p:cNvSpPr/>
              <p:nvPr/>
            </p:nvSpPr>
            <p:spPr>
              <a:xfrm>
                <a:off x="2559806" y="3303965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2" name="타원 301"/>
              <p:cNvSpPr/>
              <p:nvPr/>
            </p:nvSpPr>
            <p:spPr>
              <a:xfrm>
                <a:off x="3778063" y="3323581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3" name="타원 302"/>
              <p:cNvSpPr/>
              <p:nvPr/>
            </p:nvSpPr>
            <p:spPr>
              <a:xfrm>
                <a:off x="4788024" y="3874140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4" name="타원 303"/>
              <p:cNvSpPr/>
              <p:nvPr/>
            </p:nvSpPr>
            <p:spPr>
              <a:xfrm>
                <a:off x="4318850" y="3933056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5" name="타원 304"/>
              <p:cNvSpPr/>
              <p:nvPr/>
            </p:nvSpPr>
            <p:spPr>
              <a:xfrm>
                <a:off x="4102826" y="4291536"/>
                <a:ext cx="144016" cy="161946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6" name="타원 305"/>
              <p:cNvSpPr/>
              <p:nvPr/>
            </p:nvSpPr>
            <p:spPr>
              <a:xfrm>
                <a:off x="3041217" y="3450248"/>
                <a:ext cx="451032" cy="294858"/>
              </a:xfrm>
              <a:prstGeom prst="ellips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309" name="직선 연결선 308"/>
            <p:cNvCxnSpPr>
              <a:stCxn id="281" idx="4"/>
              <a:endCxn id="280" idx="0"/>
            </p:cNvCxnSpPr>
            <p:nvPr/>
          </p:nvCxnSpPr>
          <p:spPr>
            <a:xfrm flipH="1">
              <a:off x="4321443" y="1940784"/>
              <a:ext cx="2592" cy="5329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직선 연결선 310"/>
            <p:cNvCxnSpPr>
              <a:stCxn id="282" idx="6"/>
              <a:endCxn id="283" idx="2"/>
            </p:cNvCxnSpPr>
            <p:nvPr/>
          </p:nvCxnSpPr>
          <p:spPr>
            <a:xfrm>
              <a:off x="3884648" y="2056190"/>
              <a:ext cx="818511" cy="97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직선 연결선 312"/>
            <p:cNvCxnSpPr>
              <a:stCxn id="279" idx="6"/>
              <a:endCxn id="291" idx="2"/>
            </p:cNvCxnSpPr>
            <p:nvPr/>
          </p:nvCxnSpPr>
          <p:spPr>
            <a:xfrm>
              <a:off x="4036445" y="2439042"/>
              <a:ext cx="553826" cy="7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>
              <a:stCxn id="301" idx="4"/>
              <a:endCxn id="288" idx="1"/>
            </p:cNvCxnSpPr>
            <p:nvPr/>
          </p:nvCxnSpPr>
          <p:spPr>
            <a:xfrm>
              <a:off x="3776619" y="2827377"/>
              <a:ext cx="9738" cy="6315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직선 연결선 316"/>
            <p:cNvCxnSpPr>
              <a:stCxn id="284" idx="5"/>
              <a:endCxn id="301" idx="2"/>
            </p:cNvCxnSpPr>
            <p:nvPr/>
          </p:nvCxnSpPr>
          <p:spPr>
            <a:xfrm>
              <a:off x="3438124" y="2754000"/>
              <a:ext cx="276387" cy="35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직선 연결선 318"/>
            <p:cNvCxnSpPr>
              <a:stCxn id="302" idx="7"/>
              <a:endCxn id="286" idx="3"/>
            </p:cNvCxnSpPr>
            <p:nvPr/>
          </p:nvCxnSpPr>
          <p:spPr>
            <a:xfrm flipV="1">
              <a:off x="4871290" y="2717571"/>
              <a:ext cx="318403" cy="75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49" name="직선 연결선 27648"/>
            <p:cNvCxnSpPr>
              <a:stCxn id="280" idx="4"/>
              <a:endCxn id="299" idx="6"/>
            </p:cNvCxnSpPr>
            <p:nvPr/>
          </p:nvCxnSpPr>
          <p:spPr>
            <a:xfrm flipH="1">
              <a:off x="4311120" y="2613448"/>
              <a:ext cx="10323" cy="14921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60" name="직선 연결선 27659"/>
            <p:cNvCxnSpPr>
              <a:stCxn id="288" idx="6"/>
              <a:endCxn id="297" idx="2"/>
            </p:cNvCxnSpPr>
            <p:nvPr/>
          </p:nvCxnSpPr>
          <p:spPr>
            <a:xfrm>
              <a:off x="3892381" y="3508307"/>
              <a:ext cx="17030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67" name="직선 연결선 27666"/>
            <p:cNvCxnSpPr>
              <a:endCxn id="295" idx="0"/>
            </p:cNvCxnSpPr>
            <p:nvPr/>
          </p:nvCxnSpPr>
          <p:spPr>
            <a:xfrm>
              <a:off x="3953435" y="2452845"/>
              <a:ext cx="1053" cy="5759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70" name="직선 연결선 27669"/>
            <p:cNvCxnSpPr/>
            <p:nvPr/>
          </p:nvCxnSpPr>
          <p:spPr>
            <a:xfrm>
              <a:off x="3977535" y="3510762"/>
              <a:ext cx="0" cy="6180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81" name="직선 연결선 27680"/>
            <p:cNvCxnSpPr/>
            <p:nvPr/>
          </p:nvCxnSpPr>
          <p:spPr>
            <a:xfrm>
              <a:off x="4788024" y="2823840"/>
              <a:ext cx="0" cy="2049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직선 연결선 353"/>
            <p:cNvCxnSpPr/>
            <p:nvPr/>
          </p:nvCxnSpPr>
          <p:spPr>
            <a:xfrm>
              <a:off x="4482888" y="3522443"/>
              <a:ext cx="1" cy="5052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직선 연결선 355"/>
            <p:cNvCxnSpPr/>
            <p:nvPr/>
          </p:nvCxnSpPr>
          <p:spPr>
            <a:xfrm>
              <a:off x="4871289" y="3580334"/>
              <a:ext cx="1" cy="5052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직선 연결선 358"/>
            <p:cNvCxnSpPr>
              <a:endCxn id="303" idx="3"/>
            </p:cNvCxnSpPr>
            <p:nvPr/>
          </p:nvCxnSpPr>
          <p:spPr>
            <a:xfrm flipV="1">
              <a:off x="3786357" y="3298701"/>
              <a:ext cx="1868199" cy="204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직선 연결선 365"/>
            <p:cNvCxnSpPr>
              <a:endCxn id="294" idx="2"/>
            </p:cNvCxnSpPr>
            <p:nvPr/>
          </p:nvCxnSpPr>
          <p:spPr>
            <a:xfrm flipV="1">
              <a:off x="4458904" y="4128771"/>
              <a:ext cx="377703" cy="75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직선 연결선 367"/>
            <p:cNvCxnSpPr/>
            <p:nvPr/>
          </p:nvCxnSpPr>
          <p:spPr>
            <a:xfrm flipV="1">
              <a:off x="3669964" y="3848094"/>
              <a:ext cx="318403" cy="75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98" name="직선 연결선 27697"/>
            <p:cNvCxnSpPr/>
            <p:nvPr/>
          </p:nvCxnSpPr>
          <p:spPr>
            <a:xfrm>
              <a:off x="3845715" y="4122493"/>
              <a:ext cx="2945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01" name="직선 연결선 27700"/>
            <p:cNvCxnSpPr>
              <a:stCxn id="287" idx="5"/>
              <a:endCxn id="305" idx="1"/>
            </p:cNvCxnSpPr>
            <p:nvPr/>
          </p:nvCxnSpPr>
          <p:spPr>
            <a:xfrm>
              <a:off x="5051133" y="3217837"/>
              <a:ext cx="12435" cy="3421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03" name="직선 연결선 27702"/>
            <p:cNvCxnSpPr>
              <a:stCxn id="286" idx="5"/>
              <a:endCxn id="304" idx="0"/>
            </p:cNvCxnSpPr>
            <p:nvPr/>
          </p:nvCxnSpPr>
          <p:spPr>
            <a:xfrm>
              <a:off x="5277526" y="2717571"/>
              <a:ext cx="16281" cy="5127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직선 연결선 414"/>
            <p:cNvCxnSpPr/>
            <p:nvPr/>
          </p:nvCxnSpPr>
          <p:spPr>
            <a:xfrm>
              <a:off x="3666312" y="3142024"/>
              <a:ext cx="2945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704" name="직사각형 27703"/>
          <p:cNvSpPr/>
          <p:nvPr/>
        </p:nvSpPr>
        <p:spPr>
          <a:xfrm>
            <a:off x="970466" y="1835532"/>
            <a:ext cx="1369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[</a:t>
            </a:r>
            <a:r>
              <a:rPr lang="ko-KR" altLang="en-US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지식</a:t>
            </a:r>
            <a:r>
              <a:rPr lang="en-US" altLang="ko-KR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/</a:t>
            </a:r>
            <a:r>
              <a:rPr lang="ko-KR" altLang="en-US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경험</a:t>
            </a:r>
            <a:r>
              <a:rPr lang="en-US" altLang="ko-KR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]</a:t>
            </a:r>
            <a:endParaRPr lang="ko-KR" altLang="en-US" dirty="0"/>
          </a:p>
        </p:txBody>
      </p:sp>
      <p:sp>
        <p:nvSpPr>
          <p:cNvPr id="417" name="직사각형 416"/>
          <p:cNvSpPr/>
          <p:nvPr/>
        </p:nvSpPr>
        <p:spPr>
          <a:xfrm>
            <a:off x="3761982" y="1835532"/>
            <a:ext cx="15888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[</a:t>
            </a:r>
            <a:r>
              <a:rPr lang="ko-KR" altLang="en-US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직무 관련성</a:t>
            </a:r>
            <a:r>
              <a:rPr lang="en-US" altLang="ko-KR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]</a:t>
            </a:r>
            <a:endParaRPr lang="ko-KR" altLang="en-US" dirty="0"/>
          </a:p>
        </p:txBody>
      </p:sp>
      <p:sp>
        <p:nvSpPr>
          <p:cNvPr id="418" name="직사각형 417"/>
          <p:cNvSpPr/>
          <p:nvPr/>
        </p:nvSpPr>
        <p:spPr>
          <a:xfrm>
            <a:off x="6255367" y="1835532"/>
            <a:ext cx="2358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[</a:t>
            </a:r>
            <a:r>
              <a:rPr lang="ko-KR" altLang="en-US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나만의 스토리 완성</a:t>
            </a:r>
            <a:r>
              <a:rPr lang="en-US" altLang="ko-KR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20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7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144" grpId="0" animBg="1"/>
      <p:bldP spid="27704" grpId="0"/>
      <p:bldP spid="417" grpId="0"/>
      <p:bldP spid="4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15616" y="260648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자기소개서는 어떻게 쓸까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55576" y="1124744"/>
            <a:ext cx="6624736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 smtClean="0">
                <a:solidFill>
                  <a:srgbClr val="0000FF"/>
                </a:solidFill>
                <a:latin typeface="맑은 고딕" pitchFamily="50" charset="-127"/>
              </a:rPr>
              <a:t>인사담당자가 싫어하고</a:t>
            </a:r>
            <a:r>
              <a:rPr lang="en-US" altLang="ko-KR" sz="2000" b="1" dirty="0" smtClean="0">
                <a:solidFill>
                  <a:srgbClr val="0000FF"/>
                </a:solidFill>
                <a:latin typeface="맑은 고딕" pitchFamily="50" charset="-127"/>
              </a:rPr>
              <a:t>, </a:t>
            </a:r>
            <a:r>
              <a:rPr lang="ko-KR" altLang="en-US" sz="2000" b="1" dirty="0" smtClean="0">
                <a:solidFill>
                  <a:srgbClr val="0000FF"/>
                </a:solidFill>
                <a:latin typeface="맑은 고딕" pitchFamily="50" charset="-127"/>
              </a:rPr>
              <a:t>좋아하는 문장은</a:t>
            </a:r>
            <a:r>
              <a:rPr lang="en-US" altLang="ko-KR" sz="2000" b="1" dirty="0" smtClean="0">
                <a:solidFill>
                  <a:srgbClr val="0000FF"/>
                </a:solidFill>
                <a:latin typeface="맑은 고딕" pitchFamily="50" charset="-127"/>
              </a:rPr>
              <a:t>?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691246"/>
            <a:ext cx="7416824" cy="4834098"/>
          </a:xfrm>
          <a:prstGeom prst="rect">
            <a:avLst/>
          </a:prstGeom>
          <a:noFill/>
          <a:ln w="952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701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15616" y="260648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자기소개서는 어떻게 쓸까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55576" y="1126485"/>
            <a:ext cx="6624736" cy="574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 smtClean="0">
                <a:solidFill>
                  <a:srgbClr val="FF0000"/>
                </a:solidFill>
                <a:latin typeface="맑은 고딕" pitchFamily="50" charset="-127"/>
              </a:rPr>
              <a:t>인사담당자가 안 보는 서류</a:t>
            </a:r>
            <a:r>
              <a:rPr lang="en-US" altLang="ko-KR" sz="2400" b="1" dirty="0" smtClean="0">
                <a:solidFill>
                  <a:srgbClr val="FF0000"/>
                </a:solidFill>
                <a:latin typeface="맑은 고딕" pitchFamily="50" charset="-127"/>
              </a:rPr>
              <a:t>?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1045518" y="1916832"/>
            <a:ext cx="7486922" cy="367240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b="1" dirty="0" smtClean="0"/>
              <a:t>1.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작성요령</a:t>
            </a:r>
            <a:r>
              <a:rPr lang="ko-KR" altLang="en-US" sz="2000" b="1" dirty="0" smtClean="0"/>
              <a:t>을 따르지 않은 서류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지시사항 무시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방침이해 부족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b="1" dirty="0" smtClean="0"/>
              <a:t>2.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준비 부족</a:t>
            </a:r>
            <a:r>
              <a:rPr lang="ko-KR" altLang="en-US" sz="2000" b="1" dirty="0" smtClean="0"/>
              <a:t>이 보이는 서류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셀카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사진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오타 등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b="1" dirty="0" smtClean="0"/>
              <a:t>3.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타기업 제출 흔적</a:t>
            </a:r>
            <a:r>
              <a:rPr lang="ko-KR" altLang="en-US" sz="2000" b="1" dirty="0" smtClean="0"/>
              <a:t>이 있는 서류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상호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직무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에피소드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b="1" dirty="0" smtClean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b="1" dirty="0" smtClean="0"/>
              <a:t>4.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인터넷에서 베껴 쓴 듯한</a:t>
            </a:r>
            <a:r>
              <a:rPr lang="en-US" altLang="ko-KR" sz="2000" b="1" dirty="0" smtClean="0"/>
              <a:t>,</a:t>
            </a:r>
            <a:r>
              <a:rPr lang="ko-KR" altLang="en-US" sz="2000" b="1" dirty="0" smtClean="0"/>
              <a:t> 진부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>
                <a:latin typeface="한양해서" panose="02030600000101010101" pitchFamily="18" charset="-127"/>
                <a:ea typeface="한양해서" panose="02030600000101010101" pitchFamily="18" charset="-127"/>
              </a:rPr>
              <a:t>陳腐</a:t>
            </a:r>
            <a:r>
              <a:rPr lang="en-US" altLang="ko-KR" sz="2000" b="1" dirty="0" smtClean="0"/>
              <a:t>)</a:t>
            </a:r>
            <a:r>
              <a:rPr lang="ko-KR" altLang="en-US" sz="2000" b="1" dirty="0" smtClean="0"/>
              <a:t>한 자기소개서</a:t>
            </a:r>
            <a:endParaRPr lang="en-US" altLang="ko-KR" sz="2000" b="1" dirty="0" smtClean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b="1" dirty="0" smtClean="0"/>
              <a:t>5.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핵심 없이 장황한</a:t>
            </a:r>
            <a:r>
              <a:rPr lang="en-US" altLang="ko-KR" sz="2000" b="1" dirty="0" smtClean="0"/>
              <a:t>,</a:t>
            </a:r>
            <a:r>
              <a:rPr lang="ko-KR" altLang="en-US" sz="2000" b="1" dirty="0" smtClean="0"/>
              <a:t> 동문서답의 자기소개서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자서전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자소설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b="1" dirty="0" smtClean="0"/>
              <a:t>6. </a:t>
            </a:r>
            <a:r>
              <a:rPr lang="ko-KR" altLang="en-US" sz="2000" b="1" dirty="0" smtClean="0"/>
              <a:t>성의 없이 </a:t>
            </a:r>
            <a:r>
              <a:rPr lang="ko-KR" altLang="en-US" sz="2000" b="1" dirty="0" smtClean="0">
                <a:solidFill>
                  <a:srgbClr val="0000FF"/>
                </a:solidFill>
              </a:rPr>
              <a:t>짧게 쓴 자기소개서</a:t>
            </a:r>
            <a:endParaRPr lang="en-US" altLang="ko-KR" sz="2000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60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3568" y="365755"/>
            <a:ext cx="7272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자기소개서에서 중요하게 보는 점</a:t>
            </a:r>
            <a:endParaRPr lang="en-US" altLang="ko-KR" sz="3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차트 4"/>
          <p:cNvGraphicFramePr/>
          <p:nvPr>
            <p:extLst>
              <p:ext uri="{D42A27DB-BD31-4B8C-83A1-F6EECF244321}">
                <p14:modId xmlns:p14="http://schemas.microsoft.com/office/powerpoint/2010/main" val="125178519"/>
              </p:ext>
            </p:extLst>
          </p:nvPr>
        </p:nvGraphicFramePr>
        <p:xfrm>
          <a:off x="960939" y="1340768"/>
          <a:ext cx="7488832" cy="5112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1"/>
          <p:cNvSpPr txBox="1"/>
          <p:nvPr/>
        </p:nvSpPr>
        <p:spPr>
          <a:xfrm>
            <a:off x="5076056" y="5734754"/>
            <a:ext cx="1584176" cy="288022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 smtClean="0"/>
              <a:t>* 응답자 </a:t>
            </a:r>
            <a:r>
              <a:rPr lang="en-US" altLang="ko-KR" sz="1400" b="1" dirty="0" smtClean="0"/>
              <a:t>: 212</a:t>
            </a:r>
            <a:r>
              <a:rPr lang="ko-KR" altLang="en-US" sz="1400" b="1" dirty="0" smtClean="0"/>
              <a:t>명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14277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67544" y="188640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 항목</a:t>
            </a: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일반 항목</a:t>
            </a: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424319"/>
              </p:ext>
            </p:extLst>
          </p:nvPr>
        </p:nvGraphicFramePr>
        <p:xfrm>
          <a:off x="899592" y="764704"/>
          <a:ext cx="7776865" cy="5730428"/>
        </p:xfrm>
        <a:graphic>
          <a:graphicData uri="http://schemas.openxmlformats.org/drawingml/2006/table">
            <a:tbl>
              <a:tblPr/>
              <a:tblGrid>
                <a:gridCol w="817160"/>
                <a:gridCol w="1788174"/>
                <a:gridCol w="1809675"/>
                <a:gridCol w="1809675"/>
                <a:gridCol w="1552181"/>
              </a:tblGrid>
              <a:tr h="637044"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ea typeface="HY견고딕"/>
                        </a:rPr>
                        <a:t>자 기 소 개 서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108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지원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사항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7F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지원 구분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지원 회사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지원 부문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지원자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EEF"/>
                    </a:solidFill>
                  </a:tcPr>
                </a:tc>
              </a:tr>
              <a:tr h="3049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신입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00</a:t>
                      </a: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기업</a:t>
                      </a: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주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굴림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시스템 개발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굴림"/>
                        </a:rPr>
                        <a:t>홍길동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444"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8646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성장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과정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29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27000" marR="12700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00" spc="0" dirty="0">
                          <a:solidFill>
                            <a:srgbClr val="000000"/>
                          </a:solidFill>
                          <a:effectLst/>
                          <a:latin typeface="굴림체"/>
                        </a:rPr>
                        <a:t>(</a:t>
                      </a:r>
                      <a:r>
                        <a:rPr lang="en-US" altLang="ko-KR" sz="1000" kern="100" spc="0" dirty="0">
                          <a:solidFill>
                            <a:srgbClr val="000000"/>
                          </a:solidFill>
                          <a:effectLst/>
                          <a:ea typeface="굴림체"/>
                        </a:rPr>
                        <a:t>※ </a:t>
                      </a:r>
                      <a:r>
                        <a:rPr lang="ko-KR" altLang="en-US" sz="1000" kern="100" spc="0" dirty="0">
                          <a:solidFill>
                            <a:srgbClr val="000000"/>
                          </a:solidFill>
                          <a:effectLst/>
                          <a:ea typeface="굴림체"/>
                        </a:rPr>
                        <a:t>기재요령 </a:t>
                      </a:r>
                      <a:r>
                        <a:rPr lang="en-US" altLang="ko-KR" sz="1000" kern="100" spc="0" dirty="0">
                          <a:solidFill>
                            <a:srgbClr val="000000"/>
                          </a:solidFill>
                          <a:effectLst/>
                          <a:latin typeface="굴림체"/>
                        </a:rPr>
                        <a:t>: </a:t>
                      </a:r>
                      <a:r>
                        <a:rPr lang="ko-KR" altLang="en-US" sz="1000" kern="100" spc="0" dirty="0">
                          <a:solidFill>
                            <a:srgbClr val="000000"/>
                          </a:solidFill>
                          <a:effectLst/>
                          <a:ea typeface="굴림체"/>
                        </a:rPr>
                        <a:t>글자크기 </a:t>
                      </a:r>
                      <a:r>
                        <a:rPr lang="en-US" altLang="ko-KR" sz="1000" kern="100" spc="0" dirty="0">
                          <a:solidFill>
                            <a:srgbClr val="000000"/>
                          </a:solidFill>
                          <a:effectLst/>
                          <a:latin typeface="굴림체"/>
                        </a:rPr>
                        <a:t>10</a:t>
                      </a:r>
                      <a:r>
                        <a:rPr lang="ko-KR" altLang="en-US" sz="1000" kern="100" spc="0" dirty="0">
                          <a:solidFill>
                            <a:srgbClr val="000000"/>
                          </a:solidFill>
                          <a:effectLst/>
                          <a:ea typeface="굴림체"/>
                        </a:rPr>
                        <a:t>호</a:t>
                      </a:r>
                      <a:r>
                        <a:rPr lang="en-US" altLang="ko-KR" sz="1000" kern="100" spc="0" dirty="0">
                          <a:solidFill>
                            <a:srgbClr val="000000"/>
                          </a:solidFill>
                          <a:effectLst/>
                          <a:latin typeface="굴림체"/>
                        </a:rPr>
                        <a:t>, </a:t>
                      </a:r>
                      <a:r>
                        <a:rPr lang="ko-KR" altLang="en-US" sz="1000" kern="100" spc="0" dirty="0">
                          <a:solidFill>
                            <a:srgbClr val="000000"/>
                          </a:solidFill>
                          <a:effectLst/>
                          <a:ea typeface="굴림체"/>
                        </a:rPr>
                        <a:t>항목별 </a:t>
                      </a:r>
                      <a:r>
                        <a:rPr lang="en-US" altLang="ko-KR" sz="1000" kern="100" spc="0" dirty="0">
                          <a:solidFill>
                            <a:srgbClr val="000000"/>
                          </a:solidFill>
                          <a:effectLst/>
                          <a:latin typeface="굴림체"/>
                        </a:rPr>
                        <a:t>700</a:t>
                      </a:r>
                      <a:r>
                        <a:rPr lang="ko-KR" altLang="en-US" sz="1000" kern="100" spc="0" dirty="0">
                          <a:solidFill>
                            <a:srgbClr val="000000"/>
                          </a:solidFill>
                          <a:effectLst/>
                          <a:ea typeface="굴림체"/>
                        </a:rPr>
                        <a:t>자 내외</a:t>
                      </a:r>
                      <a:r>
                        <a:rPr lang="en-US" altLang="ko-KR" sz="1000" kern="100" spc="0" dirty="0">
                          <a:solidFill>
                            <a:srgbClr val="000000"/>
                          </a:solidFill>
                          <a:effectLst/>
                          <a:latin typeface="굴림체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26" marR="51026" marT="51026" marB="51026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83112"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925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성격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및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장단점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29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27000" marR="12700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26" marR="51026" marT="51026" marB="51026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80267"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9278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입사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지원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동기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29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27000" marR="12700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26" marR="51026" marT="51026" marB="51026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80267"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85583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입사후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29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27000" marR="12700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26" marR="51026" marT="51026" marB="51026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8608"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4682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FFFFFF"/>
                          </a:solidFill>
                          <a:effectLst/>
                          <a:ea typeface="굴림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689" marR="12689" marT="12689" marB="12689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29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굴림체"/>
                        </a:rPr>
                        <a:t>위 기재사항은 사실과 틀림이 없습니다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굴림체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굴림체"/>
                        </a:rPr>
                        <a:t>2015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굴림체"/>
                        </a:rPr>
                        <a:t>년 월 일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굴림체"/>
                        </a:rPr>
                        <a:t>작성자 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굴림체"/>
                        </a:rPr>
                        <a:t>: (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굴림체"/>
                        </a:rPr>
                        <a:t>서명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굴림체"/>
                        </a:rPr>
                        <a:t>) 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1026" marR="51026" marT="51026" marB="51026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900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27584" y="164479"/>
            <a:ext cx="7437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 작성 포인트</a:t>
            </a:r>
            <a:endParaRPr lang="en-US" altLang="ko-KR" sz="3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1248246" y="908720"/>
            <a:ext cx="4968552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ko-KR" altLang="en-US" sz="2800" b="1" dirty="0" smtClean="0">
                <a:solidFill>
                  <a:srgbClr val="FF0000"/>
                </a:solidFill>
              </a:rPr>
              <a:t>성장과정 작성법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899592" y="1979712"/>
            <a:ext cx="7992888" cy="447362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FF0000"/>
                </a:solidFill>
              </a:rPr>
              <a:t>남달랐던 부분</a:t>
            </a:r>
            <a:r>
              <a:rPr lang="ko-KR" altLang="en-US" sz="1800" b="1" dirty="0" smtClean="0"/>
              <a:t>만을 간단하게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구체적 일화</a:t>
            </a:r>
            <a:r>
              <a:rPr lang="ko-KR" altLang="en-US" sz="1800" b="1" dirty="0" smtClean="0"/>
              <a:t>를 통해 서술</a:t>
            </a:r>
            <a:endParaRPr lang="en-US" altLang="ko-KR" sz="1800" b="1" dirty="0" smtClean="0"/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1800" b="1" dirty="0"/>
              <a:t> </a:t>
            </a:r>
            <a:r>
              <a:rPr lang="en-US" altLang="ko-KR" sz="1800" b="1" dirty="0" smtClean="0"/>
              <a:t>   (</a:t>
            </a:r>
            <a:r>
              <a:rPr lang="ko-KR" altLang="en-US" sz="1800" b="1" dirty="0" smtClean="0"/>
              <a:t>가정환경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부모님의 교육철학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가훈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인생관 등</a:t>
            </a:r>
            <a:r>
              <a:rPr lang="en-US" altLang="ko-KR" sz="1800" b="1" dirty="0" smtClean="0"/>
              <a:t>)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기업의 인재상 등과 관련된 </a:t>
            </a:r>
            <a:r>
              <a:rPr lang="ko-KR" altLang="en-US" sz="1800" b="1" dirty="0" err="1" smtClean="0"/>
              <a:t>애피소드를</a:t>
            </a:r>
            <a:r>
              <a:rPr lang="ko-KR" altLang="en-US" sz="1800" b="1" dirty="0" smtClean="0"/>
              <a:t> 활용</a:t>
            </a:r>
            <a:endParaRPr lang="en-US" altLang="ko-KR" sz="1800" b="1" dirty="0" smtClean="0"/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err="1" smtClean="0"/>
              <a:t>스펙의</a:t>
            </a:r>
            <a:r>
              <a:rPr lang="ko-KR" altLang="en-US" sz="1800" b="1" dirty="0" smtClean="0"/>
              <a:t> 차이가 아니라 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생각의 차이</a:t>
            </a:r>
            <a:r>
              <a:rPr lang="ko-KR" altLang="en-US" sz="1800" b="1" dirty="0" smtClean="0"/>
              <a:t>에 초점을 둔 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차별화 부각 </a:t>
            </a:r>
            <a:endParaRPr lang="en-US" altLang="ko-KR" sz="1800" b="1" dirty="0" smtClean="0">
              <a:solidFill>
                <a:srgbClr val="FF0000"/>
              </a:solidFill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FF0000"/>
                </a:solidFill>
              </a:rPr>
              <a:t>가장 최근의 경험</a:t>
            </a:r>
            <a:r>
              <a:rPr lang="en-US" altLang="ko-KR" sz="1800" b="1" dirty="0" smtClean="0"/>
              <a:t>, 20</a:t>
            </a:r>
            <a:r>
              <a:rPr lang="ko-KR" altLang="en-US" sz="1800" b="1" dirty="0" smtClean="0"/>
              <a:t>살 이전의 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특별한 경험</a:t>
            </a:r>
            <a:endParaRPr lang="en-US" altLang="ko-KR" sz="1800" b="1" dirty="0" smtClean="0">
              <a:solidFill>
                <a:srgbClr val="FF0000"/>
              </a:solidFill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최근까지 이어지는 활동이나 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현재모습</a:t>
            </a:r>
            <a:r>
              <a:rPr lang="en-US" altLang="ko-KR" sz="18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가치관</a:t>
            </a:r>
            <a:r>
              <a:rPr lang="en-US" altLang="ko-KR" sz="18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에</a:t>
            </a:r>
            <a:r>
              <a:rPr lang="en-US" altLang="ko-KR" sz="18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영향을 준 사건</a:t>
            </a:r>
            <a:endParaRPr lang="en-US" altLang="ko-KR" sz="1800" b="1" dirty="0" smtClean="0">
              <a:solidFill>
                <a:srgbClr val="FF0000"/>
              </a:solidFill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FF0000"/>
                </a:solidFill>
              </a:rPr>
              <a:t>전공 선택과</a:t>
            </a:r>
            <a:r>
              <a:rPr lang="en-US" altLang="ko-KR" sz="18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지원분야에 관심을 갖게 된 계기</a:t>
            </a:r>
            <a:endParaRPr lang="en-US" altLang="ko-KR" sz="1800" b="1" dirty="0" smtClean="0">
              <a:solidFill>
                <a:srgbClr val="FF0000"/>
              </a:solidFill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spc="-300" dirty="0" smtClean="0"/>
              <a:t>성장과정을 </a:t>
            </a:r>
            <a:r>
              <a:rPr lang="ko-KR" altLang="en-US" sz="1800" b="1" spc="-300" dirty="0" smtClean="0">
                <a:solidFill>
                  <a:srgbClr val="FF0000"/>
                </a:solidFill>
              </a:rPr>
              <a:t>부모님</a:t>
            </a:r>
            <a:r>
              <a:rPr lang="ko-KR" altLang="en-US" sz="1800" b="1" spc="-300" dirty="0" smtClean="0"/>
              <a:t> 이야기로 채우지 말고 </a:t>
            </a:r>
            <a:r>
              <a:rPr lang="ko-KR" altLang="en-US" sz="1800" b="1" spc="-300" dirty="0" smtClean="0">
                <a:solidFill>
                  <a:srgbClr val="FF0000"/>
                </a:solidFill>
              </a:rPr>
              <a:t>나 자신</a:t>
            </a:r>
            <a:r>
              <a:rPr lang="ko-KR" altLang="en-US" sz="1800" b="1" spc="-300" dirty="0" smtClean="0"/>
              <a:t>을 소개</a:t>
            </a:r>
            <a:endParaRPr lang="ko-KR" altLang="en-US" sz="1800" b="1" spc="-300" dirty="0"/>
          </a:p>
        </p:txBody>
      </p:sp>
      <p:sp>
        <p:nvSpPr>
          <p:cNvPr id="7" name="Rectangle 45"/>
          <p:cNvSpPr>
            <a:spLocks noChangeArrowheads="1"/>
          </p:cNvSpPr>
          <p:nvPr/>
        </p:nvSpPr>
        <p:spPr bwMode="auto">
          <a:xfrm>
            <a:off x="1835696" y="1480220"/>
            <a:ext cx="46085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20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가정환경 파악</a:t>
            </a:r>
            <a:r>
              <a:rPr lang="en-US" altLang="ko-KR" sz="2000" dirty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, </a:t>
            </a:r>
            <a:r>
              <a:rPr lang="ko-KR" altLang="en-US" sz="2000" dirty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가치관 파악</a:t>
            </a:r>
          </a:p>
        </p:txBody>
      </p:sp>
    </p:spTree>
    <p:extLst>
      <p:ext uri="{BB962C8B-B14F-4D97-AF65-F5344CB8AC3E}">
        <p14:creationId xmlns:p14="http://schemas.microsoft.com/office/powerpoint/2010/main" val="223526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/>
        </p:nvCxnSpPr>
        <p:spPr>
          <a:xfrm flipH="1">
            <a:off x="1727684" y="2492896"/>
            <a:ext cx="4140460" cy="374441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7584" y="260648"/>
            <a:ext cx="7437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 작성 포인트</a:t>
            </a:r>
            <a:endParaRPr lang="en-US" altLang="ko-KR" sz="3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259632" y="2276872"/>
            <a:ext cx="7488832" cy="367240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6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인자하신 부모님 아래에서</a:t>
            </a:r>
            <a:r>
              <a:rPr lang="en-US" altLang="ko-KR" sz="1800" b="1" dirty="0" smtClean="0"/>
              <a:t>…(</a:t>
            </a:r>
            <a:r>
              <a:rPr lang="ko-KR" altLang="en-US" sz="1800" b="1" dirty="0" smtClean="0"/>
              <a:t>진부해</a:t>
            </a:r>
            <a:r>
              <a:rPr lang="en-US" altLang="ko-KR" sz="1800" b="1" dirty="0" smtClean="0"/>
              <a:t>)</a:t>
            </a:r>
          </a:p>
          <a:p>
            <a:pPr>
              <a:lnSpc>
                <a:spcPts val="36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화목하고 단란한 가정에서</a:t>
            </a:r>
            <a:r>
              <a:rPr lang="en-US" altLang="ko-KR" sz="1800" b="1" dirty="0" smtClean="0"/>
              <a:t>…</a:t>
            </a:r>
          </a:p>
          <a:p>
            <a:pPr>
              <a:lnSpc>
                <a:spcPts val="36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엄하신 아버지와 자상하신 어머니</a:t>
            </a:r>
            <a:r>
              <a:rPr lang="en-US" altLang="ko-KR" sz="1800" b="1" dirty="0" smtClean="0"/>
              <a:t>…</a:t>
            </a:r>
          </a:p>
          <a:p>
            <a:pPr>
              <a:lnSpc>
                <a:spcPts val="36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유치원에서</a:t>
            </a:r>
            <a:r>
              <a:rPr lang="en-US" altLang="ko-KR" sz="1800" b="1" dirty="0" smtClean="0"/>
              <a:t>~~~</a:t>
            </a:r>
            <a:r>
              <a:rPr lang="ko-KR" altLang="en-US" sz="1800" b="1" dirty="0" smtClean="0"/>
              <a:t>고등학교에서 반장을</a:t>
            </a:r>
            <a:r>
              <a:rPr lang="en-US" altLang="ko-KR" sz="1800" b="1" dirty="0" smtClean="0"/>
              <a:t>…(</a:t>
            </a:r>
            <a:r>
              <a:rPr lang="ko-KR" altLang="en-US" sz="1800" b="1" dirty="0" smtClean="0"/>
              <a:t>지금은</a:t>
            </a:r>
            <a:r>
              <a:rPr lang="en-US" altLang="ko-KR" sz="1800" b="1" dirty="0" smtClean="0"/>
              <a:t>?)</a:t>
            </a:r>
          </a:p>
          <a:p>
            <a:pPr>
              <a:lnSpc>
                <a:spcPts val="3600"/>
              </a:lnSpc>
              <a:buFont typeface="Wingdings" panose="05000000000000000000" pitchFamily="2" charset="2"/>
              <a:buChar char="l"/>
            </a:pPr>
            <a:r>
              <a:rPr lang="en-US" altLang="ko-KR" sz="1800" b="1" dirty="0" smtClean="0"/>
              <a:t>2</a:t>
            </a:r>
            <a:r>
              <a:rPr lang="ko-KR" altLang="en-US" sz="1800" b="1" dirty="0" smtClean="0"/>
              <a:t>남 </a:t>
            </a:r>
            <a:r>
              <a:rPr lang="en-US" altLang="ko-KR" sz="1800" b="1" dirty="0" smtClean="0"/>
              <a:t>1</a:t>
            </a:r>
            <a:r>
              <a:rPr lang="ko-KR" altLang="en-US" sz="1800" b="1" dirty="0" smtClean="0"/>
              <a:t>녀 중 막내로 대구에서 태어나</a:t>
            </a:r>
            <a:r>
              <a:rPr lang="en-US" altLang="ko-KR" sz="1800" b="1" dirty="0" smtClean="0"/>
              <a:t>…(</a:t>
            </a:r>
            <a:r>
              <a:rPr lang="ko-KR" altLang="en-US" sz="1800" b="1" dirty="0" smtClean="0"/>
              <a:t>족보열거</a:t>
            </a:r>
            <a:r>
              <a:rPr lang="en-US" altLang="ko-KR" sz="1800" b="1" dirty="0" smtClean="0"/>
              <a:t>?)</a:t>
            </a:r>
          </a:p>
          <a:p>
            <a:pPr>
              <a:lnSpc>
                <a:spcPts val="36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부모님 이혼으로</a:t>
            </a:r>
            <a:r>
              <a:rPr lang="en-US" altLang="ko-KR" sz="1800" b="1" dirty="0" smtClean="0"/>
              <a:t>… </a:t>
            </a:r>
            <a:r>
              <a:rPr lang="ko-KR" altLang="en-US" sz="1800" b="1" dirty="0" smtClean="0"/>
              <a:t>하지만 밝게 자라</a:t>
            </a:r>
            <a:r>
              <a:rPr lang="en-US" altLang="ko-KR" sz="1800" b="1" dirty="0" smtClean="0"/>
              <a:t>…(</a:t>
            </a:r>
            <a:r>
              <a:rPr lang="ko-KR" altLang="en-US" sz="1800" b="1" dirty="0" smtClean="0"/>
              <a:t>그럴까</a:t>
            </a:r>
            <a:r>
              <a:rPr lang="en-US" altLang="ko-KR" sz="1800" b="1" dirty="0" smtClean="0"/>
              <a:t>?)</a:t>
            </a:r>
          </a:p>
          <a:p>
            <a:pPr>
              <a:lnSpc>
                <a:spcPts val="36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야간업소에서 노동을 하며 학비를</a:t>
            </a:r>
            <a:r>
              <a:rPr lang="en-US" altLang="ko-KR" sz="1800" b="1" dirty="0" smtClean="0"/>
              <a:t>…(</a:t>
            </a:r>
            <a:r>
              <a:rPr lang="ko-KR" altLang="en-US" sz="1800" b="1" dirty="0" smtClean="0"/>
              <a:t>직무연관성</a:t>
            </a:r>
            <a:r>
              <a:rPr lang="en-US" altLang="ko-KR" sz="1800" b="1" dirty="0" smtClean="0"/>
              <a:t>?)</a:t>
            </a:r>
          </a:p>
          <a:p>
            <a:pPr>
              <a:lnSpc>
                <a:spcPts val="36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악착같이 살다 보니 친구가 별로 없다</a:t>
            </a:r>
            <a:r>
              <a:rPr lang="en-US" altLang="ko-KR" sz="1800" b="1" dirty="0" smtClean="0"/>
              <a:t>…(</a:t>
            </a:r>
            <a:r>
              <a:rPr lang="ko-KR" altLang="en-US" sz="1800" b="1" dirty="0" smtClean="0"/>
              <a:t>인성</a:t>
            </a:r>
            <a:r>
              <a:rPr lang="en-US" altLang="ko-KR" sz="1800" b="1" dirty="0" smtClean="0"/>
              <a:t>?)</a:t>
            </a:r>
            <a:endParaRPr lang="ko-KR" altLang="en-US" sz="18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1248246" y="1196752"/>
            <a:ext cx="4968552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ko-KR" altLang="en-US" sz="2800" b="1" dirty="0" smtClean="0">
                <a:solidFill>
                  <a:srgbClr val="FF0000"/>
                </a:solidFill>
              </a:rPr>
              <a:t>성장과정 작성법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11" name="Rectangle 45"/>
          <p:cNvSpPr>
            <a:spLocks noChangeArrowheads="1"/>
          </p:cNvSpPr>
          <p:nvPr/>
        </p:nvSpPr>
        <p:spPr bwMode="auto">
          <a:xfrm>
            <a:off x="1835696" y="1772816"/>
            <a:ext cx="46085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20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가정환경 파악</a:t>
            </a:r>
            <a:r>
              <a:rPr lang="en-US" altLang="ko-KR" sz="2000" dirty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, </a:t>
            </a:r>
            <a:r>
              <a:rPr lang="ko-KR" altLang="en-US" sz="2000" dirty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가치관 파악</a:t>
            </a:r>
          </a:p>
        </p:txBody>
      </p:sp>
      <p:cxnSp>
        <p:nvCxnSpPr>
          <p:cNvPr id="7" name="직선 연결선 6"/>
          <p:cNvCxnSpPr/>
          <p:nvPr/>
        </p:nvCxnSpPr>
        <p:spPr>
          <a:xfrm flipH="1" flipV="1">
            <a:off x="1880084" y="2492896"/>
            <a:ext cx="4140460" cy="374441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90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27584" y="367353"/>
            <a:ext cx="7437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성장과정 사례</a:t>
            </a:r>
            <a:endParaRPr lang="en-US" altLang="ko-KR" sz="28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040330"/>
              </p:ext>
            </p:extLst>
          </p:nvPr>
        </p:nvGraphicFramePr>
        <p:xfrm>
          <a:off x="395536" y="1268760"/>
          <a:ext cx="8352928" cy="4896544"/>
        </p:xfrm>
        <a:graphic>
          <a:graphicData uri="http://schemas.openxmlformats.org/drawingml/2006/table">
            <a:tbl>
              <a:tblPr/>
              <a:tblGrid>
                <a:gridCol w="8352928"/>
              </a:tblGrid>
              <a:tr h="489654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사례 </a:t>
                      </a:r>
                      <a:r>
                        <a:rPr lang="en-US" altLang="ko-KR" sz="1600" b="1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#1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6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어릴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적부터 </a:t>
                      </a:r>
                      <a:r>
                        <a:rPr lang="ko-KR" altLang="en-US" sz="1600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탐구하는 것을 매우 좋아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 퍼즐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독서에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강한 애착을 보였고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현재도 </a:t>
                      </a:r>
                      <a:r>
                        <a:rPr lang="ko-KR" altLang="en-US" sz="1600" kern="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직업적성검사 등을 실시하면 </a:t>
                      </a:r>
                      <a:r>
                        <a:rPr lang="ko-KR" altLang="en-US" sz="1600" kern="0" spc="0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언어력</a:t>
                      </a:r>
                      <a:r>
                        <a:rPr lang="en-US" altLang="ko-KR" sz="1600" kern="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집중력은 대부분 최상위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기록할 만큼 유년기부터 남다르게 강한 </a:t>
                      </a:r>
                      <a:r>
                        <a:rPr lang="ko-KR" altLang="en-US" sz="1600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호기심과 집중력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을 가졌었습니다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특히 </a:t>
                      </a: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청소년기에는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게임을 좋아하면서도 </a:t>
                      </a:r>
                      <a:r>
                        <a:rPr lang="ko-KR" altLang="en-US" sz="1600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게임의 동작원리를 너무나도 </a:t>
                      </a:r>
                      <a:r>
                        <a:rPr lang="ko-KR" altLang="en-US" sz="1600" kern="0" spc="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궁금해한 나머지 </a:t>
                      </a:r>
                      <a:r>
                        <a:rPr lang="ko-KR" altLang="en-US" sz="1600" kern="0" spc="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컴퓨터정보과로 전공을 선택</a:t>
                      </a: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하게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되었습니다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대학진학 후 저의 호기심들로 인한 궁금증들은 자연스럽게 개발언어들에 대한 성취로 이어져 몇몇 </a:t>
                      </a:r>
                      <a:r>
                        <a:rPr lang="ko-KR" altLang="en-US" sz="1600" kern="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개발언어에 대해 많은 흥미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느낄 수 있었습니다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이러한 저의 </a:t>
                      </a:r>
                      <a:r>
                        <a:rPr lang="ko-KR" altLang="en-US" sz="1600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개발언어에 대한 흥미와 꼼꼼한 성격은 프로그램을 개발하는데 있어서 상당한 시너지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나타낼 것입니다</a:t>
                      </a:r>
                      <a:r>
                        <a:rPr lang="en-US" altLang="ko-KR" sz="16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6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사례 </a:t>
                      </a:r>
                      <a:r>
                        <a:rPr lang="en-US" altLang="ko-KR" sz="1600" b="1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#2</a:t>
                      </a:r>
                      <a:endParaRPr lang="en-US" altLang="ko-KR" sz="1600" b="1" dirty="0" smtClean="0">
                        <a:latin typeface="+mn-ea"/>
                      </a:endParaRPr>
                    </a:p>
                    <a:p>
                      <a:pPr algn="just" fontAlgn="ctr">
                        <a:lnSpc>
                          <a:spcPct val="100000"/>
                        </a:lnSpc>
                      </a:pPr>
                      <a:endParaRPr lang="ko-KR" altLang="en-US" sz="1600" dirty="0" smtClean="0">
                        <a:latin typeface="+mn-ea"/>
                      </a:endParaRPr>
                    </a:p>
                    <a:p>
                      <a:pPr algn="just" fontAlgn="base">
                        <a:lnSpc>
                          <a:spcPct val="100000"/>
                        </a:lnSpc>
                      </a:pPr>
                      <a:r>
                        <a:rPr lang="ko-KR" altLang="en-US" sz="1600" dirty="0" smtClean="0"/>
                        <a:t>성장과정에서 </a:t>
                      </a:r>
                      <a:r>
                        <a:rPr lang="ko-KR" altLang="en-US" sz="1600" u="sng" dirty="0" smtClean="0"/>
                        <a:t>아버지</a:t>
                      </a:r>
                      <a:r>
                        <a:rPr lang="ko-KR" altLang="en-US" sz="1600" dirty="0" smtClean="0"/>
                        <a:t>는 남자는 좀 </a:t>
                      </a:r>
                      <a:r>
                        <a:rPr lang="ko-KR" altLang="en-US" sz="1600" dirty="0" smtClean="0">
                          <a:solidFill>
                            <a:srgbClr val="FF0000"/>
                          </a:solidFill>
                        </a:rPr>
                        <a:t>대범</a:t>
                      </a:r>
                      <a:r>
                        <a:rPr lang="ko-KR" altLang="en-US" sz="1600" dirty="0" smtClean="0"/>
                        <a:t>해야 하고 </a:t>
                      </a:r>
                      <a:r>
                        <a:rPr lang="ko-KR" altLang="en-US" sz="1600" dirty="0" smtClean="0">
                          <a:solidFill>
                            <a:srgbClr val="FF0000"/>
                          </a:solidFill>
                        </a:rPr>
                        <a:t>인내심</a:t>
                      </a:r>
                      <a:r>
                        <a:rPr lang="ko-KR" altLang="en-US" sz="1600" dirty="0" smtClean="0"/>
                        <a:t>이 남달라야 하며 부단히 자기개발을 해야 어떤 </a:t>
                      </a:r>
                      <a:r>
                        <a:rPr lang="ko-KR" altLang="en-US" sz="1600" dirty="0" smtClean="0">
                          <a:solidFill>
                            <a:srgbClr val="FF0000"/>
                          </a:solidFill>
                        </a:rPr>
                        <a:t>책임</a:t>
                      </a:r>
                      <a:r>
                        <a:rPr lang="ko-KR" altLang="en-US" sz="1600" dirty="0" smtClean="0"/>
                        <a:t>이 주어져도 극복할 수 있다고 말씀하셨습니다</a:t>
                      </a:r>
                      <a:r>
                        <a:rPr lang="en-US" altLang="ko-KR" sz="1600" dirty="0" smtClean="0"/>
                        <a:t>. </a:t>
                      </a:r>
                      <a:r>
                        <a:rPr lang="ko-KR" altLang="en-US" sz="1600" dirty="0" smtClean="0"/>
                        <a:t>또 </a:t>
                      </a:r>
                      <a:r>
                        <a:rPr lang="ko-KR" altLang="en-US" sz="1600" dirty="0" smtClean="0">
                          <a:solidFill>
                            <a:srgbClr val="FF0000"/>
                          </a:solidFill>
                        </a:rPr>
                        <a:t>사람이 재산</a:t>
                      </a:r>
                      <a:r>
                        <a:rPr lang="ko-KR" altLang="en-US" sz="1600" dirty="0" smtClean="0"/>
                        <a:t>이라며 사람을 사귀는 가장 중요한 요소는 </a:t>
                      </a:r>
                      <a:r>
                        <a:rPr lang="ko-KR" altLang="en-US" sz="1600" dirty="0" smtClean="0">
                          <a:solidFill>
                            <a:srgbClr val="FF0000"/>
                          </a:solidFill>
                        </a:rPr>
                        <a:t>인사</a:t>
                      </a:r>
                      <a:r>
                        <a:rPr lang="ko-KR" altLang="en-US" sz="1600" dirty="0" smtClean="0"/>
                        <a:t>를 잘하는 것이라고 귀에 못이 박힐 정도로 교육하셨습니다</a:t>
                      </a:r>
                      <a:r>
                        <a:rPr lang="en-US" altLang="ko-KR" sz="1600" dirty="0" smtClean="0"/>
                        <a:t>. </a:t>
                      </a:r>
                      <a:r>
                        <a:rPr lang="ko-KR" altLang="en-US" sz="1600" u="sng" dirty="0" smtClean="0"/>
                        <a:t>어머니</a:t>
                      </a:r>
                      <a:r>
                        <a:rPr lang="ko-KR" altLang="en-US" sz="1600" dirty="0" smtClean="0"/>
                        <a:t>는 네가 먹을 게 있으면 나머지는 남의 것이라고 생각하며 살라는 말씀을 줄곧 하셨습니다</a:t>
                      </a:r>
                      <a:r>
                        <a:rPr lang="en-US" altLang="ko-KR" sz="1600" dirty="0" smtClean="0"/>
                        <a:t>. </a:t>
                      </a:r>
                      <a:r>
                        <a:rPr lang="ko-KR" altLang="en-US" sz="1600" dirty="0" smtClean="0"/>
                        <a:t>이러한 가르침을 잘 새기고 실천하는 생활을 함으로써 </a:t>
                      </a:r>
                      <a:r>
                        <a:rPr lang="ko-KR" altLang="en-US" sz="1600" u="sng" dirty="0" smtClean="0">
                          <a:solidFill>
                            <a:srgbClr val="FF0000"/>
                          </a:solidFill>
                        </a:rPr>
                        <a:t>배려심이 깊고 책임감이 강하고 열정적으로 도전할 줄 아는 사람으로</a:t>
                      </a:r>
                      <a:r>
                        <a:rPr lang="en-US" altLang="ko-KR" sz="1600" u="sng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600" u="sng" dirty="0" smtClean="0">
                          <a:solidFill>
                            <a:srgbClr val="FF0000"/>
                          </a:solidFill>
                        </a:rPr>
                        <a:t>처음 뵙는 분이라도 먼저 인사를 건네며 웃을 수 있는 따뜻한 사람으로 성장</a:t>
                      </a:r>
                      <a:r>
                        <a:rPr lang="ko-KR" altLang="en-US" sz="1600" dirty="0" smtClean="0"/>
                        <a:t>할 수 있었습니다</a:t>
                      </a:r>
                      <a:r>
                        <a:rPr lang="en-US" altLang="ko-KR" sz="1600" dirty="0" smtClean="0"/>
                        <a:t>. 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824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27584" y="367353"/>
            <a:ext cx="7437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 작성 포인트</a:t>
            </a:r>
            <a:endParaRPr lang="en-US" altLang="ko-KR" sz="3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259632" y="1349896"/>
            <a:ext cx="4968552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ko-KR" altLang="en-US" sz="2800" b="1" dirty="0" smtClean="0">
                <a:solidFill>
                  <a:srgbClr val="FF0000"/>
                </a:solidFill>
              </a:rPr>
              <a:t>성격의 장단점 작성법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Rectangle 45"/>
          <p:cNvSpPr>
            <a:spLocks noChangeArrowheads="1"/>
          </p:cNvSpPr>
          <p:nvPr/>
        </p:nvSpPr>
        <p:spPr bwMode="auto">
          <a:xfrm>
            <a:off x="1835696" y="1906317"/>
            <a:ext cx="46085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20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개인의 </a:t>
            </a:r>
            <a:r>
              <a:rPr lang="ko-KR" altLang="en-US" sz="2000" dirty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성격과 직무의 적합도 파악</a:t>
            </a:r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1285131" y="2489101"/>
            <a:ext cx="6840760" cy="374441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지원하는 업종이나 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직무와 결부</a:t>
            </a:r>
            <a:r>
              <a:rPr lang="ko-KR" altLang="en-US" sz="1800" b="1" dirty="0" smtClean="0"/>
              <a:t>시킬 것</a:t>
            </a:r>
            <a:endParaRPr lang="en-US" altLang="ko-KR" sz="1800" b="1" dirty="0" smtClean="0"/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지원기업의 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인재상에 적합한 성격</a:t>
            </a:r>
            <a:r>
              <a:rPr lang="ko-KR" altLang="en-US" sz="1800" b="1" dirty="0" smtClean="0"/>
              <a:t>의 소유자임을 부각</a:t>
            </a:r>
            <a:endParaRPr lang="en-US" altLang="ko-KR" sz="1800" b="1" dirty="0" smtClean="0"/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장점은 </a:t>
            </a:r>
            <a:r>
              <a:rPr lang="en-US" altLang="ko-KR" sz="1800" b="1" dirty="0" smtClean="0"/>
              <a:t>2~3</a:t>
            </a:r>
            <a:r>
              <a:rPr lang="ko-KR" altLang="en-US" sz="1800" b="1" dirty="0" smtClean="0"/>
              <a:t>개정도 쓰고 구체적인 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근거</a:t>
            </a:r>
            <a:r>
              <a:rPr lang="ko-KR" altLang="en-US" sz="1800" b="1" dirty="0" smtClean="0"/>
              <a:t>를 덧붙임</a:t>
            </a:r>
            <a:endParaRPr lang="en-US" altLang="ko-KR" sz="1800" b="1" dirty="0" smtClean="0"/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단점은 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치명적</a:t>
            </a:r>
            <a:r>
              <a:rPr lang="ko-KR" altLang="en-US" sz="1800" b="1" dirty="0" smtClean="0"/>
              <a:t>이지 않은 것을 </a:t>
            </a:r>
            <a:r>
              <a:rPr lang="en-US" altLang="ko-KR" sz="1800" b="1" dirty="0" smtClean="0"/>
              <a:t>1</a:t>
            </a:r>
            <a:r>
              <a:rPr lang="ko-KR" altLang="en-US" sz="1800" b="1" dirty="0" smtClean="0"/>
              <a:t>개정도 쓰고 </a:t>
            </a:r>
            <a:endParaRPr lang="en-US" altLang="ko-KR" sz="1800" b="1" dirty="0" smtClean="0"/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1800" b="1" dirty="0" smtClean="0"/>
              <a:t>    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개선을 위해 노력한 근거</a:t>
            </a:r>
            <a:r>
              <a:rPr lang="ko-KR" altLang="en-US" sz="1800" b="1" dirty="0" smtClean="0"/>
              <a:t>를 덧붙임</a:t>
            </a:r>
            <a:endParaRPr lang="en-US" altLang="ko-KR" sz="1800" b="1" dirty="0" smtClean="0"/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근거는 명확하여야 함</a:t>
            </a:r>
            <a:r>
              <a:rPr lang="en-US" altLang="ko-KR" sz="1800" b="1" dirty="0" smtClean="0"/>
              <a:t>(</a:t>
            </a:r>
            <a:r>
              <a:rPr lang="ko-KR" altLang="en-US" sz="1800" b="1" dirty="0" smtClean="0"/>
              <a:t>수치</a:t>
            </a:r>
            <a:r>
              <a:rPr lang="en-US" altLang="ko-KR" sz="1800" b="1" dirty="0" smtClean="0"/>
              <a:t> </a:t>
            </a:r>
            <a:r>
              <a:rPr lang="ko-KR" altLang="en-US" sz="1800" b="1" dirty="0" smtClean="0"/>
              <a:t>또는 주변 평가 등</a:t>
            </a:r>
            <a:r>
              <a:rPr lang="en-US" altLang="ko-KR" sz="1800" b="1" dirty="0" smtClean="0"/>
              <a:t>)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68953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27584" y="367353"/>
            <a:ext cx="7437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 작성 포인트</a:t>
            </a:r>
            <a:endParaRPr lang="en-US" altLang="ko-KR" sz="3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259632" y="1268760"/>
            <a:ext cx="6768752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ko-KR" altLang="en-US" sz="2800" b="1" dirty="0" smtClean="0">
                <a:solidFill>
                  <a:srgbClr val="FF0000"/>
                </a:solidFill>
              </a:rPr>
              <a:t>성격의 장단점 작성법</a:t>
            </a:r>
            <a:r>
              <a:rPr lang="en-US" altLang="ko-KR" sz="2800" b="1" dirty="0" smtClean="0">
                <a:solidFill>
                  <a:srgbClr val="0000FF"/>
                </a:solidFill>
              </a:rPr>
              <a:t>(</a:t>
            </a:r>
            <a:r>
              <a:rPr lang="ko-KR" altLang="en-US" sz="2800" b="1" dirty="0" smtClean="0">
                <a:solidFill>
                  <a:srgbClr val="0000FF"/>
                </a:solidFill>
              </a:rPr>
              <a:t>장점사례</a:t>
            </a:r>
            <a:r>
              <a:rPr lang="en-US" altLang="ko-KR" sz="2800" b="1" dirty="0" smtClean="0">
                <a:solidFill>
                  <a:srgbClr val="0000FF"/>
                </a:solidFill>
              </a:rPr>
              <a:t>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2" name="Rectangle 45"/>
          <p:cNvSpPr>
            <a:spLocks noChangeArrowheads="1"/>
          </p:cNvSpPr>
          <p:nvPr/>
        </p:nvSpPr>
        <p:spPr bwMode="auto">
          <a:xfrm>
            <a:off x="1835696" y="1825181"/>
            <a:ext cx="46085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20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개인의 </a:t>
            </a:r>
            <a:r>
              <a:rPr lang="ko-KR" altLang="en-US" sz="2000" dirty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성격과 직무의 적합도 파악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1461642" y="2411760"/>
            <a:ext cx="6768752" cy="405075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0000FF"/>
                </a:solidFill>
              </a:rPr>
              <a:t>긍정적</a:t>
            </a:r>
            <a:r>
              <a:rPr lang="ko-KR" altLang="en-US" sz="1800" b="1" dirty="0" smtClean="0"/>
              <a:t>이다</a:t>
            </a:r>
            <a:r>
              <a:rPr lang="en-US" altLang="ko-KR" sz="1800" b="1" dirty="0" smtClean="0"/>
              <a:t>/ </a:t>
            </a:r>
            <a:r>
              <a:rPr lang="ko-KR" altLang="en-US" sz="1800" b="1" dirty="0" smtClean="0"/>
              <a:t>변화에 적응을 잘한다</a:t>
            </a:r>
            <a:endParaRPr lang="en-US" altLang="ko-KR" sz="1800" b="1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0000FF"/>
                </a:solidFill>
              </a:rPr>
              <a:t>도전정신</a:t>
            </a:r>
            <a:r>
              <a:rPr lang="ko-KR" altLang="en-US" sz="1800" b="1" dirty="0" smtClean="0"/>
              <a:t>이 강하다</a:t>
            </a:r>
            <a:r>
              <a:rPr lang="en-US" altLang="ko-KR" sz="1800" b="1" dirty="0" smtClean="0"/>
              <a:t>/ </a:t>
            </a:r>
            <a:r>
              <a:rPr lang="ko-KR" altLang="en-US" sz="1800" b="1" dirty="0" smtClean="0"/>
              <a:t>미래지향적이다</a:t>
            </a:r>
            <a:r>
              <a:rPr lang="en-US" altLang="ko-KR" sz="1800" b="1" dirty="0" smtClean="0"/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0000FF"/>
                </a:solidFill>
              </a:rPr>
              <a:t>배려심</a:t>
            </a:r>
            <a:r>
              <a:rPr lang="ko-KR" altLang="en-US" sz="1800" b="1" dirty="0" smtClean="0"/>
              <a:t>이 많다</a:t>
            </a:r>
            <a:r>
              <a:rPr lang="en-US" altLang="ko-KR" sz="1800" b="1" dirty="0" smtClean="0"/>
              <a:t>/ </a:t>
            </a:r>
            <a:r>
              <a:rPr lang="ko-KR" altLang="en-US" sz="1800" b="1" dirty="0" smtClean="0"/>
              <a:t>사교적이다</a:t>
            </a:r>
            <a:r>
              <a:rPr lang="en-US" altLang="ko-KR" sz="1800" b="1" dirty="0" smtClean="0"/>
              <a:t>/ </a:t>
            </a:r>
            <a:r>
              <a:rPr lang="ko-KR" altLang="en-US" sz="1800" b="1" dirty="0" smtClean="0"/>
              <a:t>성실하다</a:t>
            </a:r>
            <a:r>
              <a:rPr lang="en-US" altLang="ko-KR" sz="1800" b="1" dirty="0" smtClean="0"/>
              <a:t>/ </a:t>
            </a:r>
            <a:r>
              <a:rPr lang="ko-KR" altLang="en-US" sz="1800" b="1" dirty="0" smtClean="0">
                <a:solidFill>
                  <a:srgbClr val="0000FF"/>
                </a:solidFill>
              </a:rPr>
              <a:t>세심</a:t>
            </a:r>
            <a:r>
              <a:rPr lang="ko-KR" altLang="en-US" sz="1800" b="1" dirty="0" smtClean="0"/>
              <a:t>하다</a:t>
            </a:r>
            <a:r>
              <a:rPr lang="en-US" altLang="ko-KR" sz="1800" b="1" dirty="0" smtClean="0"/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순발력이 있다</a:t>
            </a:r>
            <a:r>
              <a:rPr lang="en-US" altLang="ko-KR" sz="1800" b="1" dirty="0" smtClean="0"/>
              <a:t>/ </a:t>
            </a:r>
            <a:r>
              <a:rPr lang="ko-KR" altLang="en-US" sz="1800" b="1" dirty="0" smtClean="0">
                <a:solidFill>
                  <a:srgbClr val="0000FF"/>
                </a:solidFill>
              </a:rPr>
              <a:t>신뢰감</a:t>
            </a:r>
            <a:r>
              <a:rPr lang="ko-KR" altLang="en-US" sz="1800" b="1" dirty="0" smtClean="0"/>
              <a:t>을 준다</a:t>
            </a:r>
            <a:r>
              <a:rPr lang="en-US" altLang="ko-KR" sz="1800" b="1" dirty="0" smtClean="0"/>
              <a:t>/ </a:t>
            </a:r>
            <a:r>
              <a:rPr lang="ko-KR" altLang="en-US" sz="1800" b="1" dirty="0" smtClean="0">
                <a:solidFill>
                  <a:srgbClr val="0000FF"/>
                </a:solidFill>
              </a:rPr>
              <a:t>열정적</a:t>
            </a:r>
            <a:r>
              <a:rPr lang="ko-KR" altLang="en-US" sz="1800" b="1" dirty="0" smtClean="0"/>
              <a:t>이다</a:t>
            </a:r>
            <a:r>
              <a:rPr lang="en-US" altLang="ko-KR" sz="1800" b="1" dirty="0" smtClean="0"/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0000FF"/>
                </a:solidFill>
              </a:rPr>
              <a:t>꼼꼼</a:t>
            </a:r>
            <a:r>
              <a:rPr lang="ko-KR" altLang="en-US" sz="1800" b="1" dirty="0" smtClean="0"/>
              <a:t>하다</a:t>
            </a:r>
            <a:r>
              <a:rPr lang="en-US" altLang="ko-KR" sz="1800" b="1" dirty="0" smtClean="0"/>
              <a:t>/ </a:t>
            </a:r>
            <a:r>
              <a:rPr lang="ko-KR" altLang="en-US" sz="1800" b="1" dirty="0" smtClean="0">
                <a:solidFill>
                  <a:srgbClr val="0000FF"/>
                </a:solidFill>
              </a:rPr>
              <a:t>자립심</a:t>
            </a:r>
            <a:r>
              <a:rPr lang="ko-KR" altLang="en-US" sz="1800" b="1" dirty="0" smtClean="0"/>
              <a:t>이 강하다</a:t>
            </a:r>
            <a:r>
              <a:rPr lang="en-US" altLang="ko-KR" sz="1800" b="1" dirty="0" smtClean="0"/>
              <a:t>/ </a:t>
            </a:r>
            <a:r>
              <a:rPr lang="ko-KR" altLang="en-US" sz="1800" b="1" dirty="0" smtClean="0">
                <a:solidFill>
                  <a:srgbClr val="0000FF"/>
                </a:solidFill>
              </a:rPr>
              <a:t>적극적</a:t>
            </a:r>
            <a:r>
              <a:rPr lang="ko-KR" altLang="en-US" sz="1800" b="1" dirty="0" smtClean="0"/>
              <a:t>이다</a:t>
            </a:r>
            <a:r>
              <a:rPr lang="en-US" altLang="ko-KR" sz="1800" b="1" dirty="0" smtClean="0"/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0000FF"/>
                </a:solidFill>
              </a:rPr>
              <a:t>성실</a:t>
            </a:r>
            <a:r>
              <a:rPr lang="ko-KR" altLang="en-US" sz="1800" b="1" dirty="0" smtClean="0"/>
              <a:t>하다</a:t>
            </a:r>
            <a:r>
              <a:rPr lang="en-US" altLang="ko-KR" sz="1800" b="1" dirty="0" smtClean="0"/>
              <a:t>/ </a:t>
            </a:r>
            <a:r>
              <a:rPr lang="ko-KR" altLang="en-US" sz="1800" b="1" dirty="0" smtClean="0"/>
              <a:t>창의적이다</a:t>
            </a:r>
            <a:r>
              <a:rPr lang="en-US" altLang="ko-KR" sz="1800" b="1" dirty="0" smtClean="0"/>
              <a:t>/ </a:t>
            </a:r>
            <a:r>
              <a:rPr lang="ko-KR" altLang="en-US" sz="1800" b="1" dirty="0" smtClean="0">
                <a:solidFill>
                  <a:srgbClr val="0000FF"/>
                </a:solidFill>
              </a:rPr>
              <a:t>계획적</a:t>
            </a:r>
            <a:r>
              <a:rPr lang="ko-KR" altLang="en-US" sz="1800" b="1" dirty="0" smtClean="0"/>
              <a:t>이다</a:t>
            </a:r>
            <a:endParaRPr lang="en-US" altLang="ko-KR" sz="1800" b="1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패기가 있다</a:t>
            </a:r>
            <a:r>
              <a:rPr lang="en-US" altLang="ko-KR" sz="1800" b="1" dirty="0" smtClean="0"/>
              <a:t>/ </a:t>
            </a:r>
            <a:r>
              <a:rPr lang="ko-KR" altLang="en-US" sz="1800" b="1" dirty="0" smtClean="0"/>
              <a:t>호기심이 많다</a:t>
            </a:r>
            <a:r>
              <a:rPr lang="en-US" altLang="ko-KR" sz="1800" b="1" dirty="0" smtClean="0"/>
              <a:t>/ </a:t>
            </a:r>
            <a:r>
              <a:rPr lang="ko-KR" altLang="en-US" sz="1800" b="1" dirty="0" smtClean="0">
                <a:solidFill>
                  <a:srgbClr val="0000FF"/>
                </a:solidFill>
              </a:rPr>
              <a:t>활동적</a:t>
            </a:r>
            <a:r>
              <a:rPr lang="ko-KR" altLang="en-US" sz="1800" b="1" dirty="0" smtClean="0"/>
              <a:t>이다</a:t>
            </a:r>
            <a:r>
              <a:rPr lang="en-US" altLang="ko-KR" sz="1800" b="1" dirty="0" smtClean="0"/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0000FF"/>
                </a:solidFill>
              </a:rPr>
              <a:t>책임감</a:t>
            </a:r>
            <a:r>
              <a:rPr lang="ko-KR" altLang="en-US" sz="1800" b="1" dirty="0" smtClean="0"/>
              <a:t>이 강하다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33635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27584" y="197768"/>
            <a:ext cx="7437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 작성 포인트</a:t>
            </a:r>
            <a:endParaRPr lang="en-US" altLang="ko-KR" sz="3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259632" y="989856"/>
            <a:ext cx="6768752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ko-KR" altLang="en-US" sz="2800" b="1" dirty="0" smtClean="0">
                <a:solidFill>
                  <a:srgbClr val="FF0000"/>
                </a:solidFill>
              </a:rPr>
              <a:t>성격의 장단점 작성법</a:t>
            </a:r>
            <a:r>
              <a:rPr lang="en-US" altLang="ko-KR" sz="2800" b="1" dirty="0" smtClean="0">
                <a:solidFill>
                  <a:srgbClr val="0000FF"/>
                </a:solidFill>
              </a:rPr>
              <a:t>(</a:t>
            </a:r>
            <a:r>
              <a:rPr lang="ko-KR" altLang="en-US" sz="2800" b="1" dirty="0" smtClean="0">
                <a:solidFill>
                  <a:srgbClr val="0000FF"/>
                </a:solidFill>
              </a:rPr>
              <a:t>단점사례</a:t>
            </a:r>
            <a:r>
              <a:rPr lang="en-US" altLang="ko-KR" sz="2800" b="1" dirty="0" smtClean="0">
                <a:solidFill>
                  <a:srgbClr val="0000FF"/>
                </a:solidFill>
              </a:rPr>
              <a:t>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2" name="Rectangle 45"/>
          <p:cNvSpPr>
            <a:spLocks noChangeArrowheads="1"/>
          </p:cNvSpPr>
          <p:nvPr/>
        </p:nvSpPr>
        <p:spPr bwMode="auto">
          <a:xfrm>
            <a:off x="1835696" y="1546277"/>
            <a:ext cx="46085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20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개인의 </a:t>
            </a:r>
            <a:r>
              <a:rPr lang="ko-KR" altLang="en-US" sz="2000" dirty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성격과 직무의 적합도 파악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755576" y="1988840"/>
            <a:ext cx="8280920" cy="453650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ko-KR" altLang="en-US" sz="1600" b="1" dirty="0">
                <a:solidFill>
                  <a:srgbClr val="0000FF"/>
                </a:solidFill>
              </a:rPr>
              <a:t>승부욕</a:t>
            </a:r>
            <a:r>
              <a:rPr lang="ko-KR" altLang="en-US" sz="1600" b="1" dirty="0"/>
              <a:t>이 강해 때로 지기 싫어한다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b="1" dirty="0"/>
              <a:t>처음 본 사람 앞에서는 </a:t>
            </a:r>
            <a:r>
              <a:rPr lang="ko-KR" altLang="en-US" sz="1600" b="1" dirty="0">
                <a:solidFill>
                  <a:srgbClr val="0000FF"/>
                </a:solidFill>
              </a:rPr>
              <a:t>말수가 적은 편</a:t>
            </a:r>
            <a:r>
              <a:rPr lang="ko-KR" altLang="en-US" sz="1600" b="1" dirty="0"/>
              <a:t>이다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b="1" dirty="0" smtClean="0"/>
              <a:t>성격이 </a:t>
            </a:r>
            <a:r>
              <a:rPr lang="ko-KR" altLang="en-US" sz="1600" b="1" dirty="0"/>
              <a:t>곧아 </a:t>
            </a:r>
            <a:r>
              <a:rPr lang="ko-KR" altLang="en-US" sz="1600" b="1" dirty="0">
                <a:solidFill>
                  <a:srgbClr val="0000FF"/>
                </a:solidFill>
              </a:rPr>
              <a:t>바른말</a:t>
            </a:r>
            <a:r>
              <a:rPr lang="ko-KR" altLang="en-US" sz="1600" b="1" dirty="0"/>
              <a:t>을 할 때가 </a:t>
            </a:r>
            <a:r>
              <a:rPr lang="ko-KR" altLang="en-US" sz="1600" b="1" dirty="0">
                <a:solidFill>
                  <a:srgbClr val="0000FF"/>
                </a:solidFill>
              </a:rPr>
              <a:t>가끔</a:t>
            </a:r>
            <a:r>
              <a:rPr lang="ko-KR" altLang="en-US" sz="1600" b="1" dirty="0"/>
              <a:t> 있다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b="1" dirty="0"/>
              <a:t>옳다고 생각하는 부분에서는 자기주장이 강한 편이다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b="1" dirty="0"/>
              <a:t>추진력이 강하나 이따금 </a:t>
            </a:r>
            <a:r>
              <a:rPr lang="ko-KR" altLang="en-US" sz="1600" b="1" dirty="0">
                <a:solidFill>
                  <a:srgbClr val="0000FF"/>
                </a:solidFill>
              </a:rPr>
              <a:t>조심성</a:t>
            </a:r>
            <a:r>
              <a:rPr lang="ko-KR" altLang="en-US" sz="1600" b="1" dirty="0"/>
              <a:t>이 부족하다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b="1" dirty="0">
                <a:solidFill>
                  <a:srgbClr val="0000FF"/>
                </a:solidFill>
              </a:rPr>
              <a:t>성격이 급하기 때문</a:t>
            </a:r>
            <a:r>
              <a:rPr lang="ko-KR" altLang="en-US" sz="1600" b="1" dirty="0"/>
              <a:t>에 서두르는 경향이 있다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b="1" dirty="0">
                <a:solidFill>
                  <a:srgbClr val="0000FF"/>
                </a:solidFill>
              </a:rPr>
              <a:t>열정이 과해서</a:t>
            </a:r>
            <a:r>
              <a:rPr lang="ko-KR" altLang="en-US" sz="1600" b="1" dirty="0"/>
              <a:t> 주변 사람들이 힘들어 할 때가 있다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b="1" dirty="0"/>
              <a:t>열등감이 있어 종종 스트레스를 받는다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가끔은 </a:t>
            </a:r>
            <a:r>
              <a:rPr lang="ko-KR" altLang="en-US" sz="1600" b="1" dirty="0">
                <a:solidFill>
                  <a:srgbClr val="0000FF"/>
                </a:solidFill>
              </a:rPr>
              <a:t>냉정</a:t>
            </a:r>
            <a:r>
              <a:rPr lang="ko-KR" altLang="en-US" sz="1600" b="1" dirty="0"/>
              <a:t>하다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b="1" dirty="0"/>
              <a:t>한가지에 몰두하면 두루두루 살피지 못하는 편이다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b="1" dirty="0"/>
              <a:t>감정 컨트롤 잘 하지만 한 번 화가 나면 회복하는데 시간이 걸리는 편이다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b="1" dirty="0"/>
              <a:t>감수성이 예민해 감정의 동요가 심할 때가 있다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b="1" dirty="0"/>
              <a:t>매사 </a:t>
            </a:r>
            <a:r>
              <a:rPr lang="ko-KR" altLang="en-US" sz="1600" b="1" dirty="0">
                <a:solidFill>
                  <a:srgbClr val="0000FF"/>
                </a:solidFill>
              </a:rPr>
              <a:t>실수하지 않으려고 노력하다 보니 </a:t>
            </a:r>
            <a:r>
              <a:rPr lang="ko-KR" altLang="en-US" sz="1600" b="1" dirty="0"/>
              <a:t>스트레스가 많은 편이다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b="1" dirty="0"/>
              <a:t>원칙적인 성향이라 </a:t>
            </a:r>
            <a:r>
              <a:rPr lang="ko-KR" altLang="en-US" sz="1600" b="1" dirty="0">
                <a:solidFill>
                  <a:srgbClr val="0000FF"/>
                </a:solidFill>
              </a:rPr>
              <a:t>융통성이 부족</a:t>
            </a:r>
            <a:r>
              <a:rPr lang="ko-KR" altLang="en-US" sz="1600" b="1" dirty="0"/>
              <a:t>할 때가 있다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감정을 잘 드러내지 않는다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b="1" dirty="0">
                <a:solidFill>
                  <a:srgbClr val="0000FF"/>
                </a:solidFill>
              </a:rPr>
              <a:t>너무 신중한 </a:t>
            </a:r>
            <a:r>
              <a:rPr lang="ko-KR" altLang="en-US" sz="1600" b="1" dirty="0"/>
              <a:t>나머지 의사결정이 다소 느리다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b="1" dirty="0"/>
              <a:t>많은 사람들 앞에 나설 때 </a:t>
            </a:r>
            <a:r>
              <a:rPr lang="ko-KR" altLang="en-US" sz="1600" b="1" dirty="0">
                <a:solidFill>
                  <a:srgbClr val="0000FF"/>
                </a:solidFill>
              </a:rPr>
              <a:t>수줍음이 많은 편</a:t>
            </a:r>
            <a:r>
              <a:rPr lang="ko-KR" altLang="en-US" sz="1600" b="1" dirty="0"/>
              <a:t>이다</a:t>
            </a:r>
            <a:r>
              <a:rPr lang="en-US" altLang="ko-KR" sz="16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146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/>
        </p:nvCxnSpPr>
        <p:spPr>
          <a:xfrm flipH="1">
            <a:off x="1719486" y="2483768"/>
            <a:ext cx="5516810" cy="375354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7584" y="367353"/>
            <a:ext cx="7437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 작성 포인트</a:t>
            </a:r>
            <a:endParaRPr lang="en-US" altLang="ko-KR" sz="3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259632" y="1268760"/>
            <a:ext cx="7272808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ko-KR" altLang="en-US" sz="2800" b="1" dirty="0" smtClean="0">
                <a:solidFill>
                  <a:srgbClr val="FF0000"/>
                </a:solidFill>
              </a:rPr>
              <a:t>성격의 장단점 작성법</a:t>
            </a:r>
            <a:r>
              <a:rPr lang="en-US" altLang="ko-KR" sz="2800" b="1" dirty="0" smtClean="0">
                <a:solidFill>
                  <a:srgbClr val="0000FF"/>
                </a:solidFill>
              </a:rPr>
              <a:t>(</a:t>
            </a:r>
            <a:r>
              <a:rPr lang="ko-KR" altLang="en-US" sz="2800" b="1" dirty="0" smtClean="0">
                <a:solidFill>
                  <a:srgbClr val="0000FF"/>
                </a:solidFill>
              </a:rPr>
              <a:t>부적합 단점사례</a:t>
            </a:r>
            <a:r>
              <a:rPr lang="en-US" altLang="ko-KR" sz="2800" b="1" dirty="0" smtClean="0">
                <a:solidFill>
                  <a:srgbClr val="0000FF"/>
                </a:solidFill>
              </a:rPr>
              <a:t>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2" name="Rectangle 45"/>
          <p:cNvSpPr>
            <a:spLocks noChangeArrowheads="1"/>
          </p:cNvSpPr>
          <p:nvPr/>
        </p:nvSpPr>
        <p:spPr bwMode="auto">
          <a:xfrm>
            <a:off x="1835696" y="1825181"/>
            <a:ext cx="46085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20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개인의 </a:t>
            </a:r>
            <a:r>
              <a:rPr lang="ko-KR" altLang="en-US" sz="2000" dirty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성격과 직무의 적합도 파악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331640" y="2362200"/>
            <a:ext cx="7416824" cy="416314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latin typeface="+mn-ea"/>
              </a:rPr>
              <a:t>다른 사람과 </a:t>
            </a:r>
            <a:r>
              <a:rPr lang="ko-KR" altLang="en-US" sz="1800" b="1" dirty="0" smtClean="0">
                <a:solidFill>
                  <a:srgbClr val="FF0000"/>
                </a:solidFill>
                <a:latin typeface="+mn-ea"/>
              </a:rPr>
              <a:t>자주 갈등</a:t>
            </a:r>
            <a:r>
              <a:rPr lang="ko-KR" altLang="en-US" sz="1800" b="1" dirty="0" smtClean="0">
                <a:latin typeface="+mn-ea"/>
              </a:rPr>
              <a:t>을 일으킨다</a:t>
            </a:r>
            <a:r>
              <a:rPr lang="en-US" altLang="ko-KR" sz="1800" b="1" dirty="0" smtClean="0">
                <a:latin typeface="+mn-ea"/>
              </a:rPr>
              <a:t>/ </a:t>
            </a:r>
            <a:r>
              <a:rPr lang="ko-KR" altLang="en-US" sz="1800" b="1" dirty="0" smtClean="0">
                <a:solidFill>
                  <a:srgbClr val="FF0000"/>
                </a:solidFill>
                <a:latin typeface="+mn-ea"/>
              </a:rPr>
              <a:t>집중</a:t>
            </a:r>
            <a:r>
              <a:rPr lang="ko-KR" altLang="en-US" sz="1800" b="1" dirty="0" smtClean="0">
                <a:latin typeface="+mn-ea"/>
              </a:rPr>
              <a:t>을 잘 못한다</a:t>
            </a:r>
            <a:r>
              <a:rPr lang="en-US" altLang="ko-KR" sz="1800" b="1" dirty="0" smtClean="0">
                <a:latin typeface="+mn-ea"/>
              </a:rPr>
              <a:t> </a:t>
            </a:r>
          </a:p>
          <a:p>
            <a:pPr>
              <a:lnSpc>
                <a:spcPts val="27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FF0000"/>
                </a:solidFill>
                <a:latin typeface="+mn-ea"/>
              </a:rPr>
              <a:t>친구</a:t>
            </a:r>
            <a:r>
              <a:rPr lang="ko-KR" altLang="en-US" sz="1800" b="1" dirty="0" smtClean="0">
                <a:latin typeface="+mn-ea"/>
              </a:rPr>
              <a:t>가 별로 없다</a:t>
            </a:r>
            <a:r>
              <a:rPr lang="en-US" altLang="ko-KR" sz="1800" b="1" dirty="0" smtClean="0">
                <a:latin typeface="+mn-ea"/>
              </a:rPr>
              <a:t>/</a:t>
            </a:r>
            <a:r>
              <a:rPr lang="ko-KR" altLang="en-US" sz="1800" b="1" dirty="0" smtClean="0">
                <a:solidFill>
                  <a:srgbClr val="FF0000"/>
                </a:solidFill>
                <a:latin typeface="+mn-ea"/>
              </a:rPr>
              <a:t>술 먹으면 </a:t>
            </a:r>
            <a:r>
              <a:rPr lang="ko-KR" altLang="en-US" sz="1800" b="1" dirty="0" smtClean="0">
                <a:latin typeface="+mn-ea"/>
              </a:rPr>
              <a:t>필름이 자주 끊긴다</a:t>
            </a:r>
            <a:endParaRPr lang="en-US" altLang="ko-KR" sz="1800" b="1" dirty="0" smtClean="0">
              <a:latin typeface="+mn-ea"/>
            </a:endParaRPr>
          </a:p>
          <a:p>
            <a:pPr>
              <a:lnSpc>
                <a:spcPts val="27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FF0000"/>
                </a:solidFill>
                <a:latin typeface="+mn-ea"/>
              </a:rPr>
              <a:t>불평불만</a:t>
            </a:r>
            <a:r>
              <a:rPr lang="ko-KR" altLang="en-US" sz="1800" b="1" dirty="0" smtClean="0">
                <a:latin typeface="+mn-ea"/>
              </a:rPr>
              <a:t>이 많다</a:t>
            </a:r>
            <a:r>
              <a:rPr lang="en-US" altLang="ko-KR" sz="1800" b="1" dirty="0" smtClean="0">
                <a:latin typeface="+mn-ea"/>
              </a:rPr>
              <a:t>/ </a:t>
            </a:r>
            <a:r>
              <a:rPr lang="ko-KR" altLang="en-US" sz="1800" b="1" dirty="0" smtClean="0">
                <a:latin typeface="+mn-ea"/>
              </a:rPr>
              <a:t>단순한 일에는 </a:t>
            </a:r>
            <a:r>
              <a:rPr lang="ko-KR" altLang="en-US" sz="1800" b="1" dirty="0" smtClean="0">
                <a:solidFill>
                  <a:srgbClr val="FF0000"/>
                </a:solidFill>
                <a:latin typeface="+mn-ea"/>
              </a:rPr>
              <a:t>쉽게 싫증</a:t>
            </a:r>
            <a:r>
              <a:rPr lang="ko-KR" altLang="en-US" sz="1800" b="1" dirty="0" smtClean="0">
                <a:latin typeface="+mn-ea"/>
              </a:rPr>
              <a:t>을 느낀다</a:t>
            </a:r>
            <a:r>
              <a:rPr lang="en-US" altLang="ko-KR" sz="1800" b="1" dirty="0" smtClean="0">
                <a:latin typeface="+mn-ea"/>
              </a:rPr>
              <a:t> </a:t>
            </a:r>
          </a:p>
          <a:p>
            <a:pPr>
              <a:lnSpc>
                <a:spcPts val="27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latin typeface="+mn-ea"/>
              </a:rPr>
              <a:t>간섭을 잘 한다</a:t>
            </a:r>
            <a:r>
              <a:rPr lang="en-US" altLang="ko-KR" sz="1800" b="1" dirty="0" smtClean="0">
                <a:latin typeface="+mn-ea"/>
              </a:rPr>
              <a:t>/ </a:t>
            </a:r>
            <a:r>
              <a:rPr lang="ko-KR" altLang="en-US" sz="1800" b="1" dirty="0" smtClean="0">
                <a:solidFill>
                  <a:srgbClr val="FF0000"/>
                </a:solidFill>
                <a:latin typeface="+mn-ea"/>
              </a:rPr>
              <a:t>의지가 부족</a:t>
            </a:r>
            <a:r>
              <a:rPr lang="ko-KR" altLang="en-US" sz="1800" b="1" dirty="0" smtClean="0">
                <a:latin typeface="+mn-ea"/>
              </a:rPr>
              <a:t>하여 실천에 잘 옮기지 못한다</a:t>
            </a:r>
            <a:r>
              <a:rPr lang="en-US" altLang="ko-KR" sz="1800" b="1" dirty="0" smtClean="0">
                <a:latin typeface="+mn-ea"/>
              </a:rPr>
              <a:t> </a:t>
            </a:r>
          </a:p>
          <a:p>
            <a:pPr>
              <a:lnSpc>
                <a:spcPts val="27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FF0000"/>
                </a:solidFill>
                <a:latin typeface="+mn-ea"/>
              </a:rPr>
              <a:t>건망증</a:t>
            </a:r>
            <a:r>
              <a:rPr lang="ko-KR" altLang="en-US" sz="1800" b="1" dirty="0" smtClean="0">
                <a:latin typeface="+mn-ea"/>
              </a:rPr>
              <a:t>이 심하다</a:t>
            </a:r>
            <a:r>
              <a:rPr lang="en-US" altLang="ko-KR" sz="1800" b="1" dirty="0" smtClean="0">
                <a:latin typeface="+mn-ea"/>
              </a:rPr>
              <a:t>/ </a:t>
            </a:r>
            <a:r>
              <a:rPr lang="ko-KR" altLang="en-US" sz="1800" b="1" dirty="0" smtClean="0">
                <a:latin typeface="+mn-ea"/>
              </a:rPr>
              <a:t>남에게 피해 받는 것을 싫어한다</a:t>
            </a:r>
            <a:endParaRPr lang="en-US" altLang="ko-KR" sz="1800" b="1" dirty="0" smtClean="0">
              <a:latin typeface="+mn-ea"/>
            </a:endParaRPr>
          </a:p>
          <a:p>
            <a:pPr>
              <a:lnSpc>
                <a:spcPts val="27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FF0000"/>
                </a:solidFill>
                <a:latin typeface="+mn-ea"/>
              </a:rPr>
              <a:t>단점이 없는 게 단점</a:t>
            </a:r>
            <a:r>
              <a:rPr lang="ko-KR" altLang="en-US" sz="1800" b="1" dirty="0" smtClean="0">
                <a:latin typeface="+mn-ea"/>
              </a:rPr>
              <a:t>이다</a:t>
            </a:r>
            <a:r>
              <a:rPr lang="en-US" altLang="ko-KR" sz="1800" b="1" dirty="0" smtClean="0">
                <a:latin typeface="+mn-ea"/>
              </a:rPr>
              <a:t>/ </a:t>
            </a:r>
            <a:r>
              <a:rPr lang="ko-KR" altLang="en-US" sz="1800" b="1" dirty="0" err="1" smtClean="0">
                <a:latin typeface="+mn-ea"/>
              </a:rPr>
              <a:t>팔랑귀다</a:t>
            </a:r>
            <a:r>
              <a:rPr lang="en-US" altLang="ko-KR" sz="1800" b="1" dirty="0" smtClean="0">
                <a:latin typeface="+mn-ea"/>
              </a:rPr>
              <a:t>/ </a:t>
            </a:r>
            <a:r>
              <a:rPr lang="ko-KR" altLang="en-US" sz="1800" b="1" dirty="0" smtClean="0">
                <a:latin typeface="+mn-ea"/>
              </a:rPr>
              <a:t>생각이 별로 없다</a:t>
            </a:r>
            <a:r>
              <a:rPr lang="en-US" altLang="ko-KR" sz="1800" b="1" dirty="0" smtClean="0">
                <a:latin typeface="+mn-ea"/>
              </a:rPr>
              <a:t> </a:t>
            </a:r>
          </a:p>
          <a:p>
            <a:pPr>
              <a:lnSpc>
                <a:spcPts val="27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FF0000"/>
                </a:solidFill>
                <a:latin typeface="+mn-ea"/>
              </a:rPr>
              <a:t>욱하는 성격</a:t>
            </a:r>
            <a:r>
              <a:rPr lang="ko-KR" altLang="en-US" sz="1800" b="1" dirty="0" smtClean="0">
                <a:latin typeface="+mn-ea"/>
              </a:rPr>
              <a:t>이 있다</a:t>
            </a:r>
            <a:r>
              <a:rPr lang="en-US" altLang="ko-KR" sz="1800" b="1" dirty="0" smtClean="0">
                <a:latin typeface="+mn-ea"/>
              </a:rPr>
              <a:t>/ </a:t>
            </a:r>
            <a:r>
              <a:rPr lang="ko-KR" altLang="en-US" sz="1800" b="1" dirty="0" smtClean="0">
                <a:latin typeface="+mn-ea"/>
              </a:rPr>
              <a:t>낯선 환경에 적응을 잘 못한다</a:t>
            </a:r>
            <a:endParaRPr lang="en-US" altLang="ko-KR" sz="1800" b="1" dirty="0" smtClean="0">
              <a:latin typeface="+mn-ea"/>
            </a:endParaRPr>
          </a:p>
          <a:p>
            <a:pPr>
              <a:lnSpc>
                <a:spcPts val="27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FF0000"/>
                </a:solidFill>
                <a:latin typeface="+mn-ea"/>
              </a:rPr>
              <a:t>대인기피증</a:t>
            </a:r>
            <a:r>
              <a:rPr lang="ko-KR" altLang="en-US" sz="1800" b="1" dirty="0" smtClean="0">
                <a:latin typeface="+mn-ea"/>
              </a:rPr>
              <a:t>이 있다</a:t>
            </a:r>
            <a:r>
              <a:rPr lang="en-US" altLang="ko-KR" sz="1800" b="1" dirty="0" smtClean="0">
                <a:latin typeface="+mn-ea"/>
              </a:rPr>
              <a:t>/ </a:t>
            </a:r>
            <a:r>
              <a:rPr lang="ko-KR" altLang="en-US" sz="1800" b="1" dirty="0" smtClean="0">
                <a:latin typeface="+mn-ea"/>
              </a:rPr>
              <a:t>이기적이다</a:t>
            </a:r>
            <a:r>
              <a:rPr lang="en-US" altLang="ko-KR" sz="1800" b="1" dirty="0" smtClean="0">
                <a:latin typeface="+mn-ea"/>
              </a:rPr>
              <a:t>/ </a:t>
            </a:r>
            <a:r>
              <a:rPr lang="ko-KR" altLang="en-US" sz="1800" b="1" dirty="0" smtClean="0">
                <a:solidFill>
                  <a:srgbClr val="FF0000"/>
                </a:solidFill>
                <a:latin typeface="+mn-ea"/>
              </a:rPr>
              <a:t>고집이 매우</a:t>
            </a:r>
            <a:r>
              <a:rPr lang="ko-KR" altLang="en-US" sz="1800" b="1" dirty="0" smtClean="0">
                <a:latin typeface="+mn-ea"/>
              </a:rPr>
              <a:t> 세다</a:t>
            </a:r>
            <a:r>
              <a:rPr lang="en-US" altLang="ko-KR" sz="1800" b="1" dirty="0" smtClean="0">
                <a:latin typeface="+mn-ea"/>
              </a:rPr>
              <a:t> </a:t>
            </a:r>
          </a:p>
          <a:p>
            <a:pPr>
              <a:lnSpc>
                <a:spcPts val="27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FF0000"/>
                </a:solidFill>
                <a:latin typeface="+mn-ea"/>
              </a:rPr>
              <a:t>거만</a:t>
            </a:r>
            <a:r>
              <a:rPr lang="ko-KR" altLang="en-US" sz="1800" b="1" dirty="0" smtClean="0">
                <a:latin typeface="+mn-ea"/>
              </a:rPr>
              <a:t>하다는 소릴 듣는다</a:t>
            </a:r>
            <a:r>
              <a:rPr lang="en-US" altLang="ko-KR" sz="1800" b="1" dirty="0" smtClean="0">
                <a:latin typeface="+mn-ea"/>
              </a:rPr>
              <a:t>/ </a:t>
            </a:r>
            <a:r>
              <a:rPr lang="ko-KR" altLang="en-US" sz="1800" b="1" dirty="0" smtClean="0">
                <a:latin typeface="+mn-ea"/>
              </a:rPr>
              <a:t>충동적이고 </a:t>
            </a:r>
            <a:r>
              <a:rPr lang="ko-KR" altLang="en-US" sz="1800" b="1" dirty="0" smtClean="0">
                <a:solidFill>
                  <a:srgbClr val="FF0000"/>
                </a:solidFill>
                <a:latin typeface="+mn-ea"/>
              </a:rPr>
              <a:t>즉흥적</a:t>
            </a:r>
            <a:r>
              <a:rPr lang="ko-KR" altLang="en-US" sz="1800" b="1" dirty="0" smtClean="0">
                <a:latin typeface="+mn-ea"/>
              </a:rPr>
              <a:t>이다</a:t>
            </a:r>
            <a:endParaRPr lang="en-US" altLang="ko-KR" sz="1800" b="1" dirty="0" smtClean="0">
              <a:latin typeface="+mn-ea"/>
            </a:endParaRPr>
          </a:p>
          <a:p>
            <a:pPr>
              <a:lnSpc>
                <a:spcPts val="27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>
                <a:solidFill>
                  <a:srgbClr val="FF0000"/>
                </a:solidFill>
                <a:latin typeface="+mn-ea"/>
              </a:rPr>
              <a:t>끈기가 부족</a:t>
            </a:r>
            <a:r>
              <a:rPr lang="ko-KR" altLang="en-US" sz="1800" b="1" dirty="0" smtClean="0">
                <a:latin typeface="+mn-ea"/>
              </a:rPr>
              <a:t>해 중도에 그만둘 때가 많다</a:t>
            </a:r>
            <a:r>
              <a:rPr lang="en-US" altLang="ko-KR" sz="1800" b="1" dirty="0" smtClean="0">
                <a:latin typeface="+mn-ea"/>
              </a:rPr>
              <a:t>/</a:t>
            </a:r>
            <a:r>
              <a:rPr lang="ko-KR" altLang="en-US" sz="1800" b="1" dirty="0" smtClean="0">
                <a:solidFill>
                  <a:srgbClr val="FF0000"/>
                </a:solidFill>
                <a:latin typeface="+mn-ea"/>
              </a:rPr>
              <a:t>감정기복</a:t>
            </a:r>
            <a:r>
              <a:rPr lang="ko-KR" altLang="en-US" sz="1800" b="1" dirty="0" smtClean="0">
                <a:latin typeface="+mn-ea"/>
              </a:rPr>
              <a:t>이 심하다</a:t>
            </a:r>
            <a:endParaRPr lang="ko-KR" altLang="en-US" sz="1800" b="1" dirty="0">
              <a:latin typeface="+mn-ea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871886" y="2492896"/>
            <a:ext cx="5516810" cy="375354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16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27584" y="367353"/>
            <a:ext cx="7437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 작성 포인트</a:t>
            </a:r>
            <a:endParaRPr lang="en-US" altLang="ko-KR" sz="3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259632" y="1268760"/>
            <a:ext cx="7272808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ko-KR" altLang="en-US" sz="2800" b="1" dirty="0" smtClean="0">
                <a:solidFill>
                  <a:srgbClr val="FF0000"/>
                </a:solidFill>
              </a:rPr>
              <a:t>성격의 장단점 작성법</a:t>
            </a:r>
            <a:r>
              <a:rPr lang="en-US" altLang="ko-KR" sz="2800" b="1" dirty="0" smtClean="0">
                <a:solidFill>
                  <a:srgbClr val="0000FF"/>
                </a:solidFill>
              </a:rPr>
              <a:t>(</a:t>
            </a:r>
            <a:r>
              <a:rPr lang="ko-KR" altLang="en-US" sz="2800" b="1" dirty="0" smtClean="0">
                <a:solidFill>
                  <a:srgbClr val="0000FF"/>
                </a:solidFill>
              </a:rPr>
              <a:t>단점 서술방법</a:t>
            </a:r>
            <a:r>
              <a:rPr lang="en-US" altLang="ko-KR" sz="2800" b="1" dirty="0" smtClean="0">
                <a:solidFill>
                  <a:srgbClr val="0000FF"/>
                </a:solidFill>
              </a:rPr>
              <a:t>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2" name="Rectangle 45"/>
          <p:cNvSpPr>
            <a:spLocks noChangeArrowheads="1"/>
          </p:cNvSpPr>
          <p:nvPr/>
        </p:nvSpPr>
        <p:spPr bwMode="auto">
          <a:xfrm>
            <a:off x="1835696" y="1855044"/>
            <a:ext cx="46085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20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개인의 </a:t>
            </a:r>
            <a:r>
              <a:rPr lang="ko-KR" altLang="en-US" sz="2000" dirty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성격과 직무의 적합도 파악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547664" y="2407916"/>
            <a:ext cx="6311949" cy="384628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400" b="1" dirty="0">
                <a:solidFill>
                  <a:srgbClr val="0000FF"/>
                </a:solidFill>
                <a:latin typeface="+mn-ea"/>
              </a:rPr>
              <a:t>단점이라면</a:t>
            </a:r>
            <a:r>
              <a:rPr lang="en-US" altLang="ko-KR" sz="2400" b="1" dirty="0">
                <a:solidFill>
                  <a:srgbClr val="0000FF"/>
                </a:solidFill>
                <a:latin typeface="+mn-ea"/>
              </a:rPr>
              <a:t>, ~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>
                <a:latin typeface="+mn-ea"/>
              </a:rPr>
              <a:t>      </a:t>
            </a:r>
            <a:r>
              <a:rPr lang="ko-KR" altLang="en-US" sz="2400" b="1" dirty="0">
                <a:latin typeface="+mn-ea"/>
              </a:rPr>
              <a:t>가끔 </a:t>
            </a:r>
            <a:r>
              <a:rPr lang="en-US" altLang="ko-KR" sz="2400" b="1" dirty="0">
                <a:latin typeface="+mn-ea"/>
              </a:rPr>
              <a:t>~</a:t>
            </a:r>
            <a:r>
              <a:rPr lang="ko-KR" altLang="en-US" sz="2400" b="1" dirty="0">
                <a:latin typeface="+mn-ea"/>
              </a:rPr>
              <a:t>할 때가 있다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      간혹 </a:t>
            </a:r>
            <a:r>
              <a:rPr lang="en-US" altLang="ko-KR" sz="2400" b="1" dirty="0">
                <a:latin typeface="+mn-ea"/>
              </a:rPr>
              <a:t>~</a:t>
            </a:r>
            <a:r>
              <a:rPr lang="ko-KR" altLang="en-US" sz="2400" b="1" dirty="0">
                <a:latin typeface="+mn-ea"/>
              </a:rPr>
              <a:t>하기도 한다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      </a:t>
            </a:r>
            <a:r>
              <a:rPr lang="en-US" altLang="ko-KR" sz="2400" b="1" dirty="0">
                <a:latin typeface="+mn-ea"/>
              </a:rPr>
              <a:t>~</a:t>
            </a:r>
            <a:r>
              <a:rPr lang="ko-KR" altLang="en-US" sz="2400" b="1" dirty="0">
                <a:latin typeface="+mn-ea"/>
              </a:rPr>
              <a:t>한 편이다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      다소 </a:t>
            </a:r>
            <a:r>
              <a:rPr lang="en-US" altLang="ko-KR" sz="2400" b="1" dirty="0">
                <a:latin typeface="+mn-ea"/>
              </a:rPr>
              <a:t>~</a:t>
            </a:r>
            <a:r>
              <a:rPr lang="ko-KR" altLang="en-US" sz="2400" b="1" dirty="0">
                <a:latin typeface="+mn-ea"/>
              </a:rPr>
              <a:t>하다 처럼 조심스러운 표현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      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자주 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~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한다’ </a:t>
            </a:r>
            <a:r>
              <a:rPr lang="en-US" altLang="ko-KR" sz="2400" b="1" dirty="0">
                <a:solidFill>
                  <a:srgbClr val="FF0000"/>
                </a:solidFill>
                <a:latin typeface="+mn-ea"/>
              </a:rPr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102179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27584" y="242064"/>
            <a:ext cx="7437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성격의 장단점 사례</a:t>
            </a:r>
            <a:endParaRPr lang="en-US" altLang="ko-KR" sz="28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23528" y="944136"/>
            <a:ext cx="8424936" cy="5509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fontAlgn="ctr"/>
            <a:r>
              <a:rPr lang="ko-KR" altLang="en-US" sz="1600" b="1" kern="0" dirty="0">
                <a:solidFill>
                  <a:srgbClr val="000000"/>
                </a:solidFill>
                <a:latin typeface="+mn-ea"/>
              </a:rPr>
              <a:t>사례 </a:t>
            </a:r>
            <a:r>
              <a:rPr lang="en-US" altLang="ko-KR" sz="1600" b="1" kern="0" dirty="0">
                <a:solidFill>
                  <a:srgbClr val="000000"/>
                </a:solidFill>
                <a:latin typeface="+mn-ea"/>
              </a:rPr>
              <a:t>#1</a:t>
            </a:r>
          </a:p>
          <a:p>
            <a:pPr algn="just" fontAlgn="ctr"/>
            <a:endParaRPr lang="ko-KR" altLang="en-US" sz="1600" b="1" dirty="0"/>
          </a:p>
          <a:p>
            <a:pPr algn="just" fontAlgn="ctr"/>
            <a:r>
              <a:rPr lang="ko-KR" altLang="en-US" sz="1600" u="sng" dirty="0" smtClean="0"/>
              <a:t>목표를 </a:t>
            </a:r>
            <a:r>
              <a:rPr lang="ko-KR" altLang="en-US" sz="1600" u="sng" dirty="0"/>
              <a:t>정하면 그것이 크든 작든 간에 </a:t>
            </a:r>
            <a:r>
              <a:rPr lang="ko-KR" altLang="en-US" sz="1600" u="sng" dirty="0">
                <a:solidFill>
                  <a:srgbClr val="0000FF"/>
                </a:solidFill>
              </a:rPr>
              <a:t>목표를 이루기 위하여 </a:t>
            </a:r>
            <a:r>
              <a:rPr lang="ko-KR" altLang="en-US" sz="1600" u="sng" dirty="0">
                <a:solidFill>
                  <a:srgbClr val="FF0000"/>
                </a:solidFill>
              </a:rPr>
              <a:t>후회하지 않을 만큼 노력</a:t>
            </a:r>
            <a:r>
              <a:rPr lang="ko-KR" altLang="en-US" sz="1600" u="sng" dirty="0"/>
              <a:t>을 합니다</a:t>
            </a:r>
            <a:r>
              <a:rPr lang="en-US" altLang="ko-KR" sz="1600" u="sng" dirty="0"/>
              <a:t>. </a:t>
            </a:r>
            <a:r>
              <a:rPr lang="ko-KR" altLang="en-US" sz="1600" dirty="0" smtClean="0"/>
              <a:t>군복무 때 저의 몸무게는 </a:t>
            </a:r>
            <a:r>
              <a:rPr lang="en-US" altLang="ko-KR" sz="1600" dirty="0" smtClean="0"/>
              <a:t>90kg</a:t>
            </a:r>
            <a:r>
              <a:rPr lang="ko-KR" altLang="en-US" sz="1600" dirty="0" smtClean="0"/>
              <a:t>이었습니다</a:t>
            </a:r>
            <a:r>
              <a:rPr lang="en-US" altLang="ko-KR" sz="1600" dirty="0" smtClean="0"/>
              <a:t>.</a:t>
            </a:r>
            <a:r>
              <a:rPr lang="ko-KR" altLang="en-US" sz="1600" dirty="0" smtClean="0"/>
              <a:t> 훈련이 힘들고 생활이 불편하여 </a:t>
            </a:r>
            <a:r>
              <a:rPr lang="ko-KR" altLang="en-US" sz="1600" dirty="0" smtClean="0">
                <a:solidFill>
                  <a:srgbClr val="FF0000"/>
                </a:solidFill>
              </a:rPr>
              <a:t>일병이 되던 날 </a:t>
            </a:r>
            <a:r>
              <a:rPr lang="ko-KR" altLang="en-US" sz="1600" dirty="0" smtClean="0">
                <a:solidFill>
                  <a:srgbClr val="0000FF"/>
                </a:solidFill>
              </a:rPr>
              <a:t>감량 목표 </a:t>
            </a:r>
            <a:r>
              <a:rPr lang="en-US" altLang="ko-KR" sz="1600" dirty="0" smtClean="0">
                <a:solidFill>
                  <a:srgbClr val="0000FF"/>
                </a:solidFill>
              </a:rPr>
              <a:t>20kg</a:t>
            </a:r>
            <a:r>
              <a:rPr lang="ko-KR" altLang="en-US" sz="1600" dirty="0" smtClean="0">
                <a:solidFill>
                  <a:srgbClr val="0000FF"/>
                </a:solidFill>
              </a:rPr>
              <a:t>을 설정</a:t>
            </a:r>
            <a:r>
              <a:rPr lang="ko-KR" altLang="en-US" sz="1600" dirty="0" smtClean="0"/>
              <a:t>하고 개인정비시간이 되면 하루도 빠짐없이 </a:t>
            </a:r>
            <a:r>
              <a:rPr lang="en-US" altLang="ko-KR" sz="1600" dirty="0" smtClean="0"/>
              <a:t>100</a:t>
            </a:r>
            <a:r>
              <a:rPr lang="ko-KR" altLang="en-US" sz="1600" dirty="0" smtClean="0"/>
              <a:t>분 정도를 운동하였습니다</a:t>
            </a:r>
            <a:r>
              <a:rPr lang="en-US" altLang="ko-KR" sz="1600" dirty="0" smtClean="0"/>
              <a:t>.</a:t>
            </a:r>
            <a:r>
              <a:rPr lang="ko-KR" altLang="en-US" sz="1600" dirty="0" smtClean="0"/>
              <a:t> </a:t>
            </a:r>
            <a:r>
              <a:rPr lang="en-US" altLang="ko-KR" sz="1600" dirty="0" smtClean="0">
                <a:solidFill>
                  <a:srgbClr val="FF0000"/>
                </a:solidFill>
              </a:rPr>
              <a:t>5</a:t>
            </a:r>
            <a:r>
              <a:rPr lang="ko-KR" altLang="en-US" sz="1600" dirty="0" smtClean="0">
                <a:solidFill>
                  <a:srgbClr val="FF0000"/>
                </a:solidFill>
              </a:rPr>
              <a:t>개월이 지난 후 몸무게는 </a:t>
            </a:r>
            <a:r>
              <a:rPr lang="en-US" altLang="ko-KR" sz="1600" dirty="0" smtClean="0">
                <a:solidFill>
                  <a:srgbClr val="0000FF"/>
                </a:solidFill>
              </a:rPr>
              <a:t>68kg</a:t>
            </a:r>
            <a:r>
              <a:rPr lang="ko-KR" altLang="en-US" sz="1600" dirty="0">
                <a:solidFill>
                  <a:srgbClr val="0000FF"/>
                </a:solidFill>
              </a:rPr>
              <a:t>까지 </a:t>
            </a:r>
            <a:r>
              <a:rPr lang="ko-KR" altLang="en-US" sz="1600" dirty="0" smtClean="0">
                <a:solidFill>
                  <a:srgbClr val="0000FF"/>
                </a:solidFill>
              </a:rPr>
              <a:t>내려갔습니다</a:t>
            </a:r>
            <a:r>
              <a:rPr lang="en-US" altLang="ko-KR" sz="1600" dirty="0" smtClean="0">
                <a:solidFill>
                  <a:srgbClr val="0000FF"/>
                </a:solidFill>
              </a:rPr>
              <a:t>. </a:t>
            </a:r>
            <a:r>
              <a:rPr lang="ko-KR" altLang="en-US" sz="1600" dirty="0" smtClean="0"/>
              <a:t>이 과정은 무척 힘들었지만</a:t>
            </a:r>
            <a:r>
              <a:rPr lang="en-US" altLang="ko-KR" sz="1600" dirty="0" smtClean="0"/>
              <a:t>, </a:t>
            </a:r>
            <a:r>
              <a:rPr lang="ko-KR" altLang="en-US" sz="1600" u="sng" dirty="0" smtClean="0"/>
              <a:t>목표를 </a:t>
            </a:r>
            <a:r>
              <a:rPr lang="ko-KR" altLang="en-US" sz="1600" u="sng" dirty="0"/>
              <a:t>세우고 포기하지 않고 </a:t>
            </a:r>
            <a:r>
              <a:rPr lang="ko-KR" altLang="en-US" sz="1600" u="sng" dirty="0">
                <a:solidFill>
                  <a:srgbClr val="FF0000"/>
                </a:solidFill>
              </a:rPr>
              <a:t>노력하면 반드시 그 대가는 돌아온다는 것을 </a:t>
            </a:r>
            <a:r>
              <a:rPr lang="ko-KR" altLang="en-US" sz="1600" u="sng" dirty="0" smtClean="0">
                <a:solidFill>
                  <a:srgbClr val="FF0000"/>
                </a:solidFill>
              </a:rPr>
              <a:t>깨닫는 계기</a:t>
            </a:r>
            <a:r>
              <a:rPr lang="ko-KR" altLang="en-US" sz="1600" u="sng" dirty="0" smtClean="0"/>
              <a:t>가 되었고</a:t>
            </a:r>
            <a:r>
              <a:rPr lang="en-US" altLang="ko-KR" sz="1600" u="sng" dirty="0" smtClean="0"/>
              <a:t>, </a:t>
            </a:r>
            <a:r>
              <a:rPr lang="ko-KR" altLang="en-US" sz="1600" u="sng" dirty="0" smtClean="0">
                <a:solidFill>
                  <a:srgbClr val="FF0000"/>
                </a:solidFill>
              </a:rPr>
              <a:t>목표를 </a:t>
            </a:r>
            <a:r>
              <a:rPr lang="ko-KR" altLang="en-US" sz="1600" u="sng" dirty="0">
                <a:solidFill>
                  <a:srgbClr val="FF0000"/>
                </a:solidFill>
              </a:rPr>
              <a:t>달성하기 위해서는 어떻게 해야 되는지</a:t>
            </a:r>
            <a:r>
              <a:rPr lang="ko-KR" altLang="en-US" sz="1600" u="sng" dirty="0"/>
              <a:t>에 대한 세부적인 계획을 세우는 것도 중요하다는 것을 </a:t>
            </a:r>
            <a:r>
              <a:rPr lang="ko-KR" altLang="en-US" sz="1600" u="sng" dirty="0">
                <a:solidFill>
                  <a:srgbClr val="0000FF"/>
                </a:solidFill>
              </a:rPr>
              <a:t>알게 되었습니다</a:t>
            </a:r>
            <a:r>
              <a:rPr lang="en-US" altLang="ko-KR" sz="1600" dirty="0">
                <a:solidFill>
                  <a:srgbClr val="0000FF"/>
                </a:solidFill>
              </a:rPr>
              <a:t>. </a:t>
            </a:r>
            <a:r>
              <a:rPr lang="ko-KR" altLang="en-US" sz="1600" dirty="0"/>
              <a:t>또 무엇을 하든지 포기하지 않고 끝까지 도전해보는 습성을 기르게 되었습니다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이렇듯 열정과 끈기를 가지고 도전하는 정신이 </a:t>
            </a:r>
            <a:r>
              <a:rPr lang="ko-KR" altLang="en-US" sz="1600" dirty="0" smtClean="0"/>
              <a:t>강하다 보니 </a:t>
            </a:r>
            <a:r>
              <a:rPr lang="ko-KR" altLang="en-US" sz="1600" dirty="0" smtClean="0">
                <a:solidFill>
                  <a:srgbClr val="0000FF"/>
                </a:solidFill>
              </a:rPr>
              <a:t>일 처리를 </a:t>
            </a:r>
            <a:r>
              <a:rPr lang="ko-KR" altLang="en-US" sz="1600" dirty="0">
                <a:solidFill>
                  <a:srgbClr val="0000FF"/>
                </a:solidFill>
              </a:rPr>
              <a:t>대범하게 처리하는 경우도</a:t>
            </a:r>
            <a:r>
              <a:rPr lang="ko-KR" altLang="en-US" sz="1600" dirty="0"/>
              <a:t> 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그 과정에서 일이 잘못될 수도 있을 것이라고 생각되어 </a:t>
            </a:r>
            <a:r>
              <a:rPr lang="ko-KR" altLang="en-US" sz="1600" dirty="0">
                <a:solidFill>
                  <a:srgbClr val="0000FF"/>
                </a:solidFill>
              </a:rPr>
              <a:t>이 점을 보완하고자 </a:t>
            </a:r>
            <a:r>
              <a:rPr lang="ko-KR" altLang="en-US" sz="1600" dirty="0" smtClean="0"/>
              <a:t>일하기 전에 보다 더 </a:t>
            </a:r>
            <a:r>
              <a:rPr lang="ko-KR" altLang="en-US" sz="1600" dirty="0"/>
              <a:t>신중하게 생각하고 실행 계획을 더 다듬는 습관을 기르고 있습니다</a:t>
            </a:r>
            <a:r>
              <a:rPr lang="en-US" altLang="ko-KR" sz="1600" dirty="0" smtClean="0"/>
              <a:t>.</a:t>
            </a:r>
          </a:p>
          <a:p>
            <a:pPr algn="just" fontAlgn="ctr"/>
            <a:endParaRPr lang="en-US" altLang="ko-KR" sz="1600" dirty="0"/>
          </a:p>
          <a:p>
            <a:pPr algn="just" fontAlgn="ctr"/>
            <a:r>
              <a:rPr lang="ko-KR" altLang="en-US" sz="1600" b="1" kern="0" dirty="0">
                <a:solidFill>
                  <a:srgbClr val="000000"/>
                </a:solidFill>
                <a:latin typeface="+mn-ea"/>
              </a:rPr>
              <a:t>사례 </a:t>
            </a:r>
            <a:r>
              <a:rPr lang="en-US" altLang="ko-KR" sz="1600" b="1" kern="0" dirty="0" smtClean="0">
                <a:solidFill>
                  <a:srgbClr val="000000"/>
                </a:solidFill>
                <a:latin typeface="+mn-ea"/>
              </a:rPr>
              <a:t>#2</a:t>
            </a:r>
            <a:endParaRPr lang="en-US" altLang="ko-KR" sz="1600" b="1" kern="0" dirty="0">
              <a:solidFill>
                <a:srgbClr val="000000"/>
              </a:solidFill>
              <a:latin typeface="+mn-ea"/>
            </a:endParaRPr>
          </a:p>
          <a:p>
            <a:pPr algn="just" fontAlgn="ctr"/>
            <a:endParaRPr lang="en-US" altLang="ko-KR" sz="1600" dirty="0" smtClean="0"/>
          </a:p>
          <a:p>
            <a:pPr algn="just" fontAlgn="ctr"/>
            <a:r>
              <a:rPr lang="ko-KR" altLang="en-US" sz="1600" dirty="0"/>
              <a:t>가장 큰 </a:t>
            </a:r>
            <a:r>
              <a:rPr lang="ko-KR" altLang="en-US" sz="1600" dirty="0">
                <a:solidFill>
                  <a:srgbClr val="FF0000"/>
                </a:solidFill>
              </a:rPr>
              <a:t>강점은 적응력입니다</a:t>
            </a:r>
            <a:r>
              <a:rPr lang="en-US" altLang="ko-KR" sz="1600" dirty="0"/>
              <a:t>. </a:t>
            </a:r>
            <a:r>
              <a:rPr lang="ko-KR" altLang="en-US" sz="1600" dirty="0"/>
              <a:t>어떠한 상황에 놓여 있더라도 반나절도 안 되어 </a:t>
            </a:r>
            <a:r>
              <a:rPr lang="ko-KR" altLang="en-US" sz="1600" dirty="0">
                <a:solidFill>
                  <a:srgbClr val="FF0000"/>
                </a:solidFill>
              </a:rPr>
              <a:t>적응하는 친화력이 가장 큰 무기입니다</a:t>
            </a:r>
            <a:r>
              <a:rPr lang="en-US" altLang="ko-KR" sz="1600" dirty="0">
                <a:solidFill>
                  <a:srgbClr val="FF0000"/>
                </a:solidFill>
              </a:rPr>
              <a:t>. </a:t>
            </a:r>
            <a:r>
              <a:rPr lang="ko-KR" altLang="en-US" sz="1600" dirty="0"/>
              <a:t>고</a:t>
            </a:r>
            <a:r>
              <a:rPr lang="en-US" altLang="ko-KR" sz="1600" dirty="0"/>
              <a:t>3 </a:t>
            </a:r>
            <a:r>
              <a:rPr lang="ko-KR" altLang="en-US" sz="1600" dirty="0"/>
              <a:t>수능이 끝나고 인도로 배낭여행을 간 적이 있는데 비행기 옆자리에 터빈을 쓴 인도인과 같이 앉게 되었습니다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인도인을 본 신기함에 말을 걸게 되었고</a:t>
            </a:r>
            <a:r>
              <a:rPr lang="en-US" altLang="ko-KR" sz="1600" dirty="0"/>
              <a:t>, </a:t>
            </a:r>
            <a:r>
              <a:rPr lang="ko-KR" altLang="en-US" sz="1600" dirty="0"/>
              <a:t>그 결과 그 인도인이 자신의 집에 초대하여 같이 밥도 먹고 여행지를 추천해준 적도 있었습니다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제가 가진 이런 </a:t>
            </a:r>
            <a:r>
              <a:rPr lang="ko-KR" altLang="en-US" sz="1600" dirty="0">
                <a:solidFill>
                  <a:srgbClr val="FF0000"/>
                </a:solidFill>
              </a:rPr>
              <a:t>적응능력은 쉽게 휩쓸린다는 약점</a:t>
            </a:r>
            <a:r>
              <a:rPr lang="ko-KR" altLang="en-US" sz="1600" dirty="0"/>
              <a:t>이 될 수도 있지만 귀사에 입사를 한 후 어떠한 상황이 주어지더라도 </a:t>
            </a:r>
            <a:r>
              <a:rPr lang="ko-KR" altLang="en-US" sz="1600" dirty="0">
                <a:solidFill>
                  <a:srgbClr val="FF0000"/>
                </a:solidFill>
              </a:rPr>
              <a:t>슬기롭게 극복할 수 있는 강점으로 작용할 것입니다</a:t>
            </a:r>
            <a:r>
              <a:rPr lang="en-US" altLang="ko-KR" sz="1600" dirty="0"/>
              <a:t>.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9658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27584" y="188640"/>
            <a:ext cx="7437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 작성 포인트</a:t>
            </a:r>
            <a:endParaRPr lang="en-US" altLang="ko-KR" sz="3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259632" y="1052736"/>
            <a:ext cx="4968552" cy="5715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ko-KR" altLang="en-US" sz="2800" b="1" dirty="0" smtClean="0">
                <a:solidFill>
                  <a:srgbClr val="FF0000"/>
                </a:solidFill>
              </a:rPr>
              <a:t>지원동기 작성법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Rectangle 45"/>
          <p:cNvSpPr>
            <a:spLocks noChangeArrowheads="1"/>
          </p:cNvSpPr>
          <p:nvPr/>
        </p:nvSpPr>
        <p:spPr bwMode="auto">
          <a:xfrm>
            <a:off x="1835696" y="1609157"/>
            <a:ext cx="46085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20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회사에 대한 관심도</a:t>
            </a:r>
            <a:endParaRPr lang="ko-KR" altLang="en-US" sz="2000" dirty="0">
              <a:solidFill>
                <a:srgbClr val="660033"/>
              </a:solidFill>
              <a:latin typeface="HY울릉도B" pitchFamily="18" charset="-127"/>
              <a:ea typeface="HY울릉도B" pitchFamily="18" charset="-127"/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1347986" y="2132856"/>
            <a:ext cx="7400478" cy="424847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spc="-150" dirty="0" smtClean="0">
                <a:latin typeface="+mn-ea"/>
              </a:rPr>
              <a:t>기업의 </a:t>
            </a:r>
            <a:r>
              <a:rPr lang="ko-KR" altLang="en-US" sz="2000" b="1" spc="-150" dirty="0" smtClean="0">
                <a:solidFill>
                  <a:srgbClr val="0000FF"/>
                </a:solidFill>
                <a:latin typeface="+mn-ea"/>
              </a:rPr>
              <a:t>직무와 연결된 나만의 </a:t>
            </a:r>
            <a:r>
              <a:rPr lang="ko-KR" altLang="en-US" sz="2000" b="1" spc="-150" dirty="0" err="1" smtClean="0">
                <a:solidFill>
                  <a:srgbClr val="0000FF"/>
                </a:solidFill>
                <a:latin typeface="+mn-ea"/>
              </a:rPr>
              <a:t>비젼</a:t>
            </a:r>
            <a:endParaRPr lang="en-US" altLang="ko-KR" sz="2000" b="1" spc="-150" dirty="0" smtClean="0">
              <a:solidFill>
                <a:srgbClr val="0000FF"/>
              </a:solidFill>
              <a:latin typeface="+mn-ea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spc="-150" dirty="0" smtClean="0">
                <a:latin typeface="+mn-ea"/>
              </a:rPr>
              <a:t>기업에 기여할 수 있는 목표나 전략을 구체적으로 제시</a:t>
            </a:r>
            <a:endParaRPr lang="en-US" altLang="ko-KR" sz="2000" b="1" spc="-150" dirty="0" smtClean="0">
              <a:latin typeface="+mn-ea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spc="-150" dirty="0" smtClean="0">
                <a:solidFill>
                  <a:srgbClr val="0000FF"/>
                </a:solidFill>
                <a:latin typeface="+mn-ea"/>
              </a:rPr>
              <a:t>회사를 택한</a:t>
            </a:r>
            <a:r>
              <a:rPr lang="ko-KR" altLang="en-US" sz="2000" b="1" spc="-150" dirty="0" smtClean="0">
                <a:latin typeface="+mn-ea"/>
              </a:rPr>
              <a:t> 이유와 </a:t>
            </a:r>
            <a:r>
              <a:rPr lang="ko-KR" altLang="en-US" sz="2000" b="1" spc="-150" dirty="0" smtClean="0">
                <a:solidFill>
                  <a:srgbClr val="0000FF"/>
                </a:solidFill>
                <a:latin typeface="+mn-ea"/>
              </a:rPr>
              <a:t>자신이 채용</a:t>
            </a:r>
            <a:r>
              <a:rPr lang="ko-KR" altLang="en-US" sz="2000" b="1" spc="-150" dirty="0" smtClean="0">
                <a:latin typeface="+mn-ea"/>
              </a:rPr>
              <a:t>되어야 하는 이유를 설명</a:t>
            </a:r>
            <a:endParaRPr lang="en-US" altLang="ko-KR" sz="2000" b="1" spc="-150" dirty="0" smtClean="0">
              <a:latin typeface="+mn-ea"/>
            </a:endParaRP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b="1" spc="-150" dirty="0" smtClean="0">
                <a:latin typeface="+mn-ea"/>
              </a:rPr>
              <a:t>    </a:t>
            </a:r>
            <a:r>
              <a:rPr lang="en-US" altLang="ko-KR" sz="2000" b="1" dirty="0" smtClean="0">
                <a:latin typeface="+mn-ea"/>
              </a:rPr>
              <a:t>- </a:t>
            </a:r>
            <a:r>
              <a:rPr lang="ko-KR" altLang="en-US" sz="2000" b="1" dirty="0" smtClean="0">
                <a:latin typeface="+mn-ea"/>
              </a:rPr>
              <a:t>회사에 대한 </a:t>
            </a:r>
            <a:r>
              <a:rPr lang="ko-KR" altLang="en-US" sz="2000" b="1" dirty="0" smtClean="0">
                <a:solidFill>
                  <a:srgbClr val="0000FF"/>
                </a:solidFill>
                <a:latin typeface="+mn-ea"/>
              </a:rPr>
              <a:t>애정</a:t>
            </a:r>
            <a:r>
              <a:rPr lang="en-US" altLang="ko-KR" sz="2000" b="1" dirty="0" smtClean="0">
                <a:latin typeface="+mn-ea"/>
              </a:rPr>
              <a:t>, </a:t>
            </a:r>
            <a:r>
              <a:rPr lang="ko-KR" altLang="en-US" sz="2000" b="1" dirty="0" smtClean="0">
                <a:latin typeface="+mn-ea"/>
              </a:rPr>
              <a:t>입사하고자 하는 </a:t>
            </a:r>
            <a:r>
              <a:rPr lang="ko-KR" altLang="en-US" sz="2000" b="1" dirty="0" smtClean="0">
                <a:solidFill>
                  <a:srgbClr val="0000FF"/>
                </a:solidFill>
                <a:latin typeface="+mn-ea"/>
              </a:rPr>
              <a:t>열정</a:t>
            </a:r>
            <a:r>
              <a:rPr lang="ko-KR" altLang="en-US" sz="2000" b="1" dirty="0" smtClean="0">
                <a:latin typeface="+mn-ea"/>
              </a:rPr>
              <a:t>을 쓸 것</a:t>
            </a:r>
            <a:r>
              <a:rPr lang="en-US" altLang="ko-KR" sz="2000" b="1" dirty="0" smtClean="0">
                <a:latin typeface="+mn-ea"/>
              </a:rPr>
              <a:t>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b="1" spc="-150" dirty="0" smtClean="0"/>
              <a:t>    - </a:t>
            </a:r>
            <a:r>
              <a:rPr lang="ko-KR" altLang="en-US" sz="2000" b="1" spc="-150" dirty="0" smtClean="0"/>
              <a:t>자신의 </a:t>
            </a:r>
            <a:r>
              <a:rPr lang="ko-KR" altLang="en-US" sz="2000" b="1" spc="-150" dirty="0" smtClean="0">
                <a:solidFill>
                  <a:srgbClr val="0000FF"/>
                </a:solidFill>
              </a:rPr>
              <a:t>역량을 발휘해 성과</a:t>
            </a:r>
            <a:r>
              <a:rPr lang="ko-KR" altLang="en-US" sz="2000" b="1" spc="-150" dirty="0" smtClean="0"/>
              <a:t>를 나타낼 수 있음을 강조</a:t>
            </a:r>
            <a:endParaRPr lang="en-US" altLang="ko-KR" sz="2000" b="1" spc="-150" dirty="0" smtClean="0"/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b="1" spc="-150" dirty="0" smtClean="0"/>
              <a:t>    - </a:t>
            </a:r>
            <a:r>
              <a:rPr lang="ko-KR" altLang="en-US" sz="2000" b="1" spc="-150" dirty="0" smtClean="0"/>
              <a:t>회사의 </a:t>
            </a:r>
            <a:r>
              <a:rPr lang="ko-KR" altLang="en-US" sz="2000" b="1" spc="-150" dirty="0" smtClean="0">
                <a:solidFill>
                  <a:srgbClr val="0000FF"/>
                </a:solidFill>
              </a:rPr>
              <a:t>비전 달성을 위해 기여</a:t>
            </a:r>
            <a:r>
              <a:rPr lang="ko-KR" altLang="en-US" sz="2000" b="1" spc="-150" dirty="0" smtClean="0"/>
              <a:t>할 수 있는 부분을 강조</a:t>
            </a:r>
            <a:endParaRPr lang="en-US" altLang="ko-KR" sz="2000" b="1" spc="-150" dirty="0" smtClean="0"/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b="1" spc="-150" dirty="0" smtClean="0"/>
              <a:t>    - </a:t>
            </a:r>
            <a:r>
              <a:rPr lang="ko-KR" altLang="en-US" sz="2000" b="1" spc="-150" dirty="0" smtClean="0">
                <a:solidFill>
                  <a:srgbClr val="0000FF"/>
                </a:solidFill>
              </a:rPr>
              <a:t>지원 직무</a:t>
            </a:r>
            <a:r>
              <a:rPr lang="ko-KR" altLang="en-US" sz="2000" b="1" spc="-150" dirty="0" smtClean="0"/>
              <a:t>에 자신이 </a:t>
            </a:r>
            <a:r>
              <a:rPr lang="ko-KR" altLang="en-US" sz="2000" b="1" spc="-150" dirty="0" smtClean="0">
                <a:solidFill>
                  <a:srgbClr val="0000FF"/>
                </a:solidFill>
              </a:rPr>
              <a:t>적합</a:t>
            </a:r>
            <a:r>
              <a:rPr lang="ko-KR" altLang="en-US" sz="2000" b="1" spc="-150" dirty="0" smtClean="0"/>
              <a:t>하다고 생각하는 이유를 쓸 것</a:t>
            </a:r>
            <a:endParaRPr lang="en-US" altLang="ko-KR" sz="2000" b="1" spc="-15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홈페이지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인재상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경영이념 등</a:t>
            </a:r>
            <a:r>
              <a:rPr lang="en-US" altLang="ko-KR" sz="2000" b="1" dirty="0" smtClean="0"/>
              <a:t>), </a:t>
            </a:r>
            <a:r>
              <a:rPr lang="ko-KR" altLang="en-US" sz="2000" b="1" dirty="0" smtClean="0"/>
              <a:t>관련기사 등 꼼꼼히 검색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5821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27584" y="236487"/>
            <a:ext cx="7437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지원동기 사례</a:t>
            </a:r>
            <a:endParaRPr lang="en-US" altLang="ko-KR" sz="28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73021" y="1182762"/>
            <a:ext cx="8352928" cy="5016758"/>
          </a:xfrm>
          <a:prstGeom prst="rect">
            <a:avLst/>
          </a:prstGeom>
          <a:ln>
            <a:solidFill>
              <a:srgbClr val="3366FF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600" b="1" kern="0" dirty="0">
                <a:solidFill>
                  <a:srgbClr val="000000"/>
                </a:solidFill>
                <a:latin typeface="+mn-ea"/>
              </a:rPr>
              <a:t>사례 </a:t>
            </a:r>
            <a:r>
              <a:rPr lang="en-US" altLang="ko-KR" sz="1600" b="1" kern="0" dirty="0" smtClean="0">
                <a:solidFill>
                  <a:srgbClr val="000000"/>
                </a:solidFill>
                <a:latin typeface="+mn-ea"/>
              </a:rPr>
              <a:t>#1</a:t>
            </a:r>
            <a:endParaRPr lang="en-US" altLang="ko-KR" sz="1600" b="1" kern="0" dirty="0">
              <a:solidFill>
                <a:srgbClr val="000000"/>
              </a:solidFill>
              <a:latin typeface="+mn-ea"/>
            </a:endParaRPr>
          </a:p>
          <a:p>
            <a:pPr algn="just" fontAlgn="base"/>
            <a:endParaRPr lang="en-US" altLang="ko-KR" sz="1600" dirty="0" smtClean="0"/>
          </a:p>
          <a:p>
            <a:pPr algn="just" fontAlgn="base"/>
            <a:r>
              <a:rPr lang="ko-KR" altLang="en-US" sz="1600" dirty="0" smtClean="0"/>
              <a:t>  </a:t>
            </a:r>
            <a:r>
              <a:rPr lang="ko-KR" altLang="en-US" sz="1600" dirty="0" smtClean="0">
                <a:solidFill>
                  <a:srgbClr val="0000FF"/>
                </a:solidFill>
              </a:rPr>
              <a:t>대학생활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중 여러 가지 간단한 </a:t>
            </a:r>
            <a:r>
              <a:rPr lang="ko-KR" altLang="en-US" sz="1600" dirty="0">
                <a:solidFill>
                  <a:srgbClr val="0000FF"/>
                </a:solidFill>
              </a:rPr>
              <a:t>프로그램들을 제작하며 </a:t>
            </a:r>
            <a:r>
              <a:rPr lang="ko-KR" altLang="en-US" sz="1600" dirty="0">
                <a:solidFill>
                  <a:srgbClr val="FF0000"/>
                </a:solidFill>
              </a:rPr>
              <a:t>어릴 적 꿈을 이룬 것 같은 기분이 들었습니다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  <a:r>
              <a:rPr lang="en-US" altLang="ko-KR" sz="1600" dirty="0"/>
              <a:t> </a:t>
            </a:r>
            <a:r>
              <a:rPr lang="ko-KR" altLang="en-US" sz="1600" dirty="0"/>
              <a:t>제 머릿속의 생각을 여과 없이 구현해내는 </a:t>
            </a:r>
            <a:r>
              <a:rPr lang="ko-KR" altLang="en-US" sz="1600" dirty="0">
                <a:solidFill>
                  <a:srgbClr val="0000FF"/>
                </a:solidFill>
              </a:rPr>
              <a:t>일이 엄청나게 매력적</a:t>
            </a:r>
            <a:r>
              <a:rPr lang="ko-KR" altLang="en-US" sz="1600" dirty="0"/>
              <a:t>으로 다가왔고 </a:t>
            </a:r>
            <a:r>
              <a:rPr lang="ko-KR" altLang="en-US" sz="1600" dirty="0">
                <a:solidFill>
                  <a:srgbClr val="FF0000"/>
                </a:solidFill>
              </a:rPr>
              <a:t>꼭 어떤 분야의 </a:t>
            </a:r>
            <a:r>
              <a:rPr lang="ko-KR" altLang="en-US" sz="1600" dirty="0">
                <a:solidFill>
                  <a:srgbClr val="0000FF"/>
                </a:solidFill>
              </a:rPr>
              <a:t>프로그래머가 되어야겠다는 다짐</a:t>
            </a:r>
            <a:r>
              <a:rPr lang="ko-KR" altLang="en-US" sz="1600" dirty="0">
                <a:solidFill>
                  <a:srgbClr val="FF0000"/>
                </a:solidFill>
              </a:rPr>
              <a:t>을 하게 만들었습니다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하지만 주변의 말씀을 들어보면 국내 개발자들은 매일 밤을 지새우고 항상 끼니를 놓치며 늘 피곤해한다는 걱정의 시선들을 </a:t>
            </a:r>
            <a:r>
              <a:rPr lang="ko-KR" altLang="en-US" sz="1600" dirty="0" smtClean="0"/>
              <a:t>받다 보니 </a:t>
            </a:r>
            <a:r>
              <a:rPr lang="ko-KR" altLang="en-US" sz="1600" dirty="0"/>
              <a:t>차츰 걱정이 </a:t>
            </a:r>
            <a:r>
              <a:rPr lang="ko-KR" altLang="en-US" sz="1600" dirty="0" smtClean="0"/>
              <a:t>되기도 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그렇게 가벼운 걱정이 진지한 고민으로 다가올 무렵 </a:t>
            </a:r>
            <a:r>
              <a:rPr lang="en-US" altLang="ko-KR" sz="1600" u="sng" dirty="0"/>
              <a:t>(</a:t>
            </a:r>
            <a:r>
              <a:rPr lang="ko-KR" altLang="en-US" sz="1600" u="sng" dirty="0"/>
              <a:t>주</a:t>
            </a:r>
            <a:r>
              <a:rPr lang="en-US" altLang="ko-KR" sz="1600" u="sng" dirty="0" smtClean="0"/>
              <a:t>)OO</a:t>
            </a:r>
            <a:r>
              <a:rPr lang="ko-KR" altLang="en-US" sz="1600" u="sng" dirty="0" smtClean="0"/>
              <a:t>의 </a:t>
            </a:r>
            <a:r>
              <a:rPr lang="ko-KR" altLang="en-US" sz="1600" u="sng" dirty="0"/>
              <a:t>구인공고를 보게 되었고</a:t>
            </a:r>
            <a:r>
              <a:rPr lang="ko-KR" altLang="en-US" sz="1600" u="sng" dirty="0">
                <a:solidFill>
                  <a:srgbClr val="FF0000"/>
                </a:solidFill>
              </a:rPr>
              <a:t> ‘재미나고 책임감 있는 즐거운 개발자’ 라는 </a:t>
            </a:r>
            <a:r>
              <a:rPr lang="ko-KR" altLang="en-US" sz="1600" u="sng" dirty="0">
                <a:solidFill>
                  <a:srgbClr val="0000FF"/>
                </a:solidFill>
              </a:rPr>
              <a:t>귀사의 슬로건을 보았습니다</a:t>
            </a:r>
            <a:r>
              <a:rPr lang="en-US" altLang="ko-KR" sz="1600" u="sng" dirty="0">
                <a:solidFill>
                  <a:srgbClr val="0000FF"/>
                </a:solidFill>
              </a:rPr>
              <a:t>.</a:t>
            </a:r>
            <a:endParaRPr lang="ko-KR" altLang="en-US" sz="1600" u="sng" dirty="0">
              <a:solidFill>
                <a:srgbClr val="0000FF"/>
              </a:solidFill>
            </a:endParaRPr>
          </a:p>
          <a:p>
            <a:pPr algn="just" fontAlgn="base"/>
            <a:r>
              <a:rPr lang="ko-KR" altLang="en-US" sz="1600" dirty="0" smtClean="0"/>
              <a:t>  저는 </a:t>
            </a:r>
            <a:r>
              <a:rPr lang="ko-KR" altLang="en-US" sz="1600" dirty="0">
                <a:solidFill>
                  <a:srgbClr val="FF0000"/>
                </a:solidFill>
              </a:rPr>
              <a:t>새로운 사람을 만나는 것을 좋아하고 색다른 환경이 주는 낯선 느낌을 즐기며 유쾌한 순간을 오래도록 기억합니다</a:t>
            </a:r>
            <a:r>
              <a:rPr lang="en-US" altLang="ko-KR" sz="1600" dirty="0">
                <a:solidFill>
                  <a:srgbClr val="FF0000"/>
                </a:solidFill>
              </a:rPr>
              <a:t>. </a:t>
            </a:r>
            <a:r>
              <a:rPr lang="ko-KR" altLang="en-US" sz="1600" dirty="0"/>
              <a:t>그렇기에 프로그램 개발에 흥미를 느껴 개발자로의 직업에 관심을 가지면서도 마음 한 구석에서는 제가 다녀야 할 직장의 삭막하고 무거운 분위기를 감당해야만 하는 것에 상당한 스트레스를 받았습니다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이처럼 </a:t>
            </a:r>
            <a:r>
              <a:rPr lang="ko-KR" altLang="en-US" sz="1600" dirty="0">
                <a:solidFill>
                  <a:srgbClr val="FF0000"/>
                </a:solidFill>
              </a:rPr>
              <a:t>조금 소심하기도 하지만 상당히 활발한 성격을 지니고 있는 저는 지루한 인생을 두려워합니다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프로그램 개발이라는 활동을 좋아하지만 아마 회사의 강한 구속을 받은 채 개발을 한다면 같은 시간을 일하더라도 상당히 힘겨울 겁니다</a:t>
            </a:r>
            <a:r>
              <a:rPr lang="en-US" altLang="ko-KR" sz="1600" dirty="0"/>
              <a:t>. </a:t>
            </a:r>
            <a:r>
              <a:rPr lang="ko-KR" altLang="en-US" sz="1600" dirty="0"/>
              <a:t>하지만 </a:t>
            </a:r>
            <a:r>
              <a:rPr lang="ko-KR" altLang="en-US" sz="1600" dirty="0">
                <a:solidFill>
                  <a:srgbClr val="0000FF"/>
                </a:solidFill>
              </a:rPr>
              <a:t>귀사의 ‘책임근무제’를 보는 순간</a:t>
            </a:r>
            <a:r>
              <a:rPr lang="ko-KR" altLang="en-US" sz="1600" dirty="0">
                <a:solidFill>
                  <a:srgbClr val="FF0000"/>
                </a:solidFill>
              </a:rPr>
              <a:t> 반드시 입사를 </a:t>
            </a:r>
            <a:r>
              <a:rPr lang="ko-KR" altLang="en-US" sz="1600" dirty="0" smtClean="0">
                <a:solidFill>
                  <a:srgbClr val="FF0000"/>
                </a:solidFill>
              </a:rPr>
              <a:t>해야겠다는 </a:t>
            </a:r>
            <a:r>
              <a:rPr lang="ko-KR" altLang="en-US" sz="1600" dirty="0">
                <a:solidFill>
                  <a:srgbClr val="FF0000"/>
                </a:solidFill>
              </a:rPr>
              <a:t>강한 의지가 부풀어 올랐습니다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  <a:p>
            <a:pPr algn="just" fontAlgn="base"/>
            <a:r>
              <a:rPr lang="ko-KR" altLang="en-US" sz="1600" dirty="0" smtClean="0"/>
              <a:t>  </a:t>
            </a:r>
            <a:r>
              <a:rPr lang="ko-KR" altLang="en-US" sz="1600" dirty="0" smtClean="0">
                <a:solidFill>
                  <a:srgbClr val="0000FF"/>
                </a:solidFill>
              </a:rPr>
              <a:t>저는 </a:t>
            </a:r>
            <a:r>
              <a:rPr lang="ko-KR" altLang="en-US" sz="1600" dirty="0">
                <a:solidFill>
                  <a:srgbClr val="0000FF"/>
                </a:solidFill>
              </a:rPr>
              <a:t>이미 </a:t>
            </a:r>
            <a:r>
              <a:rPr lang="ko-KR" altLang="en-US" sz="1600" dirty="0" smtClean="0">
                <a:solidFill>
                  <a:srgbClr val="0000FF"/>
                </a:solidFill>
              </a:rPr>
              <a:t>㈜</a:t>
            </a:r>
            <a:r>
              <a:rPr lang="en-US" altLang="ko-KR" sz="1600" dirty="0" smtClean="0">
                <a:solidFill>
                  <a:srgbClr val="0000FF"/>
                </a:solidFill>
              </a:rPr>
              <a:t>OO</a:t>
            </a:r>
            <a:r>
              <a:rPr lang="ko-KR" altLang="en-US" sz="1600" dirty="0" smtClean="0">
                <a:solidFill>
                  <a:srgbClr val="0000FF"/>
                </a:solidFill>
              </a:rPr>
              <a:t>의 </a:t>
            </a:r>
            <a:r>
              <a:rPr lang="ko-KR" altLang="en-US" sz="1600" dirty="0">
                <a:solidFill>
                  <a:srgbClr val="0000FF"/>
                </a:solidFill>
              </a:rPr>
              <a:t>슬로건에 반했습니다</a:t>
            </a:r>
            <a:r>
              <a:rPr lang="en-US" altLang="ko-KR" sz="1600" dirty="0">
                <a:solidFill>
                  <a:srgbClr val="0000FF"/>
                </a:solidFill>
              </a:rPr>
              <a:t>. </a:t>
            </a:r>
            <a:r>
              <a:rPr lang="ko-KR" altLang="en-US" sz="1600" dirty="0"/>
              <a:t>자유</a:t>
            </a:r>
            <a:r>
              <a:rPr lang="en-US" altLang="ko-KR" sz="1600" dirty="0"/>
              <a:t>, </a:t>
            </a:r>
            <a:r>
              <a:rPr lang="ko-KR" altLang="en-US" sz="1600" dirty="0"/>
              <a:t>권리</a:t>
            </a:r>
            <a:r>
              <a:rPr lang="en-US" altLang="ko-KR" sz="1600" dirty="0"/>
              <a:t>, </a:t>
            </a:r>
            <a:r>
              <a:rPr lang="ko-KR" altLang="en-US" sz="1600" dirty="0"/>
              <a:t>책임을 확실하게 본인이 감내하며 그것을 이루었을 </a:t>
            </a:r>
            <a:r>
              <a:rPr lang="ko-KR" altLang="en-US" sz="1600" dirty="0" smtClean="0"/>
              <a:t>때에 </a:t>
            </a:r>
            <a:r>
              <a:rPr lang="ko-KR" altLang="en-US" sz="1600" dirty="0"/>
              <a:t>일상의 모든 자유를 </a:t>
            </a:r>
            <a:r>
              <a:rPr lang="ko-KR" altLang="en-US" sz="1600" dirty="0" smtClean="0"/>
              <a:t>제공하겠다는 </a:t>
            </a:r>
            <a:r>
              <a:rPr lang="ko-KR" altLang="en-US" sz="1600" dirty="0" smtClean="0">
                <a:solidFill>
                  <a:srgbClr val="0000FF"/>
                </a:solidFill>
              </a:rPr>
              <a:t>회사의 경영 철학</a:t>
            </a:r>
            <a:r>
              <a:rPr lang="ko-KR" altLang="en-US" sz="1600" dirty="0" smtClean="0">
                <a:solidFill>
                  <a:srgbClr val="FF0000"/>
                </a:solidFill>
              </a:rPr>
              <a:t>을 가슴 깊이 새기며 ㈜</a:t>
            </a:r>
            <a:r>
              <a:rPr lang="en-US" altLang="ko-KR" sz="1600" dirty="0" smtClean="0">
                <a:solidFill>
                  <a:srgbClr val="FF0000"/>
                </a:solidFill>
              </a:rPr>
              <a:t>OO</a:t>
            </a:r>
            <a:r>
              <a:rPr lang="ko-KR" altLang="en-US" sz="1600" dirty="0" smtClean="0">
                <a:solidFill>
                  <a:srgbClr val="FF0000"/>
                </a:solidFill>
              </a:rPr>
              <a:t>의 구성원으로 회사와 함께하고자 지원합니다</a:t>
            </a:r>
            <a:r>
              <a:rPr lang="en-US" altLang="ko-KR" sz="1600" dirty="0" smtClean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39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27584" y="98048"/>
            <a:ext cx="7437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지원동기 사례</a:t>
            </a:r>
            <a:endParaRPr lang="en-US" altLang="ko-KR" sz="28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23528" y="764704"/>
            <a:ext cx="8424936" cy="5847755"/>
          </a:xfrm>
          <a:prstGeom prst="rect">
            <a:avLst/>
          </a:prstGeom>
          <a:ln>
            <a:solidFill>
              <a:srgbClr val="3366FF"/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600" b="1" kern="0" dirty="0">
                <a:solidFill>
                  <a:srgbClr val="000000"/>
                </a:solidFill>
                <a:latin typeface="+mn-ea"/>
              </a:rPr>
              <a:t>사례 </a:t>
            </a:r>
            <a:r>
              <a:rPr lang="en-US" altLang="ko-KR" sz="1600" b="1" kern="0" dirty="0" smtClean="0">
                <a:solidFill>
                  <a:srgbClr val="000000"/>
                </a:solidFill>
                <a:latin typeface="+mn-ea"/>
              </a:rPr>
              <a:t>#2</a:t>
            </a:r>
            <a:endParaRPr lang="en-US" altLang="ko-KR" sz="1600" b="1" kern="0" dirty="0">
              <a:solidFill>
                <a:srgbClr val="000000"/>
              </a:solidFill>
              <a:latin typeface="+mn-ea"/>
            </a:endParaRPr>
          </a:p>
          <a:p>
            <a:pPr algn="just" fontAlgn="base"/>
            <a:endParaRPr lang="en-US" altLang="ko-KR" sz="1100" dirty="0" smtClean="0"/>
          </a:p>
          <a:p>
            <a:pPr algn="just" fontAlgn="base"/>
            <a:r>
              <a:rPr lang="ko-KR" altLang="en-US" sz="1600" dirty="0" smtClean="0">
                <a:solidFill>
                  <a:srgbClr val="0000FF"/>
                </a:solidFill>
              </a:rPr>
              <a:t>현대그룹의 </a:t>
            </a:r>
            <a:r>
              <a:rPr lang="ko-KR" altLang="en-US" sz="1600" dirty="0">
                <a:solidFill>
                  <a:srgbClr val="0000FF"/>
                </a:solidFill>
              </a:rPr>
              <a:t>시각</a:t>
            </a:r>
            <a:r>
              <a:rPr lang="ko-KR" altLang="en-US" sz="1600" dirty="0"/>
              <a:t>에서 바라보는 </a:t>
            </a:r>
            <a:r>
              <a:rPr lang="en-US" altLang="ko-KR" sz="1600" dirty="0">
                <a:solidFill>
                  <a:srgbClr val="FF0000"/>
                </a:solidFill>
              </a:rPr>
              <a:t>'</a:t>
            </a:r>
            <a:r>
              <a:rPr lang="ko-KR" altLang="en-US" sz="1600" dirty="0" err="1">
                <a:solidFill>
                  <a:srgbClr val="FF0000"/>
                </a:solidFill>
              </a:rPr>
              <a:t>우공이산</a:t>
            </a:r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ko-KR" altLang="en-US" sz="1600" dirty="0" err="1">
                <a:solidFill>
                  <a:srgbClr val="FF0000"/>
                </a:solidFill>
              </a:rPr>
              <a:t>愚公移山</a:t>
            </a:r>
            <a:r>
              <a:rPr lang="en-US" altLang="ko-KR" sz="1600" dirty="0" smtClean="0">
                <a:solidFill>
                  <a:srgbClr val="FF0000"/>
                </a:solidFill>
              </a:rPr>
              <a:t>)＇</a:t>
            </a:r>
            <a:r>
              <a:rPr lang="ko-KR" altLang="en-US" sz="1600" dirty="0" smtClean="0"/>
              <a:t>의 의미를 해석해봤습니다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현대중공업 </a:t>
            </a:r>
            <a:r>
              <a:rPr lang="ko-KR" altLang="en-US" sz="1600" dirty="0">
                <a:solidFill>
                  <a:srgbClr val="0000FF"/>
                </a:solidFill>
              </a:rPr>
              <a:t>홈페이지</a:t>
            </a:r>
            <a:r>
              <a:rPr lang="ko-KR" altLang="en-US" sz="1600" dirty="0"/>
              <a:t>에는 이런 글이 있습니다</a:t>
            </a:r>
            <a:r>
              <a:rPr lang="en-US" altLang="ko-KR" sz="1600" dirty="0">
                <a:solidFill>
                  <a:srgbClr val="FF0000"/>
                </a:solidFill>
              </a:rPr>
              <a:t>. "</a:t>
            </a:r>
            <a:r>
              <a:rPr lang="ko-KR" altLang="en-US" sz="1600" dirty="0">
                <a:solidFill>
                  <a:srgbClr val="FF0000"/>
                </a:solidFill>
              </a:rPr>
              <a:t>의심하면 의심하는 만큼밖에는 못 하고</a:t>
            </a:r>
            <a:r>
              <a:rPr lang="en-US" altLang="ko-KR" sz="1600" dirty="0">
                <a:solidFill>
                  <a:srgbClr val="FF0000"/>
                </a:solidFill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</a:rPr>
              <a:t>할 수 없다고 생각하면 할 수 없는 것이다</a:t>
            </a:r>
            <a:r>
              <a:rPr lang="en-US" altLang="ko-KR" sz="1600" dirty="0">
                <a:solidFill>
                  <a:srgbClr val="FF0000"/>
                </a:solidFill>
              </a:rPr>
              <a:t>." </a:t>
            </a: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ko-KR" altLang="en-US" sz="1600" dirty="0"/>
              <a:t>모든 일의 성패는 그 일을 하는 사람의 사고와 자세에 달려있다는 </a:t>
            </a:r>
            <a:r>
              <a:rPr lang="ko-KR" altLang="en-US" sz="1600" dirty="0">
                <a:solidFill>
                  <a:srgbClr val="0000FF"/>
                </a:solidFill>
              </a:rPr>
              <a:t>故 정주영 창업자의 </a:t>
            </a:r>
            <a:r>
              <a:rPr lang="ko-KR" altLang="en-US" sz="1600" dirty="0" smtClean="0">
                <a:solidFill>
                  <a:srgbClr val="0000FF"/>
                </a:solidFill>
              </a:rPr>
              <a:t>현</a:t>
            </a:r>
            <a:r>
              <a:rPr lang="ko-KR" altLang="en-US" sz="1600" dirty="0">
                <a:solidFill>
                  <a:srgbClr val="0000FF"/>
                </a:solidFill>
              </a:rPr>
              <a:t>대</a:t>
            </a:r>
            <a:r>
              <a:rPr lang="en-US" altLang="ko-KR" sz="1600" dirty="0">
                <a:solidFill>
                  <a:srgbClr val="0000FF"/>
                </a:solidFill>
              </a:rPr>
              <a:t>(</a:t>
            </a:r>
            <a:r>
              <a:rPr lang="ko-KR" altLang="en-US" sz="1600" dirty="0">
                <a:solidFill>
                  <a:srgbClr val="0000FF"/>
                </a:solidFill>
              </a:rPr>
              <a:t>現代</a:t>
            </a:r>
            <a:r>
              <a:rPr lang="en-US" altLang="ko-KR" sz="1600" dirty="0">
                <a:solidFill>
                  <a:srgbClr val="0000FF"/>
                </a:solidFill>
              </a:rPr>
              <a:t>)</a:t>
            </a:r>
            <a:r>
              <a:rPr lang="ko-KR" altLang="en-US" sz="1600" dirty="0">
                <a:solidFill>
                  <a:srgbClr val="0000FF"/>
                </a:solidFill>
              </a:rPr>
              <a:t>판 </a:t>
            </a:r>
            <a:r>
              <a:rPr lang="ko-KR" altLang="en-US" sz="1600" dirty="0" err="1" smtClean="0">
                <a:solidFill>
                  <a:srgbClr val="0000FF"/>
                </a:solidFill>
              </a:rPr>
              <a:t>우공이산을</a:t>
            </a:r>
            <a:r>
              <a:rPr lang="ko-KR" altLang="en-US" sz="1600" dirty="0" smtClean="0">
                <a:solidFill>
                  <a:srgbClr val="0000FF"/>
                </a:solidFill>
              </a:rPr>
              <a:t> 뜻한다고 생각합니다</a:t>
            </a:r>
            <a:r>
              <a:rPr lang="en-US" altLang="ko-KR" sz="1600" dirty="0">
                <a:solidFill>
                  <a:srgbClr val="0000FF"/>
                </a:solidFill>
              </a:rPr>
              <a:t>. </a:t>
            </a:r>
            <a:r>
              <a:rPr lang="ko-KR" altLang="en-US" sz="1600" dirty="0"/>
              <a:t>한 노인이 산을 옮기겠다고 하자 주변에서는 노인의 역량을 의심하고 그런 일은 할 수 없다며 노인을 어리석다고 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하지만 산을 옮기는 노인은 굳은 의지와 노력으로 주변의 예상을 뒤엎고 산을 옮기는 데 성공합니다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이론적으로나 학문적으로 </a:t>
            </a:r>
            <a:r>
              <a:rPr lang="ko-KR" altLang="en-US" sz="1600" dirty="0">
                <a:solidFill>
                  <a:srgbClr val="FF0000"/>
                </a:solidFill>
              </a:rPr>
              <a:t>불가능한 일들도 진취적인 기상과 개척정신</a:t>
            </a:r>
            <a:r>
              <a:rPr lang="en-US" altLang="ko-KR" sz="1600" dirty="0">
                <a:solidFill>
                  <a:srgbClr val="FF0000"/>
                </a:solidFill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</a:rPr>
              <a:t>열정적인 노력이 뒷받침되면 이루어 낼 수 있다는 의미입니다</a:t>
            </a:r>
            <a:r>
              <a:rPr lang="en-US" altLang="ko-KR" sz="1600" dirty="0">
                <a:solidFill>
                  <a:srgbClr val="FF0000"/>
                </a:solidFill>
              </a:rPr>
              <a:t>. </a:t>
            </a:r>
            <a:endParaRPr lang="ko-KR" altLang="en-US" sz="1600" dirty="0">
              <a:solidFill>
                <a:srgbClr val="FF0000"/>
              </a:solidFill>
            </a:endParaRPr>
          </a:p>
          <a:p>
            <a:pPr algn="just" fontAlgn="base"/>
            <a:r>
              <a:rPr lang="ko-KR" altLang="en-US" sz="1600" dirty="0"/>
              <a:t>그래서 저는 학력과 자격증</a:t>
            </a:r>
            <a:r>
              <a:rPr lang="en-US" altLang="ko-KR" sz="1600" dirty="0"/>
              <a:t>, </a:t>
            </a:r>
            <a:r>
              <a:rPr lang="ko-KR" altLang="en-US" sz="1600" dirty="0"/>
              <a:t>영어성적 등 내면의 가치가 아닌 점수화된 자료로 사람을 평가하기보다는 </a:t>
            </a:r>
            <a:r>
              <a:rPr lang="ko-KR" altLang="en-US" sz="1600" dirty="0">
                <a:solidFill>
                  <a:srgbClr val="FF0000"/>
                </a:solidFill>
              </a:rPr>
              <a:t>열정과 노력</a:t>
            </a:r>
            <a:r>
              <a:rPr lang="en-US" altLang="ko-KR" sz="1600" dirty="0">
                <a:solidFill>
                  <a:srgbClr val="FF0000"/>
                </a:solidFill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</a:rPr>
              <a:t>창의성을 더 높이 평가하는 현대그룹에 </a:t>
            </a:r>
            <a:r>
              <a:rPr lang="ko-KR" altLang="en-US" sz="1600" dirty="0" smtClean="0">
                <a:solidFill>
                  <a:srgbClr val="FF0000"/>
                </a:solidFill>
              </a:rPr>
              <a:t>입사하겠다는 </a:t>
            </a:r>
            <a:r>
              <a:rPr lang="ko-KR" altLang="en-US" sz="1600" dirty="0" smtClean="0">
                <a:solidFill>
                  <a:srgbClr val="0000FF"/>
                </a:solidFill>
              </a:rPr>
              <a:t>의지를 품게 되었습니다</a:t>
            </a:r>
            <a:r>
              <a:rPr lang="en-US" altLang="ko-KR" sz="1600" dirty="0">
                <a:solidFill>
                  <a:srgbClr val="0000FF"/>
                </a:solidFill>
              </a:rPr>
              <a:t>. </a:t>
            </a:r>
            <a:r>
              <a:rPr lang="ko-KR" altLang="en-US" sz="1600" u="sng" dirty="0"/>
              <a:t>창업주를 비롯한 현대 임직원들은 인간이 스스로 한계라고 규정한 일에 </a:t>
            </a:r>
            <a:r>
              <a:rPr lang="ko-KR" altLang="en-US" sz="1600" u="sng" dirty="0" smtClean="0"/>
              <a:t>도전하여</a:t>
            </a:r>
            <a:r>
              <a:rPr lang="en-US" altLang="ko-KR" sz="1600" u="sng" dirty="0" smtClean="0"/>
              <a:t> </a:t>
            </a:r>
            <a:r>
              <a:rPr lang="ko-KR" altLang="en-US" sz="1600" u="sng" dirty="0"/>
              <a:t>그것을 이루어내는 기쁨을 보람으로 현재까지 삼아왔고</a:t>
            </a:r>
            <a:r>
              <a:rPr lang="en-US" altLang="ko-KR" sz="1600" u="sng" dirty="0"/>
              <a:t>, </a:t>
            </a:r>
            <a:r>
              <a:rPr lang="ko-KR" altLang="en-US" sz="1600" u="sng" dirty="0">
                <a:solidFill>
                  <a:srgbClr val="0000FF"/>
                </a:solidFill>
              </a:rPr>
              <a:t>지금도 그러한 도전은 계속되고 있습니다</a:t>
            </a:r>
            <a:r>
              <a:rPr lang="en-US" altLang="ko-KR" sz="1600" u="sng" dirty="0">
                <a:solidFill>
                  <a:srgbClr val="0000FF"/>
                </a:solidFill>
              </a:rPr>
              <a:t>.</a:t>
            </a:r>
            <a:r>
              <a:rPr lang="en-US" altLang="ko-KR" sz="1600" u="sng" dirty="0"/>
              <a:t> </a:t>
            </a:r>
            <a:r>
              <a:rPr lang="ko-KR" altLang="en-US" sz="1600" u="sng" dirty="0">
                <a:solidFill>
                  <a:srgbClr val="FF0000"/>
                </a:solidFill>
              </a:rPr>
              <a:t>저 또한 그 보람과 </a:t>
            </a:r>
            <a:r>
              <a:rPr lang="ko-KR" altLang="en-US" sz="1600" u="sng" dirty="0" smtClean="0">
                <a:solidFill>
                  <a:srgbClr val="FF0000"/>
                </a:solidFill>
              </a:rPr>
              <a:t>도전에 동참하고 싶어 지원하게 </a:t>
            </a:r>
            <a:r>
              <a:rPr lang="ko-KR" altLang="en-US" sz="1600" u="sng" dirty="0">
                <a:solidFill>
                  <a:srgbClr val="FF0000"/>
                </a:solidFill>
              </a:rPr>
              <a:t>되었습니다</a:t>
            </a:r>
            <a:r>
              <a:rPr lang="en-US" altLang="ko-KR" sz="1600" u="sng" dirty="0" smtClean="0">
                <a:solidFill>
                  <a:srgbClr val="FF0000"/>
                </a:solidFill>
              </a:rPr>
              <a:t>.</a:t>
            </a:r>
          </a:p>
          <a:p>
            <a:pPr algn="just" fontAlgn="base"/>
            <a:endParaRPr lang="en-US" altLang="ko-KR" sz="1600" b="1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b="1" kern="0" dirty="0" smtClean="0">
                <a:solidFill>
                  <a:srgbClr val="000000"/>
                </a:solidFill>
                <a:latin typeface="+mn-ea"/>
              </a:rPr>
              <a:t>사례 </a:t>
            </a:r>
            <a:r>
              <a:rPr lang="en-US" altLang="ko-KR" sz="1600" b="1" kern="0" dirty="0" smtClean="0">
                <a:solidFill>
                  <a:srgbClr val="000000"/>
                </a:solidFill>
                <a:latin typeface="+mn-ea"/>
              </a:rPr>
              <a:t>#3</a:t>
            </a:r>
            <a:endParaRPr lang="en-US" altLang="ko-KR" sz="1600" b="1" kern="0" dirty="0">
              <a:solidFill>
                <a:srgbClr val="000000"/>
              </a:solidFill>
              <a:latin typeface="+mn-ea"/>
            </a:endParaRPr>
          </a:p>
          <a:p>
            <a:pPr lvl="0" algn="just" fontAlgn="base"/>
            <a:endParaRPr lang="ko-KR" altLang="en-US" sz="1100" dirty="0"/>
          </a:p>
          <a:p>
            <a:pPr algn="just" fontAlgn="base"/>
            <a:r>
              <a:rPr lang="ko-KR" altLang="en-US" sz="1600" dirty="0"/>
              <a:t>첫째는 교수님의 추천이 있었고</a:t>
            </a:r>
            <a:r>
              <a:rPr lang="en-US" altLang="ko-KR" sz="1600" dirty="0"/>
              <a:t>, </a:t>
            </a:r>
            <a:r>
              <a:rPr lang="ko-KR" altLang="en-US" sz="1600" dirty="0"/>
              <a:t>둘째는 포항에서 자영업을 하고 계시는 작은아버지의 적극 추천 그리고 평소 소재에 관심이 많았던 저의 직업관 때문에 지원하게 되었습니다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특히 포항에 갈 때마다 항상 지나치는 </a:t>
            </a:r>
            <a:r>
              <a:rPr lang="en-US" altLang="ko-KR" sz="1600" dirty="0"/>
              <a:t>OOOO</a:t>
            </a:r>
            <a:r>
              <a:rPr lang="ko-KR" altLang="en-US" sz="1600" dirty="0"/>
              <a:t>회사를 보게 되어 익숙해져 있었고</a:t>
            </a:r>
            <a:r>
              <a:rPr lang="en-US" altLang="ko-KR" sz="1600" dirty="0"/>
              <a:t>, </a:t>
            </a:r>
            <a:r>
              <a:rPr lang="ko-KR" altLang="en-US" sz="1600" dirty="0"/>
              <a:t>이번에 지원을 하면서 작은아버지께 여쭈어보니 </a:t>
            </a:r>
            <a:r>
              <a:rPr lang="en-US" altLang="ko-KR" sz="1600" dirty="0"/>
              <a:t>10</a:t>
            </a:r>
            <a:r>
              <a:rPr lang="ko-KR" altLang="en-US" sz="1600" dirty="0"/>
              <a:t>년 남짓한 짧은 기간 동안에 국내 최고의 첨단 소재 산업으로 성장했다고 말씀하시며 최선을 다해 지원하라고 하셔서 제 스스로 감동을 받았습니다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입사하면 </a:t>
            </a:r>
            <a:r>
              <a:rPr lang="ko-KR" altLang="en-US" sz="1600" dirty="0" smtClean="0"/>
              <a:t>회사의 발전에 앞장설 수 있는 현장 실무자가 되겠습니다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7918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/>
        </p:nvCxnSpPr>
        <p:spPr>
          <a:xfrm flipH="1">
            <a:off x="1907704" y="4869160"/>
            <a:ext cx="2808312" cy="151216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7584" y="260648"/>
            <a:ext cx="7437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 작성 포인트</a:t>
            </a:r>
            <a:endParaRPr lang="en-US" altLang="ko-KR" sz="3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259632" y="1124744"/>
            <a:ext cx="4968552" cy="5715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ko-KR" altLang="en-US" sz="2800" b="1" dirty="0" smtClean="0">
                <a:solidFill>
                  <a:srgbClr val="FF0000"/>
                </a:solidFill>
              </a:rPr>
              <a:t>입사 후 포부 작성법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Rectangle 45"/>
          <p:cNvSpPr>
            <a:spLocks noChangeArrowheads="1"/>
          </p:cNvSpPr>
          <p:nvPr/>
        </p:nvSpPr>
        <p:spPr bwMode="auto">
          <a:xfrm>
            <a:off x="1835696" y="1711028"/>
            <a:ext cx="46085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20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장래성</a:t>
            </a:r>
            <a:r>
              <a:rPr lang="en-US" altLang="ko-KR" sz="20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, </a:t>
            </a:r>
            <a:r>
              <a:rPr lang="ko-KR" altLang="en-US" sz="20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미래에 대한 계획</a:t>
            </a:r>
            <a:endParaRPr lang="ko-KR" altLang="en-US" sz="2000" dirty="0">
              <a:solidFill>
                <a:srgbClr val="660033"/>
              </a:solidFill>
              <a:latin typeface="HY울릉도B" pitchFamily="18" charset="-127"/>
              <a:ea typeface="HY울릉도B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03648" y="2106722"/>
            <a:ext cx="6624736" cy="4452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srgbClr val="0000FF"/>
                </a:solidFill>
              </a:rPr>
              <a:t>지원직무 수행을 통해 달성하고자 하는 목표 기술</a:t>
            </a:r>
            <a:endParaRPr lang="en-US" altLang="ko-KR" b="1" dirty="0" smtClean="0">
              <a:solidFill>
                <a:srgbClr val="0000FF"/>
              </a:solidFill>
            </a:endParaRPr>
          </a:p>
          <a:p>
            <a:pPr marL="342900" indent="-342900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srgbClr val="0000FF"/>
                </a:solidFill>
              </a:rPr>
              <a:t>목표성취나 자기계발을 위한 구체적인 계획</a:t>
            </a:r>
            <a:r>
              <a:rPr lang="en-US" altLang="ko-KR" b="1" dirty="0" smtClean="0">
                <a:solidFill>
                  <a:srgbClr val="0000FF"/>
                </a:solidFill>
              </a:rPr>
              <a:t>, </a:t>
            </a:r>
            <a:r>
              <a:rPr lang="ko-KR" altLang="en-US" b="1" dirty="0" smtClean="0">
                <a:solidFill>
                  <a:srgbClr val="0000FF"/>
                </a:solidFill>
              </a:rPr>
              <a:t>각오 피력</a:t>
            </a:r>
            <a:endParaRPr lang="en-US" altLang="ko-KR" b="1" dirty="0" smtClean="0">
              <a:solidFill>
                <a:srgbClr val="0000FF"/>
              </a:solidFill>
            </a:endParaRPr>
          </a:p>
          <a:p>
            <a:pPr marL="342900" indent="-342900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en-US" altLang="ko-KR" b="1" dirty="0" smtClean="0">
                <a:solidFill>
                  <a:srgbClr val="0000FF"/>
                </a:solidFill>
              </a:rPr>
              <a:t>~</a:t>
            </a:r>
            <a:r>
              <a:rPr lang="ko-KR" altLang="en-US" b="1" dirty="0" smtClean="0">
                <a:solidFill>
                  <a:srgbClr val="0000FF"/>
                </a:solidFill>
              </a:rPr>
              <a:t>분야에서 최고의 전문가가 되겠다</a:t>
            </a:r>
            <a:r>
              <a:rPr lang="en-US" altLang="ko-KR" b="1" dirty="0" smtClean="0">
                <a:solidFill>
                  <a:srgbClr val="0000FF"/>
                </a:solidFill>
              </a:rPr>
              <a:t>.</a:t>
            </a:r>
          </a:p>
          <a:p>
            <a:pPr marL="342900" indent="-342900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srgbClr val="0000FF"/>
                </a:solidFill>
              </a:rPr>
              <a:t>회사의 성장과 발전에 기여하는 사람이 되겠다</a:t>
            </a:r>
            <a:r>
              <a:rPr lang="en-US" altLang="ko-KR" b="1" dirty="0" smtClean="0">
                <a:solidFill>
                  <a:srgbClr val="0000FF"/>
                </a:solidFill>
              </a:rPr>
              <a:t>.</a:t>
            </a:r>
          </a:p>
          <a:p>
            <a:pPr marL="342900" indent="-342900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srgbClr val="0000FF"/>
                </a:solidFill>
              </a:rPr>
              <a:t>시너지를 내는 인재가 되겠다</a:t>
            </a:r>
            <a:r>
              <a:rPr lang="en-US" altLang="ko-KR" b="1" dirty="0" smtClean="0">
                <a:solidFill>
                  <a:srgbClr val="0000FF"/>
                </a:solidFill>
              </a:rPr>
              <a:t>.</a:t>
            </a:r>
            <a:endParaRPr lang="en-US" altLang="ko-KR" sz="800" b="1" dirty="0" smtClean="0">
              <a:solidFill>
                <a:srgbClr val="0000FF"/>
              </a:solidFill>
            </a:endParaRPr>
          </a:p>
          <a:p>
            <a:pPr marL="342900" indent="-342900">
              <a:lnSpc>
                <a:spcPts val="3400"/>
              </a:lnSpc>
              <a:buFont typeface="Arial" panose="020B0604020202020204" pitchFamily="34" charset="0"/>
              <a:buChar char="•"/>
            </a:pPr>
            <a:endParaRPr lang="en-US" altLang="ko-KR" sz="800" dirty="0" smtClean="0">
              <a:solidFill>
                <a:srgbClr val="0000FF"/>
              </a:solidFill>
            </a:endParaRPr>
          </a:p>
          <a:p>
            <a:pPr marL="342900" indent="-342900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FF0000"/>
                </a:solidFill>
              </a:rPr>
              <a:t>최선을 다하겠습니다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  <a:p>
            <a:pPr marL="342900" indent="-342900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FF0000"/>
                </a:solidFill>
              </a:rPr>
              <a:t>무조건 열심히 하겠습니다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  <a:p>
            <a:pPr marL="342900" indent="-342900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FF0000"/>
                </a:solidFill>
              </a:rPr>
              <a:t>기회를 주십시오</a:t>
            </a:r>
            <a:r>
              <a:rPr lang="en-US" altLang="ko-KR" b="1" dirty="0">
                <a:solidFill>
                  <a:srgbClr val="FF0000"/>
                </a:solidFill>
              </a:rPr>
              <a:t>. </a:t>
            </a:r>
            <a:r>
              <a:rPr lang="ko-KR" altLang="en-US" b="1" dirty="0">
                <a:solidFill>
                  <a:srgbClr val="FF0000"/>
                </a:solidFill>
              </a:rPr>
              <a:t>기회만 주신다면</a:t>
            </a:r>
            <a:r>
              <a:rPr lang="en-US" altLang="ko-KR" b="1" dirty="0">
                <a:solidFill>
                  <a:srgbClr val="FF0000"/>
                </a:solidFill>
              </a:rPr>
              <a:t>…</a:t>
            </a:r>
          </a:p>
          <a:p>
            <a:pPr marL="342900" indent="-342900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FF0000"/>
                </a:solidFill>
              </a:rPr>
              <a:t>5</a:t>
            </a:r>
            <a:r>
              <a:rPr lang="ko-KR" altLang="en-US" b="1" dirty="0">
                <a:solidFill>
                  <a:srgbClr val="FF0000"/>
                </a:solidFill>
              </a:rPr>
              <a:t>년 후 과장</a:t>
            </a:r>
            <a:r>
              <a:rPr lang="en-US" altLang="ko-KR" b="1" dirty="0">
                <a:solidFill>
                  <a:srgbClr val="FF0000"/>
                </a:solidFill>
              </a:rPr>
              <a:t>….20</a:t>
            </a:r>
            <a:r>
              <a:rPr lang="ko-KR" altLang="en-US" b="1" dirty="0">
                <a:solidFill>
                  <a:srgbClr val="FF0000"/>
                </a:solidFill>
              </a:rPr>
              <a:t>년 후 반드시 사장이 되겠습니다</a:t>
            </a:r>
            <a:endParaRPr lang="en-US" altLang="ko-KR" b="1" dirty="0" smtClean="0">
              <a:solidFill>
                <a:srgbClr val="0000FF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2060104" y="4869160"/>
            <a:ext cx="2808312" cy="151216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36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27584" y="476672"/>
            <a:ext cx="7437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입사 후 포부 사례</a:t>
            </a:r>
            <a:endParaRPr lang="en-US" altLang="ko-KR" sz="28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55576" y="1587564"/>
            <a:ext cx="7776864" cy="378565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600" b="1" kern="0" dirty="0">
                <a:solidFill>
                  <a:srgbClr val="000000"/>
                </a:solidFill>
                <a:latin typeface="+mn-ea"/>
              </a:rPr>
              <a:t>사례 </a:t>
            </a:r>
            <a:r>
              <a:rPr lang="en-US" altLang="ko-KR" sz="1600" b="1" kern="0" dirty="0">
                <a:solidFill>
                  <a:srgbClr val="000000"/>
                </a:solidFill>
                <a:latin typeface="+mn-ea"/>
              </a:rPr>
              <a:t>#1</a:t>
            </a:r>
          </a:p>
          <a:p>
            <a:pPr algn="just" fontAlgn="base"/>
            <a:endParaRPr lang="en-US" altLang="ko-KR" sz="1600" dirty="0" smtClean="0"/>
          </a:p>
          <a:p>
            <a:pPr algn="just" fontAlgn="base"/>
            <a:r>
              <a:rPr lang="en-US" altLang="ko-KR" sz="1600" dirty="0" smtClean="0">
                <a:solidFill>
                  <a:srgbClr val="0000FF"/>
                </a:solidFill>
              </a:rPr>
              <a:t>(</a:t>
            </a:r>
            <a:r>
              <a:rPr lang="ko-KR" altLang="en-US" sz="1600" dirty="0">
                <a:solidFill>
                  <a:srgbClr val="0000FF"/>
                </a:solidFill>
              </a:rPr>
              <a:t>주</a:t>
            </a:r>
            <a:r>
              <a:rPr lang="en-US" altLang="ko-KR" sz="1600" dirty="0" smtClean="0">
                <a:solidFill>
                  <a:srgbClr val="0000FF"/>
                </a:solidFill>
              </a:rPr>
              <a:t>)OO</a:t>
            </a:r>
            <a:r>
              <a:rPr lang="ko-KR" altLang="en-US" sz="1600" dirty="0" smtClean="0">
                <a:solidFill>
                  <a:srgbClr val="0000FF"/>
                </a:solidFill>
              </a:rPr>
              <a:t>의 개발 실무 </a:t>
            </a:r>
            <a:r>
              <a:rPr lang="en-US" altLang="ko-KR" sz="1600" dirty="0" smtClean="0">
                <a:solidFill>
                  <a:srgbClr val="0000FF"/>
                </a:solidFill>
              </a:rPr>
              <a:t>1</a:t>
            </a:r>
            <a:r>
              <a:rPr lang="ko-KR" altLang="en-US" sz="1600" dirty="0" smtClean="0">
                <a:solidFill>
                  <a:srgbClr val="0000FF"/>
                </a:solidFill>
              </a:rPr>
              <a:t>인자로 성장하겠습니다</a:t>
            </a:r>
            <a:r>
              <a:rPr lang="en-US" altLang="ko-KR" sz="1600" dirty="0">
                <a:solidFill>
                  <a:srgbClr val="0000FF"/>
                </a:solidFill>
              </a:rPr>
              <a:t>. </a:t>
            </a:r>
            <a:r>
              <a:rPr lang="ko-KR" altLang="en-US" sz="1600" dirty="0">
                <a:solidFill>
                  <a:srgbClr val="FF0000"/>
                </a:solidFill>
              </a:rPr>
              <a:t>개발자는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늘 </a:t>
            </a:r>
            <a:r>
              <a:rPr lang="ko-KR" altLang="en-US" sz="1600" dirty="0"/>
              <a:t>새로운 언어와 신기술에 민감하게 </a:t>
            </a:r>
            <a:r>
              <a:rPr lang="ko-KR" altLang="en-US" sz="1600" dirty="0" smtClean="0"/>
              <a:t>반응하면서 스스로를 깨우치고 </a:t>
            </a:r>
            <a:r>
              <a:rPr lang="ko-KR" altLang="en-US" sz="1600" dirty="0">
                <a:solidFill>
                  <a:srgbClr val="FF0000"/>
                </a:solidFill>
              </a:rPr>
              <a:t>전문성을 </a:t>
            </a:r>
            <a:r>
              <a:rPr lang="ko-KR" altLang="en-US" sz="1600" dirty="0" smtClean="0">
                <a:solidFill>
                  <a:srgbClr val="FF0000"/>
                </a:solidFill>
              </a:rPr>
              <a:t>키워야 한다고 생각합니다</a:t>
            </a:r>
            <a:r>
              <a:rPr lang="en-US" altLang="ko-KR" sz="1600" dirty="0" smtClean="0">
                <a:solidFill>
                  <a:srgbClr val="FF0000"/>
                </a:solidFill>
              </a:rPr>
              <a:t>. </a:t>
            </a:r>
            <a:r>
              <a:rPr lang="en-US" altLang="ko-KR" sz="1600" dirty="0" err="1" smtClean="0"/>
              <a:t>iOS</a:t>
            </a:r>
            <a:r>
              <a:rPr lang="ko-KR" altLang="en-US" sz="1600" dirty="0"/>
              <a:t>뿐 아니라 다양한 형태의 개발에 앞장서기 위해서</a:t>
            </a:r>
            <a:r>
              <a:rPr lang="en-US" altLang="ko-KR" sz="1600" dirty="0" smtClean="0"/>
              <a:t>, </a:t>
            </a:r>
            <a:r>
              <a:rPr lang="ko-KR" altLang="en-US" sz="1600" dirty="0" smtClean="0">
                <a:solidFill>
                  <a:srgbClr val="0000FF"/>
                </a:solidFill>
              </a:rPr>
              <a:t>입사 초기에는 </a:t>
            </a:r>
            <a:r>
              <a:rPr lang="ko-KR" altLang="en-US" sz="1600" dirty="0"/>
              <a:t>‘</a:t>
            </a:r>
            <a:r>
              <a:rPr lang="ko-KR" altLang="en-US" sz="1600" dirty="0" smtClean="0"/>
              <a:t>재미있게’ </a:t>
            </a:r>
            <a:r>
              <a:rPr lang="ko-KR" altLang="en-US" sz="1600" dirty="0"/>
              <a:t>일하는 신입사원이 되겠습니다</a:t>
            </a:r>
            <a:r>
              <a:rPr lang="en-US" altLang="ko-KR" sz="1600" dirty="0"/>
              <a:t>. </a:t>
            </a:r>
            <a:r>
              <a:rPr lang="ko-KR" altLang="en-US" sz="1600" dirty="0" smtClean="0"/>
              <a:t>초년생의 패기로 </a:t>
            </a:r>
            <a:r>
              <a:rPr lang="ko-KR" altLang="en-US" sz="1600" dirty="0"/>
              <a:t>제가 할 수 있는 </a:t>
            </a:r>
            <a:r>
              <a:rPr lang="ko-KR" altLang="en-US" sz="1600" dirty="0" err="1"/>
              <a:t>웹프로그래밍</a:t>
            </a:r>
            <a:r>
              <a:rPr lang="ko-KR" altLang="en-US" sz="1600" dirty="0"/>
              <a:t> 능력을 십분 발휘하여 </a:t>
            </a:r>
            <a:r>
              <a:rPr lang="ko-KR" altLang="en-US" sz="1600" dirty="0" smtClean="0"/>
              <a:t>선배님들의 </a:t>
            </a:r>
            <a:r>
              <a:rPr lang="en-US" altLang="ko-KR" sz="1600" dirty="0" err="1" smtClean="0"/>
              <a:t>iOS</a:t>
            </a:r>
            <a:r>
              <a:rPr lang="ko-KR" altLang="en-US" sz="1600" dirty="0" smtClean="0"/>
              <a:t>개발업무 </a:t>
            </a:r>
            <a:r>
              <a:rPr lang="ko-KR" altLang="en-US" sz="1600" dirty="0"/>
              <a:t>부담을 줄여드리고 또한 업무관련 </a:t>
            </a:r>
            <a:r>
              <a:rPr lang="en-US" altLang="ko-KR" sz="1600" dirty="0"/>
              <a:t>iOS</a:t>
            </a:r>
            <a:r>
              <a:rPr lang="ko-KR" altLang="en-US" sz="1600" dirty="0"/>
              <a:t>개발언어를 이해하고 </a:t>
            </a:r>
            <a:r>
              <a:rPr lang="ko-KR" altLang="en-US" sz="1600" dirty="0" smtClean="0">
                <a:solidFill>
                  <a:srgbClr val="0000FF"/>
                </a:solidFill>
              </a:rPr>
              <a:t>전문 지식을 </a:t>
            </a:r>
            <a:r>
              <a:rPr lang="ko-KR" altLang="en-US" sz="1600" dirty="0">
                <a:solidFill>
                  <a:srgbClr val="0000FF"/>
                </a:solidFill>
              </a:rPr>
              <a:t>쌓는 일에 </a:t>
            </a:r>
            <a:r>
              <a:rPr lang="ko-KR" altLang="en-US" sz="1600" dirty="0" smtClean="0">
                <a:solidFill>
                  <a:srgbClr val="0000FF"/>
                </a:solidFill>
              </a:rPr>
              <a:t>매진하겠습니다</a:t>
            </a:r>
            <a:r>
              <a:rPr lang="en-US" altLang="ko-KR" sz="1600" dirty="0">
                <a:solidFill>
                  <a:srgbClr val="0000FF"/>
                </a:solidFill>
              </a:rPr>
              <a:t>.</a:t>
            </a:r>
            <a:endParaRPr lang="ko-KR" altLang="en-US" sz="1600" dirty="0">
              <a:solidFill>
                <a:srgbClr val="0000FF"/>
              </a:solidFill>
            </a:endParaRPr>
          </a:p>
          <a:p>
            <a:pPr algn="just" fontAlgn="base"/>
            <a:r>
              <a:rPr lang="ko-KR" altLang="en-US" sz="1600" dirty="0">
                <a:solidFill>
                  <a:srgbClr val="0000FF"/>
                </a:solidFill>
              </a:rPr>
              <a:t>입사 후 </a:t>
            </a:r>
            <a:r>
              <a:rPr lang="en-US" altLang="ko-KR" sz="1600" dirty="0">
                <a:solidFill>
                  <a:srgbClr val="0000FF"/>
                </a:solidFill>
              </a:rPr>
              <a:t>5</a:t>
            </a:r>
            <a:r>
              <a:rPr lang="ko-KR" altLang="en-US" sz="1600" dirty="0">
                <a:solidFill>
                  <a:srgbClr val="0000FF"/>
                </a:solidFill>
              </a:rPr>
              <a:t>년</a:t>
            </a:r>
            <a:r>
              <a:rPr lang="en-US" altLang="ko-KR" sz="1600" dirty="0">
                <a:solidFill>
                  <a:srgbClr val="0000FF"/>
                </a:solidFill>
              </a:rPr>
              <a:t>, </a:t>
            </a:r>
            <a:r>
              <a:rPr lang="ko-KR" altLang="en-US" sz="1600" dirty="0" smtClean="0">
                <a:solidFill>
                  <a:srgbClr val="FF0000"/>
                </a:solidFill>
              </a:rPr>
              <a:t>‘책임’을 다할 줄 아는 직원이 </a:t>
            </a:r>
            <a:r>
              <a:rPr lang="ko-KR" altLang="en-US" sz="1600" dirty="0">
                <a:solidFill>
                  <a:srgbClr val="FF0000"/>
                </a:solidFill>
              </a:rPr>
              <a:t>되겠습니다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  <a:r>
              <a:rPr lang="en-US" altLang="ko-KR" sz="1600" dirty="0"/>
              <a:t> JAVA, C++, Oracle, Linux, DB</a:t>
            </a:r>
            <a:r>
              <a:rPr lang="ko-KR" altLang="en-US" sz="1600" dirty="0"/>
              <a:t>언어 등 다양한 언어능력을 하나씩 갖춰나가며 책임근무제에 폐를 끼치지 않는 </a:t>
            </a:r>
            <a:r>
              <a:rPr lang="ko-KR" altLang="en-US" sz="1600" dirty="0">
                <a:solidFill>
                  <a:srgbClr val="FF0000"/>
                </a:solidFill>
              </a:rPr>
              <a:t>메인 개발자로서 회사의 중요 개발업무를 종횡무진 하는 노련한 개발자</a:t>
            </a:r>
            <a:r>
              <a:rPr lang="ko-KR" altLang="en-US" sz="1600" dirty="0"/>
              <a:t>의 모습을 </a:t>
            </a:r>
            <a:r>
              <a:rPr lang="ko-KR" altLang="en-US" sz="1600" dirty="0" smtClean="0"/>
              <a:t>갖추겠습니다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algn="just" fontAlgn="base"/>
            <a:r>
              <a:rPr lang="ko-KR" altLang="en-US" sz="1600" dirty="0">
                <a:solidFill>
                  <a:srgbClr val="0000FF"/>
                </a:solidFill>
              </a:rPr>
              <a:t>입사 후 </a:t>
            </a:r>
            <a:r>
              <a:rPr lang="en-US" altLang="ko-KR" sz="1600" dirty="0" smtClean="0">
                <a:solidFill>
                  <a:srgbClr val="0000FF"/>
                </a:solidFill>
              </a:rPr>
              <a:t>10</a:t>
            </a:r>
            <a:r>
              <a:rPr lang="ko-KR" altLang="en-US" sz="1600" dirty="0" smtClean="0">
                <a:solidFill>
                  <a:srgbClr val="0000FF"/>
                </a:solidFill>
              </a:rPr>
              <a:t>년</a:t>
            </a:r>
            <a:r>
              <a:rPr lang="en-US" altLang="ko-KR" sz="1600" dirty="0" smtClean="0">
                <a:solidFill>
                  <a:srgbClr val="0000FF"/>
                </a:solidFill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</a:rPr>
              <a:t>일을 ‘즐기는’ </a:t>
            </a:r>
            <a:r>
              <a:rPr lang="ko-KR" altLang="en-US" sz="1600" dirty="0" smtClean="0">
                <a:solidFill>
                  <a:srgbClr val="FF0000"/>
                </a:solidFill>
              </a:rPr>
              <a:t>리더가 되겠습니다</a:t>
            </a:r>
            <a:r>
              <a:rPr lang="en-US" altLang="ko-KR" sz="1600" dirty="0" smtClean="0">
                <a:solidFill>
                  <a:srgbClr val="FF0000"/>
                </a:solidFill>
              </a:rPr>
              <a:t>. </a:t>
            </a:r>
            <a:r>
              <a:rPr lang="ko-KR" altLang="en-US" sz="1600" dirty="0" smtClean="0"/>
              <a:t>다른 </a:t>
            </a:r>
            <a:r>
              <a:rPr lang="ko-KR" altLang="en-US" sz="1600" dirty="0" err="1" smtClean="0"/>
              <a:t>동업계와</a:t>
            </a:r>
            <a:r>
              <a:rPr lang="ko-KR" altLang="en-US" sz="1600" dirty="0" smtClean="0"/>
              <a:t> 당당하게 경쟁하여 앞설 수 있는 </a:t>
            </a:r>
            <a:r>
              <a:rPr lang="ko-KR" altLang="en-US" sz="1600" dirty="0" smtClean="0">
                <a:solidFill>
                  <a:srgbClr val="FF0000"/>
                </a:solidFill>
              </a:rPr>
              <a:t>개발팀</a:t>
            </a:r>
            <a:r>
              <a:rPr lang="ko-KR" altLang="en-US" sz="1600" dirty="0" smtClean="0"/>
              <a:t>을 만들고</a:t>
            </a:r>
            <a:r>
              <a:rPr lang="en-US" altLang="ko-KR" sz="1600" dirty="0" smtClean="0"/>
              <a:t>, </a:t>
            </a:r>
            <a:r>
              <a:rPr lang="ko-KR" altLang="en-US" sz="1600" dirty="0" smtClean="0">
                <a:solidFill>
                  <a:srgbClr val="FF0000"/>
                </a:solidFill>
              </a:rPr>
              <a:t>신기술을 개발</a:t>
            </a:r>
            <a:r>
              <a:rPr lang="ko-KR" altLang="en-US" sz="1600" dirty="0" smtClean="0"/>
              <a:t>하며</a:t>
            </a:r>
            <a:r>
              <a:rPr lang="en-US" altLang="ko-KR" sz="1600" dirty="0" smtClean="0"/>
              <a:t>,</a:t>
            </a:r>
            <a:r>
              <a:rPr lang="ko-KR" altLang="en-US" sz="1600" dirty="0" smtClean="0"/>
              <a:t> </a:t>
            </a:r>
            <a:r>
              <a:rPr lang="ko-KR" altLang="en-US" sz="1600" dirty="0" smtClean="0">
                <a:solidFill>
                  <a:srgbClr val="FF0000"/>
                </a:solidFill>
              </a:rPr>
              <a:t>후배들의 전문성을 육성</a:t>
            </a:r>
            <a:r>
              <a:rPr lang="ko-KR" altLang="en-US" sz="1600" dirty="0" smtClean="0"/>
              <a:t>할 수 있는 능력의 소유자가 될 것입니다</a:t>
            </a:r>
            <a:r>
              <a:rPr lang="en-US" altLang="ko-KR" sz="1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3580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27584" y="314072"/>
            <a:ext cx="7437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입사 후 포부 사례</a:t>
            </a:r>
            <a:endParaRPr lang="en-US" altLang="ko-KR" sz="28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55576" y="1088152"/>
            <a:ext cx="7776864" cy="550920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600" b="1" kern="0" dirty="0">
                <a:solidFill>
                  <a:srgbClr val="000000"/>
                </a:solidFill>
                <a:latin typeface="+mn-ea"/>
              </a:rPr>
              <a:t>사례 </a:t>
            </a:r>
            <a:r>
              <a:rPr lang="en-US" altLang="ko-KR" sz="1600" b="1" kern="0" dirty="0" smtClean="0">
                <a:solidFill>
                  <a:srgbClr val="000000"/>
                </a:solidFill>
                <a:latin typeface="+mn-ea"/>
              </a:rPr>
              <a:t>#2</a:t>
            </a:r>
            <a:endParaRPr lang="en-US" altLang="ko-KR" sz="1600" b="1" kern="0" dirty="0">
              <a:solidFill>
                <a:srgbClr val="000000"/>
              </a:solidFill>
              <a:latin typeface="+mn-ea"/>
            </a:endParaRPr>
          </a:p>
          <a:p>
            <a:pPr algn="just" fontAlgn="base"/>
            <a:endParaRPr lang="en-US" altLang="ko-KR" sz="1600" dirty="0" smtClean="0"/>
          </a:p>
          <a:p>
            <a:pPr algn="just" fontAlgn="ctr"/>
            <a:r>
              <a:rPr lang="ko-KR" altLang="en-US" sz="1600" u="sng" dirty="0" smtClean="0"/>
              <a:t>저는 </a:t>
            </a:r>
            <a:r>
              <a:rPr lang="ko-KR" altLang="en-US" sz="1600" u="sng" dirty="0">
                <a:solidFill>
                  <a:srgbClr val="FF0000"/>
                </a:solidFill>
              </a:rPr>
              <a:t>고객감동에 기여</a:t>
            </a:r>
            <a:r>
              <a:rPr lang="ko-KR" altLang="en-US" sz="1600" u="sng" dirty="0"/>
              <a:t>할 수 있는 자세가 되어있고</a:t>
            </a:r>
            <a:r>
              <a:rPr lang="en-US" altLang="ko-KR" sz="1600" u="sng" dirty="0"/>
              <a:t>, </a:t>
            </a:r>
            <a:r>
              <a:rPr lang="ko-KR" altLang="en-US" sz="1600" u="sng" dirty="0"/>
              <a:t>또 대우받기보다 제가 희생함으로써 </a:t>
            </a:r>
            <a:r>
              <a:rPr lang="ko-KR" altLang="en-US" sz="1600" u="sng" dirty="0">
                <a:solidFill>
                  <a:srgbClr val="FF0000"/>
                </a:solidFill>
              </a:rPr>
              <a:t>사람을 중시하는 경영이 더 발전되도록 하는데 기여</a:t>
            </a:r>
            <a:r>
              <a:rPr lang="ko-KR" altLang="en-US" sz="1600" u="sng" dirty="0"/>
              <a:t>할 수 있는 다짐이 </a:t>
            </a:r>
            <a:r>
              <a:rPr lang="ko-KR" altLang="en-US" sz="1600" u="sng" dirty="0" smtClean="0"/>
              <a:t>되어있습니다</a:t>
            </a:r>
            <a:r>
              <a:rPr lang="en-US" altLang="ko-KR" sz="1600" u="sng" dirty="0" smtClean="0"/>
              <a:t>. </a:t>
            </a:r>
            <a:r>
              <a:rPr lang="ko-KR" altLang="en-US" sz="1600" dirty="0" smtClean="0"/>
              <a:t>입사를 </a:t>
            </a:r>
            <a:r>
              <a:rPr lang="ko-KR" altLang="en-US" sz="1600" dirty="0"/>
              <a:t>하면</a:t>
            </a:r>
            <a:r>
              <a:rPr lang="en-US" altLang="ko-KR" sz="1600" dirty="0"/>
              <a:t>, </a:t>
            </a:r>
            <a:r>
              <a:rPr lang="ko-KR" altLang="en-US" sz="1600" dirty="0"/>
              <a:t>인턴 기간까지 현장 제조분야 업무에 대해서 완벽히 이해토록 하겠으며</a:t>
            </a:r>
            <a:r>
              <a:rPr lang="en-US" altLang="ko-KR" sz="1600" dirty="0"/>
              <a:t>, </a:t>
            </a:r>
            <a:r>
              <a:rPr lang="ko-KR" altLang="en-US" sz="1600" dirty="0"/>
              <a:t>생산현장에 배치가 되면 </a:t>
            </a:r>
            <a:r>
              <a:rPr lang="ko-KR" altLang="en-US" sz="1600" dirty="0">
                <a:solidFill>
                  <a:srgbClr val="FF0000"/>
                </a:solidFill>
              </a:rPr>
              <a:t>열정과 희생을 무기로 남들보다 빠르게 업무에 적응</a:t>
            </a:r>
            <a:r>
              <a:rPr lang="ko-KR" altLang="en-US" sz="1600" dirty="0"/>
              <a:t>하는 것은 물론 생산직무 분야에서 ‘너야말로 우리 회사의 진짜 엔지니어’ 라는 말을 듣도록 </a:t>
            </a:r>
            <a:r>
              <a:rPr lang="ko-KR" altLang="en-US" sz="1600" dirty="0" smtClean="0"/>
              <a:t>하겠습니다</a:t>
            </a:r>
            <a:r>
              <a:rPr lang="en-US" altLang="ko-KR" sz="1600" dirty="0" smtClean="0"/>
              <a:t>. </a:t>
            </a:r>
            <a:r>
              <a:rPr lang="en-US" altLang="ko-KR" sz="1600" u="sng" dirty="0" smtClean="0">
                <a:solidFill>
                  <a:srgbClr val="FF0000"/>
                </a:solidFill>
              </a:rPr>
              <a:t>10</a:t>
            </a:r>
            <a:r>
              <a:rPr lang="ko-KR" altLang="en-US" sz="1600" u="sng" dirty="0" smtClean="0">
                <a:solidFill>
                  <a:srgbClr val="FF0000"/>
                </a:solidFill>
              </a:rPr>
              <a:t>년 정도가 지나 선배 직원이 되면 </a:t>
            </a:r>
            <a:r>
              <a:rPr lang="en-US" altLang="ko-KR" sz="1600" dirty="0" smtClean="0"/>
              <a:t>OO</a:t>
            </a:r>
            <a:r>
              <a:rPr lang="ko-KR" altLang="en-US" sz="1600" dirty="0" err="1" smtClean="0"/>
              <a:t>맨으로서</a:t>
            </a:r>
            <a:r>
              <a:rPr lang="ko-KR" altLang="en-US" sz="1600" dirty="0" smtClean="0"/>
              <a:t> 당연히 갖춰야 할 </a:t>
            </a:r>
            <a:r>
              <a:rPr lang="ko-KR" altLang="en-US" sz="1600" dirty="0" smtClean="0">
                <a:solidFill>
                  <a:srgbClr val="FF0000"/>
                </a:solidFill>
              </a:rPr>
              <a:t>기술적인 </a:t>
            </a:r>
            <a:r>
              <a:rPr lang="ko-KR" altLang="en-US" sz="1600" dirty="0">
                <a:solidFill>
                  <a:srgbClr val="FF0000"/>
                </a:solidFill>
              </a:rPr>
              <a:t>소양 뿐 아니라 </a:t>
            </a:r>
            <a:r>
              <a:rPr lang="ko-KR" altLang="en-US" sz="1600" dirty="0" smtClean="0">
                <a:solidFill>
                  <a:srgbClr val="FF0000"/>
                </a:solidFill>
              </a:rPr>
              <a:t>후배들을 덕으로 리드</a:t>
            </a:r>
            <a:r>
              <a:rPr lang="ko-KR" altLang="en-US" sz="1600" dirty="0" smtClean="0"/>
              <a:t>할 수 있는 자질을 갖춘 </a:t>
            </a:r>
            <a:r>
              <a:rPr lang="ko-KR" altLang="en-US" sz="1600" dirty="0"/>
              <a:t>현장 실무자가 되겠습니다</a:t>
            </a:r>
            <a:r>
              <a:rPr lang="en-US" altLang="ko-KR" sz="1600" dirty="0" smtClean="0"/>
              <a:t>.</a:t>
            </a:r>
          </a:p>
          <a:p>
            <a:pPr algn="just" fontAlgn="ctr"/>
            <a:endParaRPr lang="en-US" altLang="ko-KR" sz="1600" b="1" kern="0" dirty="0" smtClean="0">
              <a:solidFill>
                <a:srgbClr val="000000"/>
              </a:solidFill>
              <a:latin typeface="+mn-ea"/>
            </a:endParaRPr>
          </a:p>
          <a:p>
            <a:pPr algn="just" fontAlgn="ctr"/>
            <a:r>
              <a:rPr lang="ko-KR" altLang="en-US" sz="1600" b="1" kern="0" dirty="0" smtClean="0">
                <a:solidFill>
                  <a:srgbClr val="000000"/>
                </a:solidFill>
                <a:latin typeface="+mn-ea"/>
              </a:rPr>
              <a:t>사례 </a:t>
            </a:r>
            <a:r>
              <a:rPr lang="en-US" altLang="ko-KR" sz="1600" b="1" kern="0" dirty="0" smtClean="0">
                <a:solidFill>
                  <a:srgbClr val="000000"/>
                </a:solidFill>
                <a:latin typeface="+mn-ea"/>
              </a:rPr>
              <a:t>#3</a:t>
            </a:r>
          </a:p>
          <a:p>
            <a:pPr algn="just" fontAlgn="ctr"/>
            <a:endParaRPr lang="en-US" altLang="ko-KR" sz="1600" dirty="0" smtClean="0"/>
          </a:p>
          <a:p>
            <a:pPr algn="just" fontAlgn="ctr"/>
            <a:r>
              <a:rPr lang="ko-KR" altLang="en-US" sz="1600" dirty="0" smtClean="0"/>
              <a:t>저는 차분하면서도 밝은 성격이 강점입니다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이러한 강점을 최대한 발휘하여 다른 사원들과 친하게 지내며 직장의 분위기를 밝게 하겠다는 것이 </a:t>
            </a:r>
            <a:r>
              <a:rPr lang="ko-KR" altLang="en-US" sz="1600" dirty="0" smtClean="0">
                <a:solidFill>
                  <a:srgbClr val="FF0000"/>
                </a:solidFill>
              </a:rPr>
              <a:t>첫 번째 목표입니다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기본적인 회사의 업무에 적응한 뒤 고객에게 열정을 쏟는다는 각오로 업무에 임할 것입니다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단순히 빵을 만드는 제빵사가 아니라 자랑스러운 </a:t>
            </a:r>
            <a:r>
              <a:rPr lang="ko-KR" altLang="en-US" sz="1600" dirty="0" err="1" smtClean="0"/>
              <a:t>파리크라상의</a:t>
            </a:r>
            <a:r>
              <a:rPr lang="ko-KR" altLang="en-US" sz="1600" dirty="0" smtClean="0"/>
              <a:t> 일원으로서 고객응대를 잘하고 불편함이 없는 서비스도 응대하여 고객들이 항상 웃으면서 빵을 사갈 수 있는 매장을 가꾸는 것이 </a:t>
            </a:r>
            <a:r>
              <a:rPr lang="ko-KR" altLang="en-US" sz="1600" dirty="0" smtClean="0">
                <a:solidFill>
                  <a:srgbClr val="FF0000"/>
                </a:solidFill>
              </a:rPr>
              <a:t>두 번째 목표입니다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그리고 저는 누구보다 성실한 면을 가지고 있습니다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조리 이외에도 청결에 늘 신경을 쓰고 정리 정돈된 상태를 유지하는 깨끗한 조리사가 되겠습니다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빵을 만드는 게 좋아서 직업을 택했기 때문에 남다른 사명감을 가지고 일 해나갈 것입니다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1640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27584" y="367353"/>
            <a:ext cx="7437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자기소개서 작성 포인트</a:t>
            </a:r>
            <a:endParaRPr lang="en-US" altLang="ko-KR" sz="3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259632" y="1268760"/>
            <a:ext cx="756084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ko-KR" altLang="en-US" sz="2800" b="1" dirty="0" smtClean="0">
                <a:solidFill>
                  <a:srgbClr val="FF0000"/>
                </a:solidFill>
              </a:rPr>
              <a:t>기타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-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직무 관련 경력 및 경험사항 작성법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2" name="Rectangle 45"/>
          <p:cNvSpPr>
            <a:spLocks noChangeArrowheads="1"/>
          </p:cNvSpPr>
          <p:nvPr/>
        </p:nvSpPr>
        <p:spPr bwMode="auto">
          <a:xfrm>
            <a:off x="1835696" y="1855044"/>
            <a:ext cx="46085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20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직무관련 경력</a:t>
            </a:r>
            <a:r>
              <a:rPr lang="en-US" altLang="ko-KR" sz="20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, </a:t>
            </a:r>
            <a:r>
              <a:rPr lang="ko-KR" altLang="en-US" sz="2000" dirty="0" smtClean="0">
                <a:solidFill>
                  <a:srgbClr val="660033"/>
                </a:solidFill>
                <a:latin typeface="HY울릉도B" pitchFamily="18" charset="-127"/>
                <a:ea typeface="HY울릉도B" pitchFamily="18" charset="-127"/>
              </a:rPr>
              <a:t>경험 파악</a:t>
            </a:r>
            <a:endParaRPr lang="ko-KR" altLang="en-US" sz="2000" dirty="0">
              <a:solidFill>
                <a:srgbClr val="660033"/>
              </a:solidFill>
              <a:latin typeface="HY울릉도B" pitchFamily="18" charset="-127"/>
              <a:ea typeface="HY울릉도B" pitchFamily="18" charset="-127"/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936823" y="2423567"/>
            <a:ext cx="7581528" cy="374441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en-US" altLang="ko-KR" sz="1800" b="1" dirty="0" smtClean="0">
                <a:solidFill>
                  <a:srgbClr val="FF0000"/>
                </a:solidFill>
              </a:rPr>
              <a:t>“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나는 지원직무에 필요한 공부를 했습니다</a:t>
            </a:r>
            <a:r>
              <a:rPr lang="en-US" altLang="ko-KR" sz="1800" b="1" dirty="0" smtClean="0">
                <a:solidFill>
                  <a:srgbClr val="FF0000"/>
                </a:solidFill>
              </a:rPr>
              <a:t>”</a:t>
            </a:r>
            <a:r>
              <a:rPr lang="ko-KR" altLang="en-US" sz="1800" b="1" dirty="0" smtClean="0"/>
              <a:t>라는 관점에서 기재</a:t>
            </a:r>
            <a:r>
              <a:rPr lang="en-US" altLang="ko-KR" sz="1800" b="1" dirty="0" smtClean="0"/>
              <a:t>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나열식보다는 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하나의 경험을 부각</a:t>
            </a:r>
            <a:r>
              <a:rPr lang="en-US" altLang="ko-KR" sz="1800" b="1" dirty="0" smtClean="0">
                <a:solidFill>
                  <a:srgbClr val="FF0000"/>
                </a:solidFill>
              </a:rPr>
              <a:t>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직무와 연결된 일화를 소개하면 효율적</a:t>
            </a:r>
            <a:r>
              <a:rPr lang="en-US" altLang="ko-KR" sz="1800" b="1" dirty="0" smtClean="0"/>
              <a:t>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경력활동이나 경험 후 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무엇을 느끼고 배웠나</a:t>
            </a:r>
            <a:r>
              <a:rPr lang="en-US" altLang="ko-KR" sz="1800" b="1" dirty="0" smtClean="0">
                <a:solidFill>
                  <a:srgbClr val="FF0000"/>
                </a:solidFill>
              </a:rPr>
              <a:t>?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경험으로 얻은 결과를 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직무에 어떻게 연계</a:t>
            </a:r>
            <a:r>
              <a:rPr lang="ko-KR" altLang="en-US" sz="1800" b="1" dirty="0" smtClean="0"/>
              <a:t>할 것인가</a:t>
            </a:r>
            <a:r>
              <a:rPr lang="en-US" altLang="ko-KR" sz="1800" b="1" dirty="0" smtClean="0"/>
              <a:t>?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 smtClean="0"/>
              <a:t>성실성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친화력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커뮤니케이션 능력 등 </a:t>
            </a:r>
            <a:r>
              <a:rPr lang="ko-KR" altLang="en-US" sz="1800" b="1" dirty="0" smtClean="0">
                <a:solidFill>
                  <a:srgbClr val="FF0000"/>
                </a:solidFill>
              </a:rPr>
              <a:t>조직 적응력이 높음을 강조</a:t>
            </a:r>
            <a:endParaRPr lang="ko-KR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457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539551" y="455383"/>
            <a:ext cx="7978799" cy="1474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</a:t>
            </a: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합격자 </a:t>
            </a: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자기소개서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기업별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업종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그룹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학교 홈페이지 참고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3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247792" y="2418208"/>
            <a:ext cx="7428664" cy="2450952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220000"/>
              </a:lnSpc>
            </a:pPr>
            <a:r>
              <a:rPr lang="ko-KR" altLang="en-US" sz="20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☞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학교 홈페이지 접속 로그인 후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pPr algn="l">
              <a:lnSpc>
                <a:spcPct val="220000"/>
              </a:lnSpc>
            </a:pPr>
            <a:r>
              <a:rPr lang="ko-KR" altLang="en-US" sz="17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▶ </a:t>
            </a:r>
            <a:r>
              <a:rPr lang="ko-KR" altLang="en-US" sz="1700" b="1" dirty="0" smtClean="0">
                <a:solidFill>
                  <a:srgbClr val="FF0000"/>
                </a:solidFill>
              </a:rPr>
              <a:t>주요서비스</a:t>
            </a:r>
            <a:r>
              <a:rPr lang="en-US" altLang="ko-KR" sz="1700" b="1" dirty="0" smtClean="0">
                <a:solidFill>
                  <a:srgbClr val="FF0000"/>
                </a:solidFill>
              </a:rPr>
              <a:t>-</a:t>
            </a:r>
            <a:r>
              <a:rPr lang="ko-KR" altLang="en-US" sz="1700" b="1" dirty="0" smtClean="0">
                <a:solidFill>
                  <a:srgbClr val="FF0000"/>
                </a:solidFill>
              </a:rPr>
              <a:t>온라인취업솔루션</a:t>
            </a:r>
            <a:r>
              <a:rPr lang="en-US" altLang="ko-KR" sz="1700" b="1" dirty="0" smtClean="0">
                <a:solidFill>
                  <a:srgbClr val="FF0000"/>
                </a:solidFill>
              </a:rPr>
              <a:t>-</a:t>
            </a:r>
            <a:r>
              <a:rPr lang="ko-KR" altLang="en-US" sz="1700" b="1" dirty="0" smtClean="0">
                <a:solidFill>
                  <a:srgbClr val="FF0000"/>
                </a:solidFill>
              </a:rPr>
              <a:t>자기소개서</a:t>
            </a:r>
            <a:r>
              <a:rPr lang="en-US" altLang="ko-KR" sz="1700" b="1" dirty="0" smtClean="0">
                <a:solidFill>
                  <a:srgbClr val="FF0000"/>
                </a:solidFill>
              </a:rPr>
              <a:t>/</a:t>
            </a:r>
            <a:r>
              <a:rPr lang="ko-KR" altLang="en-US" sz="1700" b="1" dirty="0" smtClean="0">
                <a:solidFill>
                  <a:srgbClr val="FF0000"/>
                </a:solidFill>
              </a:rPr>
              <a:t>면접</a:t>
            </a:r>
            <a:r>
              <a:rPr lang="en-US" altLang="ko-KR" sz="1700" b="1" dirty="0" smtClean="0">
                <a:solidFill>
                  <a:srgbClr val="FF0000"/>
                </a:solidFill>
              </a:rPr>
              <a:t>-</a:t>
            </a:r>
            <a:r>
              <a:rPr lang="ko-KR" altLang="en-US" sz="1700" b="1" dirty="0" smtClean="0">
                <a:solidFill>
                  <a:srgbClr val="FF0000"/>
                </a:solidFill>
              </a:rPr>
              <a:t>합격자자소서</a:t>
            </a:r>
            <a:r>
              <a:rPr lang="en-US" altLang="ko-KR" sz="1700" b="1" dirty="0" smtClean="0">
                <a:solidFill>
                  <a:srgbClr val="FF0000"/>
                </a:solidFill>
              </a:rPr>
              <a:t>-</a:t>
            </a:r>
            <a:r>
              <a:rPr lang="ko-KR" altLang="en-US" sz="1700" b="1" dirty="0" smtClean="0">
                <a:solidFill>
                  <a:srgbClr val="FF0000"/>
                </a:solidFill>
              </a:rPr>
              <a:t>통신</a:t>
            </a:r>
            <a:r>
              <a:rPr lang="en-US" altLang="ko-KR" sz="1700" b="1" dirty="0" smtClean="0">
                <a:solidFill>
                  <a:srgbClr val="FF0000"/>
                </a:solidFill>
              </a:rPr>
              <a:t>/IT</a:t>
            </a:r>
          </a:p>
          <a:p>
            <a:pPr algn="l">
              <a:lnSpc>
                <a:spcPct val="220000"/>
              </a:lnSpc>
            </a:pPr>
            <a:r>
              <a:rPr lang="en-US" altLang="ko-KR" sz="1400" b="1" dirty="0" smtClean="0">
                <a:solidFill>
                  <a:srgbClr val="0000FF"/>
                </a:solidFill>
                <a:latin typeface="맑은 고딕"/>
                <a:ea typeface="맑은 고딕"/>
              </a:rPr>
              <a:t>▷</a:t>
            </a:r>
            <a:r>
              <a:rPr lang="en-US" altLang="ko-KR" sz="1400" b="1" dirty="0" smtClean="0">
                <a:solidFill>
                  <a:srgbClr val="0000FF"/>
                </a:solidFill>
              </a:rPr>
              <a:t> Link </a:t>
            </a:r>
            <a:r>
              <a:rPr lang="ko-KR" altLang="en-US" sz="1400" b="1" dirty="0" smtClean="0">
                <a:solidFill>
                  <a:srgbClr val="0000FF"/>
                </a:solidFill>
              </a:rPr>
              <a:t>사이트 </a:t>
            </a:r>
            <a:r>
              <a:rPr lang="en-US" altLang="ko-KR" sz="1400" b="1" dirty="0" smtClean="0">
                <a:solidFill>
                  <a:srgbClr val="0000FF"/>
                </a:solidFill>
              </a:rPr>
              <a:t>: </a:t>
            </a:r>
            <a:r>
              <a:rPr lang="en-US" altLang="ko-KR" sz="1300" b="1" dirty="0" smtClean="0">
                <a:hlinkClick r:id="rId2"/>
              </a:rPr>
              <a:t>http</a:t>
            </a:r>
            <a:r>
              <a:rPr lang="en-US" altLang="ko-KR" sz="1300" b="1" dirty="0">
                <a:hlinkClick r:id="rId2"/>
              </a:rPr>
              <a:t>://u.educe.co.kr/jobync/?</a:t>
            </a:r>
            <a:r>
              <a:rPr lang="en-US" altLang="ko-KR" sz="1300" b="1" dirty="0" smtClean="0">
                <a:hlinkClick r:id="rId2"/>
              </a:rPr>
              <a:t>mod=passReport&amp;m_idx=17&amp;gMode=1&amp;gCode=13#category</a:t>
            </a:r>
            <a:r>
              <a:rPr lang="en-US" altLang="ko-KR" sz="1300" b="1" dirty="0" smtClean="0"/>
              <a:t> )</a:t>
            </a:r>
            <a:endParaRPr lang="en-US" altLang="ko-KR" sz="1300" b="1" dirty="0"/>
          </a:p>
          <a:p>
            <a:pPr algn="l">
              <a:lnSpc>
                <a:spcPct val="220000"/>
              </a:lnSpc>
            </a:pPr>
            <a:endParaRPr lang="ko-KR" altLang="en-US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0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3576" y="1341923"/>
            <a:ext cx="772488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>
                <a:latin typeface="맑은 고딕"/>
                <a:ea typeface="맑은 고딕"/>
              </a:rPr>
              <a:t>◎ </a:t>
            </a:r>
            <a:r>
              <a:rPr lang="en-US" altLang="ko-KR" sz="2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2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학기 </a:t>
            </a:r>
            <a:r>
              <a:rPr lang="ko-KR" altLang="en-US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할일</a:t>
            </a:r>
            <a:endParaRPr lang="en-US" altLang="ko-KR" sz="2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ko-KR" altLang="en-US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☞ </a:t>
            </a:r>
            <a:r>
              <a:rPr lang="ko-KR" altLang="en-US" sz="2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본인의 확실한 진로 결정</a:t>
            </a:r>
            <a:endParaRPr lang="en-US" altLang="ko-KR" sz="2000" b="1" dirty="0" smtClean="0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    ☞ 미진한 성적 만회</a:t>
            </a:r>
            <a:r>
              <a:rPr lang="en-US" altLang="ko-KR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자격증 취득</a:t>
            </a:r>
            <a:endParaRPr lang="en-US" altLang="ko-KR" sz="2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ko-KR" altLang="en-US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☞</a:t>
            </a:r>
            <a:r>
              <a:rPr lang="en-US" altLang="ko-KR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입사 희망업체</a:t>
            </a:r>
            <a:r>
              <a:rPr lang="en-US" altLang="ko-KR" sz="2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분야</a:t>
            </a:r>
            <a:r>
              <a:rPr lang="en-US" altLang="ko-KR" sz="2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2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선택</a:t>
            </a:r>
            <a:r>
              <a:rPr lang="en-US" altLang="ko-KR" sz="2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(3~5</a:t>
            </a:r>
            <a:r>
              <a:rPr lang="ko-KR" altLang="en-US" sz="2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</a:t>
            </a:r>
            <a:r>
              <a:rPr lang="en-US" altLang="ko-KR" sz="2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ko-KR" altLang="en-US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☞</a:t>
            </a:r>
            <a:r>
              <a:rPr lang="en-US" altLang="ko-KR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포트폴리오 준비</a:t>
            </a:r>
            <a:endParaRPr lang="en-US" altLang="ko-KR" sz="2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   ☞ </a:t>
            </a:r>
            <a:r>
              <a:rPr lang="ko-KR" altLang="en-US" sz="2000" b="1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완벽한 </a:t>
            </a:r>
            <a:r>
              <a:rPr lang="ko-KR" altLang="en-US" sz="2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이력서</a:t>
            </a:r>
            <a:r>
              <a:rPr lang="en-US" altLang="ko-KR" sz="2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자기소개서 작성 완료</a:t>
            </a:r>
            <a:endParaRPr lang="en-US" altLang="ko-KR" sz="2000" b="1" dirty="0" smtClean="0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2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◎ </a:t>
            </a:r>
            <a:r>
              <a:rPr lang="en-US" altLang="ko-KR" sz="2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sz="2000" b="1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학기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할일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    ☞ 본격 입사지원</a:t>
            </a:r>
            <a:endParaRPr lang="en-US" altLang="ko-KR" sz="2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    ☞ 취업</a:t>
            </a:r>
            <a:endParaRPr lang="ko-KR" altLang="en-US"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260648"/>
            <a:ext cx="7437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여러분들께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제안합니다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403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5696" y="1556792"/>
            <a:ext cx="40959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전화번호</a:t>
            </a:r>
            <a:r>
              <a:rPr lang="en-US" altLang="ko-KR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 053-650-9409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            010-5307-3373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E-Mail : </a:t>
            </a:r>
            <a:r>
              <a:rPr lang="en-US" altLang="ko-KR" sz="2000" dirty="0" smtClean="0">
                <a:latin typeface="HY견고딕" panose="02030600000101010101" pitchFamily="18" charset="-127"/>
                <a:ea typeface="HY견고딕" panose="02030600000101010101" pitchFamily="18" charset="-127"/>
                <a:hlinkClick r:id="rId2"/>
              </a:rPr>
              <a:t>jschoi77@ync.ac.kr</a:t>
            </a:r>
            <a:endParaRPr lang="en-US" altLang="ko-KR" sz="2000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연구실 </a:t>
            </a:r>
            <a:r>
              <a:rPr lang="en-US" altLang="ko-KR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천마스퀘어 </a:t>
            </a:r>
            <a:r>
              <a:rPr lang="en-US" altLang="ko-KR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5</a:t>
            </a:r>
            <a:r>
              <a:rPr lang="ko-KR" altLang="en-US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층  최중섭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3568" y="404664"/>
            <a:ext cx="7437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언제든 오세요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83568" y="3960852"/>
            <a:ext cx="793844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0000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⊙</a:t>
            </a:r>
            <a:r>
              <a:rPr lang="en-US" altLang="ko-KR" sz="2400" b="1" dirty="0">
                <a:solidFill>
                  <a:srgbClr val="FF0000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 </a:t>
            </a:r>
            <a:r>
              <a:rPr lang="ko-KR" altLang="en-US" sz="2400" b="1" dirty="0" smtClean="0">
                <a:solidFill>
                  <a:srgbClr val="FF0000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사람이 온다는 건 </a:t>
            </a:r>
            <a:endParaRPr lang="en-US" altLang="ko-KR" sz="2400" b="1" dirty="0" smtClean="0">
              <a:solidFill>
                <a:srgbClr val="FF0000"/>
              </a:solidFill>
              <a:latin typeface="휴먼옛체" panose="02030504000101010101" pitchFamily="18" charset="-127"/>
              <a:ea typeface="휴먼옛체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 smtClean="0">
                <a:solidFill>
                  <a:srgbClr val="FF0000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        실은 어마어마한 일이다</a:t>
            </a:r>
            <a:r>
              <a:rPr lang="en-US" altLang="ko-KR" sz="2400" b="1" dirty="0" smtClean="0">
                <a:solidFill>
                  <a:srgbClr val="FF0000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 smtClean="0">
                <a:solidFill>
                  <a:srgbClr val="FF0000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              한 사람의 일생이 오기 때문이다</a:t>
            </a:r>
            <a:r>
              <a:rPr lang="en-US" altLang="ko-KR" sz="2400" b="1" dirty="0" smtClean="0">
                <a:solidFill>
                  <a:srgbClr val="FF0000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.</a:t>
            </a:r>
            <a:endParaRPr lang="ko-KR" altLang="en-US" sz="2400" b="1" dirty="0">
              <a:solidFill>
                <a:srgbClr val="FF0000"/>
              </a:solidFill>
              <a:latin typeface="휴먼옛체" panose="02030504000101010101" pitchFamily="18" charset="-127"/>
              <a:ea typeface="휴먼옛체" panose="02030504000101010101" pitchFamily="18" charset="-127"/>
            </a:endParaRPr>
          </a:p>
        </p:txBody>
      </p:sp>
      <p:pic>
        <p:nvPicPr>
          <p:cNvPr id="28674" name="Picture 2" descr="[국민대] 2016학년도 학생부 종합전형 안내 (국민프런티어) _ 자소서/면접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573016"/>
            <a:ext cx="26289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75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27584" y="260648"/>
            <a:ext cx="7437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◈ 지금부터다</a:t>
            </a: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!!!!!!!!!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769887" y="5129299"/>
            <a:ext cx="1243013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chemeClr val="bg1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자기</a:t>
            </a:r>
            <a:endParaRPr lang="en-US" altLang="ko-KR" dirty="0">
              <a:solidFill>
                <a:schemeClr val="bg1"/>
              </a:solidFill>
              <a:latin typeface="휴먼옛체" panose="02030504000101010101" pitchFamily="18" charset="-127"/>
              <a:ea typeface="휴먼옛체" panose="02030504000101010101" pitchFamily="18" charset="-127"/>
            </a:endParaRPr>
          </a:p>
          <a:p>
            <a:pPr eaLnBrk="1" hangingPunct="1"/>
            <a:r>
              <a:rPr lang="ko-KR" altLang="en-US" dirty="0">
                <a:solidFill>
                  <a:schemeClr val="bg1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소개서</a:t>
            </a: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2253580" y="4029069"/>
            <a:ext cx="890587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dirty="0">
                <a:solidFill>
                  <a:schemeClr val="bg1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목표</a:t>
            </a:r>
          </a:p>
          <a:p>
            <a:pPr eaLnBrk="1" hangingPunct="1"/>
            <a:r>
              <a:rPr lang="ko-KR" altLang="en-US" dirty="0">
                <a:solidFill>
                  <a:schemeClr val="bg1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달성</a:t>
            </a:r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3328689" y="2874877"/>
            <a:ext cx="88998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dirty="0" smtClean="0">
                <a:solidFill>
                  <a:schemeClr val="bg1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입사</a:t>
            </a:r>
            <a:endParaRPr lang="en-US" altLang="ko-KR" dirty="0" smtClean="0">
              <a:solidFill>
                <a:schemeClr val="bg1"/>
              </a:solidFill>
              <a:latin typeface="휴먼옛체" panose="02030504000101010101" pitchFamily="18" charset="-127"/>
              <a:ea typeface="휴먼옛체" panose="02030504000101010101" pitchFamily="18" charset="-127"/>
            </a:endParaRPr>
          </a:p>
          <a:p>
            <a:pPr eaLnBrk="1" hangingPunct="1"/>
            <a:r>
              <a:rPr lang="ko-KR" altLang="en-US" dirty="0" smtClean="0">
                <a:solidFill>
                  <a:schemeClr val="bg1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시</a:t>
            </a:r>
            <a:r>
              <a:rPr lang="ko-KR" altLang="en-US" dirty="0">
                <a:solidFill>
                  <a:schemeClr val="bg1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험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831404" y="1323925"/>
            <a:ext cx="793844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⊙</a:t>
            </a:r>
            <a:r>
              <a:rPr lang="en-US" altLang="ko-KR" sz="2800" b="1" dirty="0">
                <a:latin typeface="휴먼옛체" panose="02030504000101010101" pitchFamily="18" charset="-127"/>
                <a:ea typeface="휴먼옛체" panose="02030504000101010101" pitchFamily="18" charset="-127"/>
              </a:rPr>
              <a:t> </a:t>
            </a:r>
            <a:r>
              <a:rPr lang="ko-KR" altLang="en-US" sz="2800" b="1" dirty="0" smtClean="0">
                <a:latin typeface="휴먼옛체" panose="02030504000101010101" pitchFamily="18" charset="-127"/>
                <a:ea typeface="휴먼옛체" panose="02030504000101010101" pitchFamily="18" charset="-127"/>
              </a:rPr>
              <a:t>취업전략을 완성하는 마지막 퍼즐</a:t>
            </a:r>
            <a:endParaRPr lang="ko-KR" altLang="en-US" sz="2800" b="1" dirty="0">
              <a:latin typeface="휴먼옛체" panose="02030504000101010101" pitchFamily="18" charset="-127"/>
              <a:ea typeface="휴먼옛체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b="1" dirty="0" smtClean="0">
                <a:latin typeface="휴먼옛체" panose="02030504000101010101" pitchFamily="18" charset="-127"/>
                <a:ea typeface="휴먼옛체" panose="02030504000101010101" pitchFamily="18" charset="-127"/>
              </a:rPr>
              <a:t>                      </a:t>
            </a:r>
            <a:r>
              <a:rPr lang="en-US" altLang="ko-KR" sz="2800" b="1" dirty="0" smtClean="0">
                <a:latin typeface="휴먼옛체" panose="02030504000101010101" pitchFamily="18" charset="-127"/>
                <a:ea typeface="휴먼옛체" panose="02030504000101010101" pitchFamily="18" charset="-127"/>
              </a:rPr>
              <a:t>…</a:t>
            </a:r>
            <a:r>
              <a:rPr lang="ko-KR" altLang="en-US" sz="2800" b="1" dirty="0">
                <a:latin typeface="휴먼옛체" panose="02030504000101010101" pitchFamily="18" charset="-127"/>
                <a:ea typeface="휴먼옛체" panose="02030504000101010101" pitchFamily="18" charset="-127"/>
              </a:rPr>
              <a:t>완벽한 </a:t>
            </a:r>
            <a:r>
              <a:rPr lang="ko-KR" altLang="en-US" sz="2800" b="1" dirty="0" smtClean="0">
                <a:latin typeface="휴먼옛체" panose="02030504000101010101" pitchFamily="18" charset="-127"/>
                <a:ea typeface="휴먼옛체" panose="02030504000101010101" pitchFamily="18" charset="-127"/>
              </a:rPr>
              <a:t>지원서 준비부터  </a:t>
            </a:r>
            <a:endParaRPr lang="ko-KR" altLang="en-US" sz="2800" b="1" dirty="0">
              <a:latin typeface="휴먼옛체" panose="02030504000101010101" pitchFamily="18" charset="-127"/>
              <a:ea typeface="휴먼옛체" panose="02030504000101010101" pitchFamily="18" charset="-127"/>
            </a:endParaRPr>
          </a:p>
        </p:txBody>
      </p:sp>
      <p:pic>
        <p:nvPicPr>
          <p:cNvPr id="22546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827186"/>
            <a:ext cx="5743575" cy="3698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226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2006" y="4748951"/>
            <a:ext cx="64723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8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꿈★</a:t>
            </a:r>
            <a:r>
              <a:rPr lang="ko-KR" altLang="en-US" sz="4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은 이루어 진다</a:t>
            </a:r>
            <a:r>
              <a:rPr lang="en-US" altLang="ko-KR" sz="4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…..</a:t>
            </a:r>
          </a:p>
        </p:txBody>
      </p:sp>
      <p:pic>
        <p:nvPicPr>
          <p:cNvPr id="5" name="Picture 2" descr="D:\Data\사진철\개인산행\2010-05-27 17.18.5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147" y="289222"/>
            <a:ext cx="6017678" cy="4075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연결선 6"/>
          <p:cNvCxnSpPr/>
          <p:nvPr/>
        </p:nvCxnSpPr>
        <p:spPr>
          <a:xfrm>
            <a:off x="1572047" y="5819696"/>
            <a:ext cx="605577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943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6883</TotalTime>
  <Words>3408</Words>
  <Application>Microsoft Office PowerPoint</Application>
  <PresentationFormat>화면 슬라이드 쇼(4:3)</PresentationFormat>
  <Paragraphs>561</Paragraphs>
  <Slides>44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5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YNC</dc:creator>
  <cp:lastModifiedBy>YNC</cp:lastModifiedBy>
  <cp:revision>442</cp:revision>
  <dcterms:created xsi:type="dcterms:W3CDTF">2016-04-23T03:41:11Z</dcterms:created>
  <dcterms:modified xsi:type="dcterms:W3CDTF">2020-05-18T06:44:00Z</dcterms:modified>
</cp:coreProperties>
</file>